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AM">
    <p:bg>
      <p:bgPr>
        <a:solidFill>
          <a:srgbClr val="FF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" Type="http://schemas.openxmlformats.org/officeDocument/2006/relationships/image" Target="../media/image-1-1.png"/><Relationship Id="rId2" Type="http://schemas.openxmlformats.org/officeDocument/2006/relationships/image" Target="../media/image-1-2.gif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2-1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3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4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4.xml"/><Relationship Id="rId7" Type="http://schemas.openxmlformats.org/officeDocument/2006/relationships/slide" Target="slide5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8.xml"/><Relationship Id="rId1" Type="http://schemas.openxmlformats.org/officeDocument/2006/relationships/image" Target="../media/image-5-1.png"/><Relationship Id="rId2" Type="http://schemas.openxmlformats.org/officeDocument/2006/relationships/image" Target="../media/image-5-2.gif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7-1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alftone" descr="Halftone d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0"/>
            <a:ext cx="4965192" cy="4965192"/>
          </a:xfrm>
          <a:prstGeom prst="rect">
            <a:avLst/>
          </a:prstGeom>
        </p:spPr>
      </p:pic>
      <p:sp>
        <p:nvSpPr>
          <p:cNvPr id="3" name="event chip shadow"/>
          <p:cNvSpPr/>
          <p:nvPr/>
        </p:nvSpPr>
        <p:spPr>
          <a:xfrm>
            <a:off x="603504" y="512064"/>
            <a:ext cx="4114800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event chip body"/>
          <p:cNvSpPr/>
          <p:nvPr/>
        </p:nvSpPr>
        <p:spPr>
          <a:xfrm>
            <a:off x="548640" y="457200"/>
            <a:ext cx="4114800" cy="420624"/>
          </a:xfrm>
          <a:prstGeom prst="rect">
            <a:avLst/>
          </a:prstGeom>
          <a:solidFill>
            <a:srgbClr val="000000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5" name="event chip text"/>
          <p:cNvSpPr txBox="1"/>
          <p:nvPr/>
        </p:nvSpPr>
        <p:spPr>
          <a:xfrm>
            <a:off x="548640" y="4572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CRAFT N CODE KARNATAKA 2026</a:t>
            </a:r>
            <a:endParaRPr lang="en-US" sz="1400" dirty="0"/>
          </a:p>
        </p:txBody>
      </p:sp>
      <p:sp>
        <p:nvSpPr>
          <p:cNvPr id="6" name="theme chip shadow"/>
          <p:cNvSpPr/>
          <p:nvPr/>
        </p:nvSpPr>
        <p:spPr>
          <a:xfrm>
            <a:off x="4901184" y="512064"/>
            <a:ext cx="2560320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heme chip body"/>
          <p:cNvSpPr/>
          <p:nvPr/>
        </p:nvSpPr>
        <p:spPr>
          <a:xfrm>
            <a:off x="4846320" y="457200"/>
            <a:ext cx="2560320" cy="420624"/>
          </a:xfrm>
          <a:prstGeom prst="rect">
            <a:avLst/>
          </a:prstGeom>
          <a:solidFill>
            <a:srgbClr val="C4B5F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8" name="theme chip text"/>
          <p:cNvSpPr txBox="1"/>
          <p:nvPr/>
        </p:nvSpPr>
        <p:spPr>
          <a:xfrm>
            <a:off x="4846320" y="4572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FOR EDUCATION</a:t>
            </a:r>
            <a:endParaRPr lang="en-US" sz="1400" dirty="0"/>
          </a:p>
        </p:txBody>
      </p:sp>
      <p:sp>
        <p:nvSpPr>
          <p:cNvPr id="9" name="cover title 1"/>
          <p:cNvSpPr txBox="1"/>
          <p:nvPr/>
        </p:nvSpPr>
        <p:spPr>
          <a:xfrm>
            <a:off x="502920" y="105156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spc="-2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</a:t>
            </a:r>
            <a:endParaRPr lang="en-US" sz="13000" dirty="0"/>
          </a:p>
        </p:txBody>
      </p:sp>
      <p:sp>
        <p:nvSpPr>
          <p:cNvPr id="10" name="cover title 2"/>
          <p:cNvSpPr txBox="1"/>
          <p:nvPr/>
        </p:nvSpPr>
        <p:spPr>
          <a:xfrm>
            <a:off x="502920" y="260604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spc="-2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ROOM.</a:t>
            </a:r>
            <a:endParaRPr lang="en-US" sz="13000" dirty="0"/>
          </a:p>
        </p:txBody>
      </p:sp>
      <p:sp>
        <p:nvSpPr>
          <p:cNvPr id="11" name="a1:tagline shadow"/>
          <p:cNvSpPr/>
          <p:nvPr/>
        </p:nvSpPr>
        <p:spPr>
          <a:xfrm>
            <a:off x="640080" y="4663440"/>
            <a:ext cx="630936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a1:tagline body"/>
          <p:cNvSpPr/>
          <p:nvPr/>
        </p:nvSpPr>
        <p:spPr>
          <a:xfrm>
            <a:off x="548640" y="4572000"/>
            <a:ext cx="6309360" cy="123444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3" name="a1:tagline text"/>
          <p:cNvSpPr txBox="1"/>
          <p:nvPr/>
        </p:nvSpPr>
        <p:spPr>
          <a:xfrm>
            <a:off x="777240" y="466344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WHITEBOARD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THAT RUNS YOUR CODE.</a:t>
            </a:r>
            <a:endParaRPr lang="en-US" sz="2800" dirty="0"/>
          </a:p>
        </p:txBody>
      </p:sp>
      <p:sp>
        <p:nvSpPr>
          <p:cNvPr id="14" name="cover simulation shadow"/>
          <p:cNvSpPr/>
          <p:nvPr/>
        </p:nvSpPr>
        <p:spPr>
          <a:xfrm>
            <a:off x="7287768" y="1481328"/>
            <a:ext cx="4572000" cy="2788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5" name="cover simulation" descr="Animation: code is typed on a board, blue input 3 5 is added, Run is pressed and 3 + 5 = 8 appears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371600"/>
            <a:ext cx="4572000" cy="2788920"/>
          </a:xfrm>
          <a:prstGeom prst="rect">
            <a:avLst/>
          </a:prstGeom>
        </p:spPr>
      </p:pic>
      <p:sp>
        <p:nvSpPr>
          <p:cNvPr id="16" name="cover simulation border"/>
          <p:cNvSpPr/>
          <p:nvPr/>
        </p:nvSpPr>
        <p:spPr>
          <a:xfrm>
            <a:off x="7178040" y="1371600"/>
            <a:ext cx="4572000" cy="2788920"/>
          </a:xfrm>
          <a:prstGeom prst="rect">
            <a:avLst/>
          </a:prstGeom>
          <a:ln w="50800">
            <a:solidFill>
              <a:srgbClr val="000000"/>
            </a:solidFill>
            <a:prstDash val="solid"/>
          </a:ln>
        </p:spPr>
      </p:sp>
      <p:sp>
        <p:nvSpPr>
          <p:cNvPr id="17" name="loop sticker shadow"/>
          <p:cNvSpPr/>
          <p:nvPr/>
        </p:nvSpPr>
        <p:spPr>
          <a:xfrm>
            <a:off x="6912864" y="1078992"/>
            <a:ext cx="17373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loop sticker body"/>
          <p:cNvSpPr/>
          <p:nvPr/>
        </p:nvSpPr>
        <p:spPr>
          <a:xfrm>
            <a:off x="6858000" y="1024128"/>
            <a:ext cx="1737360" cy="36576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9" name="loop sticker text"/>
          <p:cNvSpPr txBox="1"/>
          <p:nvPr/>
        </p:nvSpPr>
        <p:spPr>
          <a:xfrm>
            <a:off x="6858000" y="1024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LOOP</a:t>
            </a:r>
            <a:endParaRPr lang="en-US" sz="1300" dirty="0"/>
          </a:p>
        </p:txBody>
      </p:sp>
      <p:sp>
        <p:nvSpPr>
          <p:cNvPr id="20" name="a2:verb 1 shadow"/>
          <p:cNvSpPr/>
          <p:nvPr/>
        </p:nvSpPr>
        <p:spPr>
          <a:xfrm>
            <a:off x="7232904" y="4672584"/>
            <a:ext cx="14173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a2:verb 1 body"/>
          <p:cNvSpPr/>
          <p:nvPr/>
        </p:nvSpPr>
        <p:spPr>
          <a:xfrm>
            <a:off x="7178040" y="4617720"/>
            <a:ext cx="1417320" cy="457200"/>
          </a:xfrm>
          <a:prstGeom prst="rect">
            <a:avLst/>
          </a:prstGeom>
          <a:solidFill>
            <a:srgbClr val="FF6B6B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2" name="a2:verb 1 text"/>
          <p:cNvSpPr txBox="1"/>
          <p:nvPr/>
        </p:nvSpPr>
        <p:spPr>
          <a:xfrm>
            <a:off x="7178040" y="46177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 OR WRITE</a:t>
            </a:r>
            <a:endParaRPr lang="en-US" sz="1200" dirty="0"/>
          </a:p>
        </p:txBody>
      </p:sp>
      <p:sp>
        <p:nvSpPr>
          <p:cNvPr id="23" name="a2:verb 2 shadow"/>
          <p:cNvSpPr/>
          <p:nvPr/>
        </p:nvSpPr>
        <p:spPr>
          <a:xfrm>
            <a:off x="8787384" y="4672584"/>
            <a:ext cx="123444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a2:verb 2 body"/>
          <p:cNvSpPr/>
          <p:nvPr/>
        </p:nvSpPr>
        <p:spPr>
          <a:xfrm>
            <a:off x="8732520" y="4617720"/>
            <a:ext cx="1234440" cy="45720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5" name="a2:verb 2 text"/>
          <p:cNvSpPr txBox="1"/>
          <p:nvPr/>
        </p:nvSpPr>
        <p:spPr>
          <a:xfrm>
            <a:off x="8732520" y="4617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</a:t>
            </a:r>
            <a:endParaRPr lang="en-US" sz="1200" dirty="0"/>
          </a:p>
        </p:txBody>
      </p:sp>
      <p:sp>
        <p:nvSpPr>
          <p:cNvPr id="26" name="a2:verb 3 shadow"/>
          <p:cNvSpPr/>
          <p:nvPr/>
        </p:nvSpPr>
        <p:spPr>
          <a:xfrm>
            <a:off x="10158984" y="4672584"/>
            <a:ext cx="16459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a2:verb 3 body"/>
          <p:cNvSpPr/>
          <p:nvPr/>
        </p:nvSpPr>
        <p:spPr>
          <a:xfrm>
            <a:off x="10104120" y="4617720"/>
            <a:ext cx="1645920" cy="457200"/>
          </a:xfrm>
          <a:prstGeom prst="rect">
            <a:avLst/>
          </a:prstGeom>
          <a:solidFill>
            <a:srgbClr val="C4B5F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8" name="a2:verb 3 text"/>
          <p:cNvSpPr txBox="1"/>
          <p:nvPr/>
        </p:nvSpPr>
        <p:spPr>
          <a:xfrm>
            <a:off x="10104120" y="4617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</a:t>
            </a:r>
            <a:endParaRPr lang="en-US" sz="1200" dirty="0"/>
          </a:p>
        </p:txBody>
      </p:sp>
      <p:sp>
        <p:nvSpPr>
          <p:cNvPr id="29" name="a2:language star shadow"/>
          <p:cNvSpPr/>
          <p:nvPr/>
        </p:nvSpPr>
        <p:spPr>
          <a:xfrm>
            <a:off x="10799064" y="146304"/>
            <a:ext cx="1280160" cy="1280160"/>
          </a:xfrm>
          <a:prstGeom prst="star5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a2:language star body"/>
          <p:cNvSpPr/>
          <p:nvPr/>
        </p:nvSpPr>
        <p:spPr>
          <a:xfrm>
            <a:off x="10744200" y="91440"/>
            <a:ext cx="1280160" cy="1280160"/>
          </a:xfrm>
          <a:prstGeom prst="star5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1" name="a2:language star text"/>
          <p:cNvSpPr txBox="1"/>
          <p:nvPr/>
        </p:nvSpPr>
        <p:spPr>
          <a:xfrm>
            <a:off x="10744200" y="4754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C++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7178040" y="5532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CLICK TO REVEAL  ▸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34" name="nav 1">
            <a:hlinkClick r:id="rId3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35" name="nav 2">
            <a:hlinkClick r:id="rId4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36" name="nav 3">
            <a:hlinkClick r:id="rId5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37" name="nav 4">
            <a:hlinkClick r:id="rId6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38" name="nav 5">
            <a:hlinkClick r:id="rId7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39" name="nav 6">
            <a:hlinkClick r:id="rId8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40" name="nav 7">
            <a:hlinkClick r:id="rId9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41" name="nav 8">
            <a:hlinkClick r:id="rId10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0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descr="Graph paper gr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33101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384048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/ THE PROBLEM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WHITEBOARD</a:t>
            </a:r>
            <a:endParaRPr lang="en-US" sz="5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CAN’T COMPILE.</a:t>
            </a:r>
            <a:endParaRPr lang="en-US" sz="5000" dirty="0"/>
          </a:p>
        </p:txBody>
      </p:sp>
      <p:sp>
        <p:nvSpPr>
          <p:cNvPr id="5" name="card shadow"/>
          <p:cNvSpPr/>
          <p:nvPr/>
        </p:nvSpPr>
        <p:spPr>
          <a:xfrm>
            <a:off x="640080" y="2697480"/>
            <a:ext cx="5669280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card body"/>
          <p:cNvSpPr/>
          <p:nvPr/>
        </p:nvSpPr>
        <p:spPr>
          <a:xfrm>
            <a:off x="548640" y="2606040"/>
            <a:ext cx="5669280" cy="182880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7432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Teachers explain C++ and Python on a board. Checking the example means leaving the lesson for a separate IDE.</a:t>
            </a:r>
            <a:endParaRPr lang="en-US" sz="2000" dirty="0"/>
          </a:p>
        </p:txBody>
      </p:sp>
      <p:sp>
        <p:nvSpPr>
          <p:cNvPr id="8" name="premise sticker shadow"/>
          <p:cNvSpPr/>
          <p:nvPr/>
        </p:nvSpPr>
        <p:spPr>
          <a:xfrm>
            <a:off x="603504" y="4809744"/>
            <a:ext cx="3566160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premise sticker body"/>
          <p:cNvSpPr/>
          <p:nvPr/>
        </p:nvSpPr>
        <p:spPr>
          <a:xfrm>
            <a:off x="548640" y="4754880"/>
            <a:ext cx="3566160" cy="420624"/>
          </a:xfrm>
          <a:prstGeom prst="rect">
            <a:avLst/>
          </a:prstGeom>
          <a:solidFill>
            <a:srgbClr val="FF6B6B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0" name="premise sticker text"/>
          <p:cNvSpPr txBox="1"/>
          <p:nvPr/>
        </p:nvSpPr>
        <p:spPr>
          <a:xfrm>
            <a:off x="548640" y="47548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PREMISE, NOT A STATISTIC</a:t>
            </a:r>
            <a:endParaRPr lang="en-US" sz="1200" dirty="0"/>
          </a:p>
        </p:txBody>
      </p:sp>
      <p:sp>
        <p:nvSpPr>
          <p:cNvPr id="11" name="user chip shadow"/>
          <p:cNvSpPr/>
          <p:nvPr/>
        </p:nvSpPr>
        <p:spPr>
          <a:xfrm>
            <a:off x="4352544" y="4809744"/>
            <a:ext cx="2103120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user chip body"/>
          <p:cNvSpPr/>
          <p:nvPr/>
        </p:nvSpPr>
        <p:spPr>
          <a:xfrm>
            <a:off x="4297680" y="4754880"/>
            <a:ext cx="2103120" cy="420624"/>
          </a:xfrm>
          <a:prstGeom prst="rect">
            <a:avLst/>
          </a:prstGeom>
          <a:solidFill>
            <a:srgbClr val="C4B5F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3" name="user chip text"/>
          <p:cNvSpPr txBox="1"/>
          <p:nvPr/>
        </p:nvSpPr>
        <p:spPr>
          <a:xfrm>
            <a:off x="4297680" y="47548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TEACHERS</a:t>
            </a:r>
            <a:endParaRPr lang="en-US" sz="1200" dirty="0"/>
          </a:p>
        </p:txBody>
      </p:sp>
      <p:sp>
        <p:nvSpPr>
          <p:cNvPr id="14" name="card shadow"/>
          <p:cNvSpPr/>
          <p:nvPr/>
        </p:nvSpPr>
        <p:spPr>
          <a:xfrm>
            <a:off x="7132320" y="1143000"/>
            <a:ext cx="4572000" cy="2240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card body"/>
          <p:cNvSpPr/>
          <p:nvPr/>
        </p:nvSpPr>
        <p:spPr>
          <a:xfrm>
            <a:off x="7040880" y="1051560"/>
            <a:ext cx="4572000" cy="2240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40880" y="1051560"/>
            <a:ext cx="1554480" cy="41148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269480" y="1600200"/>
            <a:ext cx="4114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ON THE BOARD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▾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SWITCH TO AN IDE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▾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PASTE, RUN, SWITCH BACK</a:t>
            </a:r>
            <a:endParaRPr lang="en-US" sz="1600" dirty="0"/>
          </a:p>
        </p:txBody>
      </p:sp>
      <p:sp>
        <p:nvSpPr>
          <p:cNvPr id="18" name="a1:after panel shadow"/>
          <p:cNvSpPr/>
          <p:nvPr/>
        </p:nvSpPr>
        <p:spPr>
          <a:xfrm>
            <a:off x="6848856" y="3739896"/>
            <a:ext cx="4892040" cy="2423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a1:after panel body"/>
          <p:cNvSpPr/>
          <p:nvPr/>
        </p:nvSpPr>
        <p:spPr>
          <a:xfrm>
            <a:off x="6720840" y="3611880"/>
            <a:ext cx="4892040" cy="242316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0" name="a1:after label"/>
          <p:cNvSpPr txBox="1"/>
          <p:nvPr/>
        </p:nvSpPr>
        <p:spPr>
          <a:xfrm>
            <a:off x="6720840" y="3611880"/>
            <a:ext cx="2651760" cy="41148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BOARDROOM</a:t>
            </a:r>
            <a:endParaRPr lang="en-US" sz="1400" dirty="0"/>
          </a:p>
        </p:txBody>
      </p:sp>
      <p:sp>
        <p:nvSpPr>
          <p:cNvPr id="21" name="a1:after steps"/>
          <p:cNvSpPr txBox="1"/>
          <p:nvPr/>
        </p:nvSpPr>
        <p:spPr>
          <a:xfrm>
            <a:off x="6949440" y="4206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 ▸  SELECT  ▸  RUN</a:t>
            </a:r>
            <a:endParaRPr lang="en-US" sz="2600" dirty="0"/>
          </a:p>
        </p:txBody>
      </p:sp>
      <p:sp>
        <p:nvSpPr>
          <p:cNvPr id="22" name="a1:after text"/>
          <p:cNvSpPr txBox="1"/>
          <p:nvPr/>
        </p:nvSpPr>
        <p:spPr>
          <a:xfrm>
            <a:off x="6949440" y="48463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Errors are underlined in the code. The lesson never leaves the board.</a:t>
            </a:r>
            <a:endParaRPr lang="en-US" sz="1800" dirty="0"/>
          </a:p>
        </p:txBody>
      </p:sp>
      <p:sp>
        <p:nvSpPr>
          <p:cNvPr id="23" name="a1:after star shadow"/>
          <p:cNvSpPr/>
          <p:nvPr/>
        </p:nvSpPr>
        <p:spPr>
          <a:xfrm rot="-600000">
            <a:off x="10890504" y="3118104"/>
            <a:ext cx="1005840" cy="1005840"/>
          </a:xfrm>
          <a:prstGeom prst="star5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a1:after star body"/>
          <p:cNvSpPr/>
          <p:nvPr/>
        </p:nvSpPr>
        <p:spPr>
          <a:xfrm rot="-600000">
            <a:off x="10835640" y="3063240"/>
            <a:ext cx="1005840" cy="1005840"/>
          </a:xfrm>
          <a:prstGeom prst="star5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26" name="nav 1">
            <a:hlinkClick r:id="rId2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27" name="nav 2">
            <a:hlinkClick r:id="rId3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28" name="nav 3">
            <a:hlinkClick r:id="rId4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29" name="nav 4">
            <a:hlinkClick r:id="rId5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30" name="nav 5">
            <a:hlinkClick r:id="rId6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31" name="nav 6">
            <a:hlinkClick r:id="rId7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32" name="nav 7">
            <a:hlinkClick r:id="rId8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33" name="nav 8">
            <a:hlinkClick r:id="rId9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/ HOW IT WORKS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STEPS FROM INK TO ANSWER.</a:t>
            </a:r>
            <a:endParaRPr lang="en-US" sz="3800" dirty="0"/>
          </a:p>
        </p:txBody>
      </p:sp>
      <p:sp>
        <p:nvSpPr>
          <p:cNvPr id="4" name="a1:step 1 badge shadow"/>
          <p:cNvSpPr/>
          <p:nvPr/>
        </p:nvSpPr>
        <p:spPr>
          <a:xfrm>
            <a:off x="612648" y="1847088"/>
            <a:ext cx="73152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a1:step 1 badge body"/>
          <p:cNvSpPr/>
          <p:nvPr/>
        </p:nvSpPr>
        <p:spPr>
          <a:xfrm>
            <a:off x="548640" y="1783080"/>
            <a:ext cx="731520" cy="73152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6" name="a1:step 1 number"/>
          <p:cNvSpPr txBox="1"/>
          <p:nvPr/>
        </p:nvSpPr>
        <p:spPr>
          <a:xfrm>
            <a:off x="5486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a1:step 1 panel shadow"/>
          <p:cNvSpPr/>
          <p:nvPr/>
        </p:nvSpPr>
        <p:spPr>
          <a:xfrm>
            <a:off x="1481328" y="1847088"/>
            <a:ext cx="512064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a1:step 1 panel body"/>
          <p:cNvSpPr/>
          <p:nvPr/>
        </p:nvSpPr>
        <p:spPr>
          <a:xfrm>
            <a:off x="1417320" y="1783080"/>
            <a:ext cx="5120640" cy="7315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9" name="a1:step 1 verb"/>
          <p:cNvSpPr txBox="1"/>
          <p:nvPr/>
        </p:nvSpPr>
        <p:spPr>
          <a:xfrm>
            <a:off x="1554480" y="1819656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</a:t>
            </a:r>
            <a:endParaRPr lang="en-US" sz="2000" dirty="0"/>
          </a:p>
        </p:txBody>
      </p:sp>
      <p:sp>
        <p:nvSpPr>
          <p:cNvPr id="10" name="a1:step 1 text"/>
          <p:cNvSpPr txBox="1"/>
          <p:nvPr/>
        </p:nvSpPr>
        <p:spPr>
          <a:xfrm>
            <a:off x="2788920" y="181965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Pen or keyboard. Black ink is code, blue ink is input.</a:t>
            </a:r>
            <a:endParaRPr lang="en-US" sz="1400" dirty="0"/>
          </a:p>
        </p:txBody>
      </p:sp>
      <p:sp>
        <p:nvSpPr>
          <p:cNvPr id="11" name="a2:step 2 badge shadow"/>
          <p:cNvSpPr/>
          <p:nvPr/>
        </p:nvSpPr>
        <p:spPr>
          <a:xfrm>
            <a:off x="841248" y="2752344"/>
            <a:ext cx="73152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a2:step 2 badge body"/>
          <p:cNvSpPr/>
          <p:nvPr/>
        </p:nvSpPr>
        <p:spPr>
          <a:xfrm>
            <a:off x="777240" y="2688336"/>
            <a:ext cx="731520" cy="731520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3" name="a2:step 2 number"/>
          <p:cNvSpPr txBox="1"/>
          <p:nvPr/>
        </p:nvSpPr>
        <p:spPr>
          <a:xfrm>
            <a:off x="777240" y="26883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a2:step 2 panel shadow"/>
          <p:cNvSpPr/>
          <p:nvPr/>
        </p:nvSpPr>
        <p:spPr>
          <a:xfrm>
            <a:off x="1709928" y="2752344"/>
            <a:ext cx="512064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a2:step 2 panel body"/>
          <p:cNvSpPr/>
          <p:nvPr/>
        </p:nvSpPr>
        <p:spPr>
          <a:xfrm>
            <a:off x="1645920" y="2688336"/>
            <a:ext cx="5120640" cy="7315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6" name="a2:step 2 verb"/>
          <p:cNvSpPr txBox="1"/>
          <p:nvPr/>
        </p:nvSpPr>
        <p:spPr>
          <a:xfrm>
            <a:off x="1783080" y="27249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</a:t>
            </a:r>
            <a:endParaRPr lang="en-US" sz="2000" dirty="0"/>
          </a:p>
        </p:txBody>
      </p:sp>
      <p:sp>
        <p:nvSpPr>
          <p:cNvPr id="17" name="a2:step 2 text"/>
          <p:cNvSpPr txBox="1"/>
          <p:nvPr/>
        </p:nvSpPr>
        <p:spPr>
          <a:xfrm>
            <a:off x="3017520" y="272491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Drag a box. That region becomes the program.</a:t>
            </a:r>
            <a:endParaRPr lang="en-US" sz="1400" dirty="0"/>
          </a:p>
        </p:txBody>
      </p:sp>
      <p:sp>
        <p:nvSpPr>
          <p:cNvPr id="18" name="a3:step 3 badge shadow"/>
          <p:cNvSpPr/>
          <p:nvPr/>
        </p:nvSpPr>
        <p:spPr>
          <a:xfrm>
            <a:off x="612648" y="3657600"/>
            <a:ext cx="73152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a3:step 3 badge body"/>
          <p:cNvSpPr/>
          <p:nvPr/>
        </p:nvSpPr>
        <p:spPr>
          <a:xfrm>
            <a:off x="548640" y="3593592"/>
            <a:ext cx="731520" cy="73152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0" name="a3:step 3 number"/>
          <p:cNvSpPr txBox="1"/>
          <p:nvPr/>
        </p:nvSpPr>
        <p:spPr>
          <a:xfrm>
            <a:off x="548640" y="35935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a3:step 3 panel shadow"/>
          <p:cNvSpPr/>
          <p:nvPr/>
        </p:nvSpPr>
        <p:spPr>
          <a:xfrm>
            <a:off x="1481328" y="3657600"/>
            <a:ext cx="512064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a3:step 3 panel body"/>
          <p:cNvSpPr/>
          <p:nvPr/>
        </p:nvSpPr>
        <p:spPr>
          <a:xfrm>
            <a:off x="1417320" y="3593592"/>
            <a:ext cx="5120640" cy="7315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3" name="a3:step 3 verb"/>
          <p:cNvSpPr txBox="1"/>
          <p:nvPr/>
        </p:nvSpPr>
        <p:spPr>
          <a:xfrm>
            <a:off x="1554480" y="363016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</a:t>
            </a:r>
            <a:endParaRPr lang="en-US" sz="2000" dirty="0"/>
          </a:p>
        </p:txBody>
      </p:sp>
      <p:sp>
        <p:nvSpPr>
          <p:cNvPr id="24" name="a3:step 3 text"/>
          <p:cNvSpPr txBox="1"/>
          <p:nvPr/>
        </p:nvSpPr>
        <p:spPr>
          <a:xfrm>
            <a:off x="2788920" y="363016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reads ink. The teacher confirms every line.</a:t>
            </a:r>
            <a:endParaRPr lang="en-US" sz="1400" dirty="0"/>
          </a:p>
        </p:txBody>
      </p:sp>
      <p:sp>
        <p:nvSpPr>
          <p:cNvPr id="25" name="a4:step 4 badge shadow"/>
          <p:cNvSpPr/>
          <p:nvPr/>
        </p:nvSpPr>
        <p:spPr>
          <a:xfrm>
            <a:off x="841248" y="4562856"/>
            <a:ext cx="73152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a4:step 4 badge body"/>
          <p:cNvSpPr/>
          <p:nvPr/>
        </p:nvSpPr>
        <p:spPr>
          <a:xfrm>
            <a:off x="777240" y="4498848"/>
            <a:ext cx="731520" cy="73152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7" name="a4:step 4 number"/>
          <p:cNvSpPr txBox="1"/>
          <p:nvPr/>
        </p:nvSpPr>
        <p:spPr>
          <a:xfrm>
            <a:off x="777240" y="44988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3200" dirty="0"/>
          </a:p>
        </p:txBody>
      </p:sp>
      <p:sp>
        <p:nvSpPr>
          <p:cNvPr id="28" name="a4:step 4 panel shadow"/>
          <p:cNvSpPr/>
          <p:nvPr/>
        </p:nvSpPr>
        <p:spPr>
          <a:xfrm>
            <a:off x="1709928" y="4562856"/>
            <a:ext cx="512064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a4:step 4 panel body"/>
          <p:cNvSpPr/>
          <p:nvPr/>
        </p:nvSpPr>
        <p:spPr>
          <a:xfrm>
            <a:off x="1645920" y="4498848"/>
            <a:ext cx="5120640" cy="7315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0" name="a4:step 4 verb"/>
          <p:cNvSpPr txBox="1"/>
          <p:nvPr/>
        </p:nvSpPr>
        <p:spPr>
          <a:xfrm>
            <a:off x="1783080" y="453542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</a:t>
            </a:r>
            <a:endParaRPr lang="en-US" sz="2000" dirty="0"/>
          </a:p>
        </p:txBody>
      </p:sp>
      <p:sp>
        <p:nvSpPr>
          <p:cNvPr id="31" name="a4:step 4 text"/>
          <p:cNvSpPr txBox="1"/>
          <p:nvPr/>
        </p:nvSpPr>
        <p:spPr>
          <a:xfrm>
            <a:off x="3017520" y="453542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throwaway Docker container compiles and runs it.</a:t>
            </a:r>
            <a:endParaRPr lang="en-US" sz="1400" dirty="0"/>
          </a:p>
        </p:txBody>
      </p:sp>
      <p:sp>
        <p:nvSpPr>
          <p:cNvPr id="32" name="a5:step 5 badge shadow"/>
          <p:cNvSpPr/>
          <p:nvPr/>
        </p:nvSpPr>
        <p:spPr>
          <a:xfrm>
            <a:off x="612648" y="5468112"/>
            <a:ext cx="73152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a5:step 5 badge body"/>
          <p:cNvSpPr/>
          <p:nvPr/>
        </p:nvSpPr>
        <p:spPr>
          <a:xfrm>
            <a:off x="548640" y="5404104"/>
            <a:ext cx="731520" cy="731520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4" name="a5:step 5 number"/>
          <p:cNvSpPr txBox="1"/>
          <p:nvPr/>
        </p:nvSpPr>
        <p:spPr>
          <a:xfrm>
            <a:off x="548640" y="54041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3200" dirty="0"/>
          </a:p>
        </p:txBody>
      </p:sp>
      <p:sp>
        <p:nvSpPr>
          <p:cNvPr id="35" name="a5:step 5 panel shadow"/>
          <p:cNvSpPr/>
          <p:nvPr/>
        </p:nvSpPr>
        <p:spPr>
          <a:xfrm>
            <a:off x="1481328" y="5468112"/>
            <a:ext cx="5120640" cy="731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a5:step 5 panel body"/>
          <p:cNvSpPr/>
          <p:nvPr/>
        </p:nvSpPr>
        <p:spPr>
          <a:xfrm>
            <a:off x="1417320" y="5404104"/>
            <a:ext cx="5120640" cy="7315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7" name="a5:step 5 verb"/>
          <p:cNvSpPr txBox="1"/>
          <p:nvPr/>
        </p:nvSpPr>
        <p:spPr>
          <a:xfrm>
            <a:off x="1554480" y="544068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</a:t>
            </a:r>
            <a:endParaRPr lang="en-US" sz="2000" dirty="0"/>
          </a:p>
        </p:txBody>
      </p:sp>
      <p:sp>
        <p:nvSpPr>
          <p:cNvPr id="38" name="a5:step 5 text"/>
          <p:cNvSpPr txBox="1"/>
          <p:nvPr/>
        </p:nvSpPr>
        <p:spPr>
          <a:xfrm>
            <a:off x="2788920" y="54406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 and errors appear in the code panel.</a:t>
            </a:r>
            <a:endParaRPr lang="en-US" sz="1400" dirty="0"/>
          </a:p>
        </p:txBody>
      </p:sp>
      <p:sp>
        <p:nvSpPr>
          <p:cNvPr id="39" name="review simulation shadow"/>
          <p:cNvSpPr/>
          <p:nvPr/>
        </p:nvSpPr>
        <p:spPr>
          <a:xfrm>
            <a:off x="7196328" y="1892808"/>
            <a:ext cx="4572000" cy="2788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0" name="review simulation" descr="Animation: scribbled handwriting is read into code, one line is flagged CHECK, the teacher ticks a confirmation box and only then can the code ru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83080"/>
            <a:ext cx="4572000" cy="2788920"/>
          </a:xfrm>
          <a:prstGeom prst="rect">
            <a:avLst/>
          </a:prstGeom>
        </p:spPr>
      </p:pic>
      <p:sp>
        <p:nvSpPr>
          <p:cNvPr id="41" name="review simulation border"/>
          <p:cNvSpPr/>
          <p:nvPr/>
        </p:nvSpPr>
        <p:spPr>
          <a:xfrm>
            <a:off x="7086600" y="1783080"/>
            <a:ext cx="4572000" cy="2788920"/>
          </a:xfrm>
          <a:prstGeom prst="rect">
            <a:avLst/>
          </a:prstGeom>
          <a:ln w="50800">
            <a:solidFill>
              <a:srgbClr val="000000"/>
            </a:solidFill>
            <a:prstDash val="solid"/>
          </a:ln>
        </p:spPr>
      </p:sp>
      <p:sp>
        <p:nvSpPr>
          <p:cNvPr id="42" name="sim sticker shadow"/>
          <p:cNvSpPr/>
          <p:nvPr/>
        </p:nvSpPr>
        <p:spPr>
          <a:xfrm>
            <a:off x="6867144" y="1536192"/>
            <a:ext cx="21945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im sticker body"/>
          <p:cNvSpPr/>
          <p:nvPr/>
        </p:nvSpPr>
        <p:spPr>
          <a:xfrm>
            <a:off x="6812280" y="1481328"/>
            <a:ext cx="2194560" cy="347472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4" name="sim sticker text"/>
          <p:cNvSpPr txBox="1"/>
          <p:nvPr/>
        </p:nvSpPr>
        <p:spPr>
          <a:xfrm>
            <a:off x="6812280" y="14813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3, SIMULATED</a:t>
            </a:r>
            <a:endParaRPr lang="en-US" sz="1200" dirty="0"/>
          </a:p>
        </p:txBody>
      </p:sp>
      <p:sp>
        <p:nvSpPr>
          <p:cNvPr id="45" name="a5:error panel shadow"/>
          <p:cNvSpPr/>
          <p:nvPr/>
        </p:nvSpPr>
        <p:spPr>
          <a:xfrm>
            <a:off x="7178040" y="5029200"/>
            <a:ext cx="4572000" cy="1325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a5:error panel body"/>
          <p:cNvSpPr/>
          <p:nvPr/>
        </p:nvSpPr>
        <p:spPr>
          <a:xfrm>
            <a:off x="7086600" y="4937760"/>
            <a:ext cx="4572000" cy="13258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47" name="a5:error code"/>
          <p:cNvSpPr txBox="1"/>
          <p:nvPr/>
        </p:nvSpPr>
        <p:spPr>
          <a:xfrm>
            <a:off x="7269480" y="50292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x = 1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printf("%d", x);</a:t>
            </a:r>
            <a:endParaRPr lang="en-US" sz="1500" dirty="0"/>
          </a:p>
        </p:txBody>
      </p:sp>
      <p:sp>
        <p:nvSpPr>
          <p:cNvPr id="48" name="a5:squiggle"/>
          <p:cNvSpPr/>
          <p:nvPr/>
        </p:nvSpPr>
        <p:spPr>
          <a:xfrm>
            <a:off x="7498080" y="5303520"/>
            <a:ext cx="118872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9" name="a5:diagnostic chip shadow"/>
          <p:cNvSpPr/>
          <p:nvPr/>
        </p:nvSpPr>
        <p:spPr>
          <a:xfrm>
            <a:off x="7370064" y="5888736"/>
            <a:ext cx="20116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a5:diagnostic chip body"/>
          <p:cNvSpPr/>
          <p:nvPr/>
        </p:nvSpPr>
        <p:spPr>
          <a:xfrm>
            <a:off x="7315200" y="5833872"/>
            <a:ext cx="2011680" cy="347472"/>
          </a:xfrm>
          <a:prstGeom prst="rect">
            <a:avLst/>
          </a:prstGeom>
          <a:solidFill>
            <a:srgbClr val="FF6B6B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51" name="a5:diagnostic chip text"/>
          <p:cNvSpPr txBox="1"/>
          <p:nvPr/>
        </p:nvSpPr>
        <p:spPr>
          <a:xfrm>
            <a:off x="7315200" y="5833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L1 · expected ‘;’</a:t>
            </a:r>
            <a:endParaRPr lang="en-US" sz="1200" dirty="0"/>
          </a:p>
        </p:txBody>
      </p:sp>
      <p:sp>
        <p:nvSpPr>
          <p:cNvPr id="52" name="a5:clean note"/>
          <p:cNvSpPr txBox="1"/>
          <p:nvPr/>
        </p:nvSpPr>
        <p:spPr>
          <a:xfrm>
            <a:off x="9464040" y="5760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BOARD STAYS CLEAN.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54" name="nav 1">
            <a:hlinkClick r:id="rId2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55" name="nav 2">
            <a:hlinkClick r:id="rId3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56" name="nav 3">
            <a:hlinkClick r:id="rId4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57" name="nav 4">
            <a:hlinkClick r:id="rId5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58" name="nav 5">
            <a:hlinkClick r:id="rId6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59" name="nav 6">
            <a:hlinkClick r:id="rId7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60" name="nav 7">
            <a:hlinkClick r:id="rId8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61" name="nav 8">
            <a:hlinkClick r:id="rId9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/ THREE MODES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SLIDER.</a:t>
            </a:r>
            <a:endParaRPr lang="en-US" sz="3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WAYS TO RUN.</a:t>
            </a:r>
            <a:endParaRPr lang="en-US" sz="3800" dirty="0"/>
          </a:p>
        </p:txBody>
      </p:sp>
      <p:sp>
        <p:nvSpPr>
          <p:cNvPr id="4" name="slider track"/>
          <p:cNvSpPr/>
          <p:nvPr/>
        </p:nvSpPr>
        <p:spPr>
          <a:xfrm>
            <a:off x="548640" y="2148840"/>
            <a:ext cx="6217920" cy="38404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5" name="slider fill"/>
          <p:cNvSpPr/>
          <p:nvPr/>
        </p:nvSpPr>
        <p:spPr>
          <a:xfrm>
            <a:off x="548640" y="2148840"/>
            <a:ext cx="2606040" cy="384048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6" name="slider knob"/>
          <p:cNvSpPr/>
          <p:nvPr/>
        </p:nvSpPr>
        <p:spPr>
          <a:xfrm>
            <a:off x="2651760" y="2084832"/>
            <a:ext cx="1005840" cy="512064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PROGRAM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0" name="a1:mode 1 shadow"/>
          <p:cNvSpPr/>
          <p:nvPr/>
        </p:nvSpPr>
        <p:spPr>
          <a:xfrm>
            <a:off x="640080" y="3108960"/>
            <a:ext cx="6217920" cy="9326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a1:mode 1 body"/>
          <p:cNvSpPr/>
          <p:nvPr/>
        </p:nvSpPr>
        <p:spPr>
          <a:xfrm>
            <a:off x="548640" y="3017520"/>
            <a:ext cx="6217920" cy="932688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2" name="a1:mode 1 name"/>
          <p:cNvSpPr txBox="1"/>
          <p:nvPr/>
        </p:nvSpPr>
        <p:spPr>
          <a:xfrm>
            <a:off x="731520" y="30723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PROGRAM</a:t>
            </a:r>
            <a:endParaRPr lang="en-US" sz="1800" dirty="0"/>
          </a:p>
        </p:txBody>
      </p:sp>
      <p:sp>
        <p:nvSpPr>
          <p:cNvPr id="13" name="a1:mode 1 tag"/>
          <p:cNvSpPr txBox="1"/>
          <p:nvPr/>
        </p:nvSpPr>
        <p:spPr>
          <a:xfrm>
            <a:off x="4526280" y="3090672"/>
            <a:ext cx="2103120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NEVER</a:t>
            </a:r>
            <a:endParaRPr lang="en-US" sz="1200" dirty="0"/>
          </a:p>
        </p:txBody>
      </p:sp>
      <p:sp>
        <p:nvSpPr>
          <p:cNvPr id="14" name="a1:mode 1 text"/>
          <p:cNvSpPr txBox="1"/>
          <p:nvPr/>
        </p:nvSpPr>
        <p:spPr>
          <a:xfrm>
            <a:off x="731520" y="343814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Compiles exactly what you wrote. No corrections.</a:t>
            </a:r>
            <a:endParaRPr lang="en-US" sz="1400" dirty="0"/>
          </a:p>
        </p:txBody>
      </p:sp>
      <p:sp>
        <p:nvSpPr>
          <p:cNvPr id="15" name="a2:mode 2 shadow"/>
          <p:cNvSpPr/>
          <p:nvPr/>
        </p:nvSpPr>
        <p:spPr>
          <a:xfrm>
            <a:off x="868680" y="4187952"/>
            <a:ext cx="6217920" cy="9326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a2:mode 2 body"/>
          <p:cNvSpPr/>
          <p:nvPr/>
        </p:nvSpPr>
        <p:spPr>
          <a:xfrm>
            <a:off x="777240" y="4096512"/>
            <a:ext cx="6217920" cy="932688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7" name="a2:mode 2 name"/>
          <p:cNvSpPr txBox="1"/>
          <p:nvPr/>
        </p:nvSpPr>
        <p:spPr>
          <a:xfrm>
            <a:off x="960120" y="41513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</a:t>
            </a:r>
            <a:endParaRPr lang="en-US" sz="1800" dirty="0"/>
          </a:p>
        </p:txBody>
      </p:sp>
      <p:sp>
        <p:nvSpPr>
          <p:cNvPr id="18" name="a2:mode 2 tag"/>
          <p:cNvSpPr txBox="1"/>
          <p:nvPr/>
        </p:nvSpPr>
        <p:spPr>
          <a:xfrm>
            <a:off x="4754880" y="4169664"/>
            <a:ext cx="2103120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ARRANGES</a:t>
            </a:r>
            <a:endParaRPr lang="en-US" sz="1200" dirty="0"/>
          </a:p>
        </p:txBody>
      </p:sp>
      <p:sp>
        <p:nvSpPr>
          <p:cNvPr id="19" name="a2:mode 2 text"/>
          <p:cNvSpPr txBox="1"/>
          <p:nvPr/>
        </p:nvSpPr>
        <p:spPr>
          <a:xfrm>
            <a:off x="960120" y="451713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Pick a template of headers. Gemini only arranges helpers and main(). It never fixes code.</a:t>
            </a:r>
            <a:endParaRPr lang="en-US" sz="1400" dirty="0"/>
          </a:p>
        </p:txBody>
      </p:sp>
      <p:sp>
        <p:nvSpPr>
          <p:cNvPr id="20" name="a3:mode 3 shadow"/>
          <p:cNvSpPr/>
          <p:nvPr/>
        </p:nvSpPr>
        <p:spPr>
          <a:xfrm>
            <a:off x="640080" y="5266944"/>
            <a:ext cx="6217920" cy="9326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a3:mode 3 body"/>
          <p:cNvSpPr/>
          <p:nvPr/>
        </p:nvSpPr>
        <p:spPr>
          <a:xfrm>
            <a:off x="548640" y="5175504"/>
            <a:ext cx="6217920" cy="932688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2" name="a3:mode 3 name"/>
          <p:cNvSpPr txBox="1"/>
          <p:nvPr/>
        </p:nvSpPr>
        <p:spPr>
          <a:xfrm>
            <a:off x="731520" y="5230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</a:t>
            </a:r>
            <a:endParaRPr lang="en-US" sz="1800" dirty="0"/>
          </a:p>
        </p:txBody>
      </p:sp>
      <p:sp>
        <p:nvSpPr>
          <p:cNvPr id="23" name="a3:mode 3 tag"/>
          <p:cNvSpPr txBox="1"/>
          <p:nvPr/>
        </p:nvSpPr>
        <p:spPr>
          <a:xfrm>
            <a:off x="4526280" y="5248656"/>
            <a:ext cx="2103120" cy="310896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WRITES</a:t>
            </a:r>
            <a:endParaRPr lang="en-US" sz="1200" dirty="0"/>
          </a:p>
        </p:txBody>
      </p:sp>
      <p:sp>
        <p:nvSpPr>
          <p:cNvPr id="24" name="a3:mode 3 text"/>
          <p:cNvSpPr txBox="1"/>
          <p:nvPr/>
        </p:nvSpPr>
        <p:spPr>
          <a:xfrm>
            <a:off x="731520" y="559612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the steps in plain words. Gemini writes the program, then it compiles.</a:t>
            </a:r>
            <a:endParaRPr lang="en-US" sz="1400" dirty="0"/>
          </a:p>
        </p:txBody>
      </p:sp>
      <p:sp>
        <p:nvSpPr>
          <p:cNvPr id="25" name="snippet simulation shadow"/>
          <p:cNvSpPr/>
          <p:nvPr/>
        </p:nvSpPr>
        <p:spPr>
          <a:xfrm>
            <a:off x="7516368" y="1207008"/>
            <a:ext cx="4251960" cy="259689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6" name="snippet simulation" descr="Animation: loose statements and a helper function are rearranged under a template, main() is added around the statement, and a checker confirms nothing else chang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097280"/>
            <a:ext cx="4251960" cy="2596896"/>
          </a:xfrm>
          <a:prstGeom prst="rect">
            <a:avLst/>
          </a:prstGeom>
        </p:spPr>
      </p:pic>
      <p:sp>
        <p:nvSpPr>
          <p:cNvPr id="27" name="snippet simulation border"/>
          <p:cNvSpPr/>
          <p:nvPr/>
        </p:nvSpPr>
        <p:spPr>
          <a:xfrm>
            <a:off x="7406640" y="1097280"/>
            <a:ext cx="4251960" cy="2596896"/>
          </a:xfrm>
          <a:prstGeom prst="rect">
            <a:avLst/>
          </a:prstGeom>
          <a:ln w="50800">
            <a:solidFill>
              <a:srgbClr val="000000"/>
            </a:solidFill>
            <a:prstDash val="solid"/>
          </a:ln>
        </p:spPr>
      </p:sp>
      <p:sp>
        <p:nvSpPr>
          <p:cNvPr id="28" name="sim sticker shadow"/>
          <p:cNvSpPr/>
          <p:nvPr/>
        </p:nvSpPr>
        <p:spPr>
          <a:xfrm>
            <a:off x="7187184" y="841248"/>
            <a:ext cx="292608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im sticker body"/>
          <p:cNvSpPr/>
          <p:nvPr/>
        </p:nvSpPr>
        <p:spPr>
          <a:xfrm>
            <a:off x="7132320" y="786384"/>
            <a:ext cx="2926080" cy="347472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0" name="sim sticker text"/>
          <p:cNvSpPr txBox="1"/>
          <p:nvPr/>
        </p:nvSpPr>
        <p:spPr>
          <a:xfrm>
            <a:off x="7132320" y="7863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 MODE, SIMULATED</a:t>
            </a:r>
            <a:endParaRPr lang="en-US" sz="1200" dirty="0"/>
          </a:p>
        </p:txBody>
      </p:sp>
      <p:sp>
        <p:nvSpPr>
          <p:cNvPr id="31" name="a4:fix callout shadow"/>
          <p:cNvSpPr/>
          <p:nvPr/>
        </p:nvSpPr>
        <p:spPr>
          <a:xfrm>
            <a:off x="7516368" y="4224528"/>
            <a:ext cx="425196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a4:fix callout body"/>
          <p:cNvSpPr/>
          <p:nvPr/>
        </p:nvSpPr>
        <p:spPr>
          <a:xfrm>
            <a:off x="7406640" y="4114800"/>
            <a:ext cx="4251960" cy="1920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3" name="a4:fix title"/>
          <p:cNvSpPr txBox="1"/>
          <p:nvPr/>
        </p:nvSpPr>
        <p:spPr>
          <a:xfrm>
            <a:off x="7589520" y="4206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OPTIONAL:</a:t>
            </a:r>
            <a:endParaRPr lang="en-US" sz="2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ASK GEMINI TO FIX</a:t>
            </a:r>
            <a:endParaRPr lang="en-US" sz="2000" dirty="0"/>
          </a:p>
        </p:txBody>
      </p:sp>
      <p:sp>
        <p:nvSpPr>
          <p:cNvPr id="34" name="a4:fix text"/>
          <p:cNvSpPr txBox="1"/>
          <p:nvPr/>
        </p:nvSpPr>
        <p:spPr>
          <a:xfrm>
            <a:off x="7589520" y="49834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Shows up only after a failed run, in any mode. The teacher clicks it. No click, no API call.</a:t>
            </a:r>
            <a:endParaRPr lang="en-US" sz="1400" dirty="0"/>
          </a:p>
        </p:txBody>
      </p:sp>
      <p:sp>
        <p:nvSpPr>
          <p:cNvPr id="35" name="a4:fix star shadow"/>
          <p:cNvSpPr/>
          <p:nvPr/>
        </p:nvSpPr>
        <p:spPr>
          <a:xfrm rot="840000">
            <a:off x="10981944" y="3803904"/>
            <a:ext cx="914400" cy="914400"/>
          </a:xfrm>
          <a:prstGeom prst="star5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a4:fix star body"/>
          <p:cNvSpPr/>
          <p:nvPr/>
        </p:nvSpPr>
        <p:spPr>
          <a:xfrm rot="840000">
            <a:off x="10927080" y="3749040"/>
            <a:ext cx="914400" cy="914400"/>
          </a:xfrm>
          <a:prstGeom prst="star5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38" name="nav 1">
            <a:hlinkClick r:id="rId2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39" name="nav 2">
            <a:hlinkClick r:id="rId3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40" name="nav 3">
            <a:hlinkClick r:id="rId4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41" name="nav 4">
            <a:hlinkClick r:id="rId5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42" name="nav 5">
            <a:hlinkClick r:id="rId6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43" name="nav 6">
            <a:hlinkClick r:id="rId7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44" name="nav 7">
            <a:hlinkClick r:id="rId8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45" name="nav 8">
            <a:hlinkClick r:id="rId9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alftone" descr="Halftone d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4320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384048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/ SAFE BY DESIGN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TRY TO BREAK IT.</a:t>
            </a:r>
            <a:endParaRPr lang="en-US" sz="3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DID.</a:t>
            </a:r>
            <a:endParaRPr lang="en-US" sz="3800" dirty="0"/>
          </a:p>
        </p:txBody>
      </p:sp>
      <p:sp>
        <p:nvSpPr>
          <p:cNvPr id="5" name="sandbox simulation shadow"/>
          <p:cNvSpPr/>
          <p:nvPr/>
        </p:nvSpPr>
        <p:spPr>
          <a:xfrm>
            <a:off x="658368" y="2167128"/>
            <a:ext cx="5943600" cy="36301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sandbox simulation" descr="Animation: four hostile programs each run in a fresh container and are stopped: a sleep at five seconds, a flood of output cut at 16 KiB, a heap buffer overflow caught by AddressSanitizer, and a blocked network call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5943600" cy="3630168"/>
          </a:xfrm>
          <a:prstGeom prst="rect">
            <a:avLst/>
          </a:prstGeom>
        </p:spPr>
      </p:pic>
      <p:sp>
        <p:nvSpPr>
          <p:cNvPr id="7" name="sandbox simulation border"/>
          <p:cNvSpPr/>
          <p:nvPr/>
        </p:nvSpPr>
        <p:spPr>
          <a:xfrm>
            <a:off x="548640" y="2057400"/>
            <a:ext cx="5943600" cy="3630168"/>
          </a:xfrm>
          <a:prstGeom prst="rect">
            <a:avLst/>
          </a:prstGeom>
          <a:ln w="50800">
            <a:solidFill>
              <a:srgbClr val="000000"/>
            </a:solidFill>
            <a:prstDash val="solid"/>
          </a:ln>
        </p:spPr>
      </p:sp>
      <p:sp>
        <p:nvSpPr>
          <p:cNvPr id="8" name="sim sticker shadow"/>
          <p:cNvSpPr/>
          <p:nvPr/>
        </p:nvSpPr>
        <p:spPr>
          <a:xfrm>
            <a:off x="603504" y="5998464"/>
            <a:ext cx="35661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im sticker body"/>
          <p:cNvSpPr/>
          <p:nvPr/>
        </p:nvSpPr>
        <p:spPr>
          <a:xfrm>
            <a:off x="548640" y="5943600"/>
            <a:ext cx="3566160" cy="365760"/>
          </a:xfrm>
          <a:prstGeom prst="rect">
            <a:avLst/>
          </a:prstGeom>
          <a:solidFill>
            <a:srgbClr val="C4B5F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0" name="sim sticker text"/>
          <p:cNvSpPr txBox="1"/>
          <p:nvPr/>
        </p:nvSpPr>
        <p:spPr>
          <a:xfrm>
            <a:off x="548640" y="5943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SIMULATION OF 4 REAL TEST RUNS</a:t>
            </a:r>
            <a:endParaRPr lang="en-US" sz="1200" dirty="0"/>
          </a:p>
        </p:txBody>
      </p:sp>
      <p:sp>
        <p:nvSpPr>
          <p:cNvPr id="11" name="scope sticker shadow"/>
          <p:cNvSpPr/>
          <p:nvPr/>
        </p:nvSpPr>
        <p:spPr>
          <a:xfrm>
            <a:off x="4352544" y="5998464"/>
            <a:ext cx="26517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cope sticker body"/>
          <p:cNvSpPr/>
          <p:nvPr/>
        </p:nvSpPr>
        <p:spPr>
          <a:xfrm>
            <a:off x="4297680" y="5943600"/>
            <a:ext cx="2651760" cy="3657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3" name="scope sticker text"/>
          <p:cNvSpPr txBox="1"/>
          <p:nvPr/>
        </p:nvSpPr>
        <p:spPr>
          <a:xfrm>
            <a:off x="4297680" y="5943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LOCAL: DOCKER · HOSTED: WANDBOX</a:t>
            </a:r>
            <a:endParaRPr lang="en-US" sz="900" dirty="0"/>
          </a:p>
        </p:txBody>
      </p:sp>
      <p:sp>
        <p:nvSpPr>
          <p:cNvPr id="14" name="a1:result 1 shadow"/>
          <p:cNvSpPr/>
          <p:nvPr/>
        </p:nvSpPr>
        <p:spPr>
          <a:xfrm>
            <a:off x="7159752" y="1170432"/>
            <a:ext cx="457200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a1:result 1 body"/>
          <p:cNvSpPr/>
          <p:nvPr/>
        </p:nvSpPr>
        <p:spPr>
          <a:xfrm>
            <a:off x="7086600" y="1097280"/>
            <a:ext cx="4572000" cy="749808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6" name="a1:attack 1"/>
          <p:cNvSpPr txBox="1"/>
          <p:nvPr/>
        </p:nvSpPr>
        <p:spPr>
          <a:xfrm>
            <a:off x="7269480" y="1133856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sleep(10)</a:t>
            </a:r>
            <a:endParaRPr lang="en-US" sz="1300" dirty="0"/>
          </a:p>
        </p:txBody>
      </p:sp>
      <p:sp>
        <p:nvSpPr>
          <p:cNvPr id="17" name="a1:arrow 1"/>
          <p:cNvSpPr txBox="1"/>
          <p:nvPr/>
        </p:nvSpPr>
        <p:spPr>
          <a:xfrm>
            <a:off x="9326880" y="1133856"/>
            <a:ext cx="274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</a:t>
            </a:r>
            <a:endParaRPr lang="en-US" sz="1800" dirty="0"/>
          </a:p>
        </p:txBody>
      </p:sp>
      <p:sp>
        <p:nvSpPr>
          <p:cNvPr id="18" name="a1:result text 1"/>
          <p:cNvSpPr txBox="1"/>
          <p:nvPr/>
        </p:nvSpPr>
        <p:spPr>
          <a:xfrm>
            <a:off x="9646920" y="113385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STOPPED AT 5 SECONDS</a:t>
            </a:r>
            <a:endParaRPr lang="en-US" sz="1500" dirty="0"/>
          </a:p>
        </p:txBody>
      </p:sp>
      <p:sp>
        <p:nvSpPr>
          <p:cNvPr id="19" name="a2:result 2 shadow"/>
          <p:cNvSpPr/>
          <p:nvPr/>
        </p:nvSpPr>
        <p:spPr>
          <a:xfrm>
            <a:off x="7159752" y="2084832"/>
            <a:ext cx="457200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a2:result 2 body"/>
          <p:cNvSpPr/>
          <p:nvPr/>
        </p:nvSpPr>
        <p:spPr>
          <a:xfrm>
            <a:off x="7086600" y="2011680"/>
            <a:ext cx="4572000" cy="749808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1" name="a2:attack 2"/>
          <p:cNvSpPr txBox="1"/>
          <p:nvPr/>
        </p:nvSpPr>
        <p:spPr>
          <a:xfrm>
            <a:off x="7269480" y="2048256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100,000 LINES OF OUTPUT</a:t>
            </a:r>
            <a:endParaRPr lang="en-US" sz="1300" dirty="0"/>
          </a:p>
        </p:txBody>
      </p:sp>
      <p:sp>
        <p:nvSpPr>
          <p:cNvPr id="22" name="a2:arrow 2"/>
          <p:cNvSpPr txBox="1"/>
          <p:nvPr/>
        </p:nvSpPr>
        <p:spPr>
          <a:xfrm>
            <a:off x="9326880" y="2048256"/>
            <a:ext cx="274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</a:t>
            </a:r>
            <a:endParaRPr lang="en-US" sz="1800" dirty="0"/>
          </a:p>
        </p:txBody>
      </p:sp>
      <p:sp>
        <p:nvSpPr>
          <p:cNvPr id="23" name="a2:result text 2"/>
          <p:cNvSpPr txBox="1"/>
          <p:nvPr/>
        </p:nvSpPr>
        <p:spPr>
          <a:xfrm>
            <a:off x="9646920" y="204825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CUT AT 16 KiB</a:t>
            </a:r>
            <a:endParaRPr lang="en-US" sz="1500" dirty="0"/>
          </a:p>
        </p:txBody>
      </p:sp>
      <p:sp>
        <p:nvSpPr>
          <p:cNvPr id="24" name="a3:result 3 shadow"/>
          <p:cNvSpPr/>
          <p:nvPr/>
        </p:nvSpPr>
        <p:spPr>
          <a:xfrm>
            <a:off x="7159752" y="2999232"/>
            <a:ext cx="457200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a3:result 3 body"/>
          <p:cNvSpPr/>
          <p:nvPr/>
        </p:nvSpPr>
        <p:spPr>
          <a:xfrm>
            <a:off x="7086600" y="2926080"/>
            <a:ext cx="4572000" cy="749808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6" name="a3:attack 3"/>
          <p:cNvSpPr txBox="1"/>
          <p:nvPr/>
        </p:nvSpPr>
        <p:spPr>
          <a:xfrm>
            <a:off x="7269480" y="2962656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PAST A BUFFER</a:t>
            </a:r>
            <a:endParaRPr lang="en-US" sz="1300" dirty="0"/>
          </a:p>
        </p:txBody>
      </p:sp>
      <p:sp>
        <p:nvSpPr>
          <p:cNvPr id="27" name="a3:arrow 3"/>
          <p:cNvSpPr txBox="1"/>
          <p:nvPr/>
        </p:nvSpPr>
        <p:spPr>
          <a:xfrm>
            <a:off x="9326880" y="2962656"/>
            <a:ext cx="274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</a:t>
            </a:r>
            <a:endParaRPr lang="en-US" sz="1800" dirty="0"/>
          </a:p>
        </p:txBody>
      </p:sp>
      <p:sp>
        <p:nvSpPr>
          <p:cNvPr id="28" name="a3:result text 3"/>
          <p:cNvSpPr txBox="1"/>
          <p:nvPr/>
        </p:nvSpPr>
        <p:spPr>
          <a:xfrm>
            <a:off x="9646920" y="296265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ASAN CATCHES IT</a:t>
            </a:r>
            <a:endParaRPr lang="en-US" sz="1500" dirty="0"/>
          </a:p>
        </p:txBody>
      </p:sp>
      <p:sp>
        <p:nvSpPr>
          <p:cNvPr id="29" name="a4:result 4 shadow"/>
          <p:cNvSpPr/>
          <p:nvPr/>
        </p:nvSpPr>
        <p:spPr>
          <a:xfrm>
            <a:off x="7159752" y="3913632"/>
            <a:ext cx="4572000" cy="7498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a4:result 4 body"/>
          <p:cNvSpPr/>
          <p:nvPr/>
        </p:nvSpPr>
        <p:spPr>
          <a:xfrm>
            <a:off x="7086600" y="3840480"/>
            <a:ext cx="4572000" cy="749808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1" name="a4:attack 4"/>
          <p:cNvSpPr txBox="1"/>
          <p:nvPr/>
        </p:nvSpPr>
        <p:spPr>
          <a:xfrm>
            <a:off x="7269480" y="3877056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 CALL</a:t>
            </a:r>
            <a:endParaRPr lang="en-US" sz="1300" dirty="0"/>
          </a:p>
        </p:txBody>
      </p:sp>
      <p:sp>
        <p:nvSpPr>
          <p:cNvPr id="32" name="a4:arrow 4"/>
          <p:cNvSpPr txBox="1"/>
          <p:nvPr/>
        </p:nvSpPr>
        <p:spPr>
          <a:xfrm>
            <a:off x="9326880" y="3877056"/>
            <a:ext cx="274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▸</a:t>
            </a:r>
            <a:endParaRPr lang="en-US" sz="1800" dirty="0"/>
          </a:p>
        </p:txBody>
      </p:sp>
      <p:sp>
        <p:nvSpPr>
          <p:cNvPr id="33" name="a4:result text 4"/>
          <p:cNvSpPr txBox="1"/>
          <p:nvPr/>
        </p:nvSpPr>
        <p:spPr>
          <a:xfrm>
            <a:off x="9646920" y="3877056"/>
            <a:ext cx="1920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BLOCKED</a:t>
            </a:r>
            <a:endParaRPr lang="en-US" sz="1500" dirty="0"/>
          </a:p>
        </p:txBody>
      </p:sp>
      <p:sp>
        <p:nvSpPr>
          <p:cNvPr id="34" name="a5:big number shadow"/>
          <p:cNvSpPr/>
          <p:nvPr/>
        </p:nvSpPr>
        <p:spPr>
          <a:xfrm>
            <a:off x="7214616" y="5020056"/>
            <a:ext cx="4572000" cy="1417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a5:big number body"/>
          <p:cNvSpPr/>
          <p:nvPr/>
        </p:nvSpPr>
        <p:spPr>
          <a:xfrm>
            <a:off x="7086600" y="4892040"/>
            <a:ext cx="4572000" cy="141732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6" name="a5:number"/>
          <p:cNvSpPr txBox="1"/>
          <p:nvPr/>
        </p:nvSpPr>
        <p:spPr>
          <a:xfrm>
            <a:off x="7223760" y="493776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</a:t>
            </a:r>
            <a:endParaRPr lang="en-US" sz="6600" dirty="0"/>
          </a:p>
        </p:txBody>
      </p:sp>
      <p:sp>
        <p:nvSpPr>
          <p:cNvPr id="37" name="a5:number text"/>
          <p:cNvSpPr txBox="1"/>
          <p:nvPr/>
        </p:nvSpPr>
        <p:spPr>
          <a:xfrm>
            <a:off x="8732520" y="4983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PROBE PROGRAMS RUN IN C++ AND PYTHON</a:t>
            </a:r>
            <a:endParaRPr lang="en-US" sz="1500" dirty="0"/>
          </a:p>
        </p:txBody>
      </p:sp>
      <p:sp>
        <p:nvSpPr>
          <p:cNvPr id="38" name="a5:source"/>
          <p:cNvSpPr txBox="1"/>
          <p:nvPr/>
        </p:nvSpPr>
        <p:spPr>
          <a:xfrm>
            <a:off x="8732520" y="5852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SOURCE: OUR OWN TEST RUN, 18 OCT 2026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40" name="nav 1">
            <a:hlinkClick r:id="rId3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41" name="nav 2">
            <a:hlinkClick r:id="rId4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42" name="nav 3">
            <a:hlinkClick r:id="rId5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43" name="nav 4">
            <a:hlinkClick r:id="rId6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44" name="nav 5">
            <a:hlinkClick r:id="rId7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45" name="nav 6">
            <a:hlinkClick r:id="rId8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46" name="nav 7">
            <a:hlinkClick r:id="rId9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47" name="nav 8">
            <a:hlinkClick r:id="rId10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0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365760"/>
          </a:xfrm>
          <a:prstGeom prst="rect">
            <a:avLst/>
          </a:prstGeom>
          <a:solidFill>
            <a:srgbClr val="FFD93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 / AI, USED CAREFULLY</a:t>
            </a:r>
            <a:endParaRPr lang="en-US" sz="1400" dirty="0"/>
          </a:p>
        </p:txBody>
      </p:sp>
      <p:sp>
        <p:nvSpPr>
          <p:cNvPr id="3" name="slide title"/>
          <p:cNvSpPr txBox="1"/>
          <p:nvPr/>
        </p:nvSpPr>
        <p:spPr>
          <a:xfrm>
            <a:off x="54864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D9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READS. </a:t>
            </a:r>
            <a:pPr indent="0" marL="0">
              <a:buNone/>
            </a:pPr>
            <a:r>
              <a:rPr lang="en-US" sz="4200" b="1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COMPILER DECIDES.</a:t>
            </a:r>
            <a:endParaRPr lang="en-US" sz="4200" dirty="0"/>
          </a:p>
        </p:txBody>
      </p:sp>
      <p:sp>
        <p:nvSpPr>
          <p:cNvPr id="4" name="a1:col 1 shadow"/>
          <p:cNvSpPr/>
          <p:nvPr/>
        </p:nvSpPr>
        <p:spPr>
          <a:xfrm>
            <a:off x="658368" y="2121408"/>
            <a:ext cx="3611880" cy="2971800"/>
          </a:xfrm>
          <a:prstGeom prst="rect">
            <a:avLst/>
          </a:prstGeom>
          <a:solidFill>
            <a:srgbClr val="FFFDF5"/>
          </a:solidFill>
          <a:ln w="12700">
            <a:solidFill>
              <a:srgbClr val="FFFDF5"/>
            </a:solidFill>
            <a:prstDash val="solid"/>
          </a:ln>
        </p:spPr>
      </p:sp>
      <p:sp>
        <p:nvSpPr>
          <p:cNvPr id="5" name="a1:col 1 body"/>
          <p:cNvSpPr/>
          <p:nvPr/>
        </p:nvSpPr>
        <p:spPr>
          <a:xfrm>
            <a:off x="548640" y="2011680"/>
            <a:ext cx="3611880" cy="2971800"/>
          </a:xfrm>
          <a:prstGeom prst="rect">
            <a:avLst/>
          </a:prstGeom>
          <a:solidFill>
            <a:srgbClr val="FFD93D"/>
          </a:solidFill>
          <a:ln w="38100">
            <a:solidFill>
              <a:srgbClr val="FFFDF5"/>
            </a:solidFill>
            <a:prstDash val="solid"/>
          </a:ln>
        </p:spPr>
      </p:sp>
      <p:sp>
        <p:nvSpPr>
          <p:cNvPr id="6" name="a1:col 1 head"/>
          <p:cNvSpPr txBox="1"/>
          <p:nvPr/>
        </p:nvSpPr>
        <p:spPr>
          <a:xfrm>
            <a:off x="73152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GEMINI RUNS</a:t>
            </a:r>
            <a:endParaRPr lang="en-US" sz="1800" dirty="0"/>
          </a:p>
        </p:txBody>
      </p:sp>
      <p:sp>
        <p:nvSpPr>
          <p:cNvPr id="7" name="a1:col 1 list"/>
          <p:cNvSpPr txBox="1"/>
          <p:nvPr/>
        </p:nvSpPr>
        <p:spPr>
          <a:xfrm>
            <a:off x="731520" y="265176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Reads handwriting and blue-ink input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 mode: steps become a program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 mode: arranges structure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 button: only when the teacher clicks</a:t>
            </a:r>
            <a:endParaRPr lang="en-US" sz="1400" dirty="0"/>
          </a:p>
        </p:txBody>
      </p:sp>
      <p:sp>
        <p:nvSpPr>
          <p:cNvPr id="8" name="a2:col 2 shadow"/>
          <p:cNvSpPr/>
          <p:nvPr/>
        </p:nvSpPr>
        <p:spPr>
          <a:xfrm>
            <a:off x="4498848" y="2441448"/>
            <a:ext cx="3611880" cy="2971800"/>
          </a:xfrm>
          <a:prstGeom prst="rect">
            <a:avLst/>
          </a:prstGeom>
          <a:solidFill>
            <a:srgbClr val="FFFDF5"/>
          </a:solidFill>
          <a:ln w="12700">
            <a:solidFill>
              <a:srgbClr val="FFFDF5"/>
            </a:solidFill>
            <a:prstDash val="solid"/>
          </a:ln>
        </p:spPr>
      </p:sp>
      <p:sp>
        <p:nvSpPr>
          <p:cNvPr id="9" name="a2:col 2 body"/>
          <p:cNvSpPr/>
          <p:nvPr/>
        </p:nvSpPr>
        <p:spPr>
          <a:xfrm>
            <a:off x="4389120" y="2331720"/>
            <a:ext cx="3611880" cy="2971800"/>
          </a:xfrm>
          <a:prstGeom prst="rect">
            <a:avLst/>
          </a:prstGeom>
          <a:solidFill>
            <a:srgbClr val="FF6B6B"/>
          </a:solidFill>
          <a:ln w="38100">
            <a:solidFill>
              <a:srgbClr val="FFFDF5"/>
            </a:solidFill>
            <a:prstDash val="solid"/>
          </a:ln>
        </p:spPr>
      </p:sp>
      <p:sp>
        <p:nvSpPr>
          <p:cNvPr id="10" name="a2:col 2 head"/>
          <p:cNvSpPr txBox="1"/>
          <p:nvPr/>
        </p:nvSpPr>
        <p:spPr>
          <a:xfrm>
            <a:off x="457200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11" name="a2:col 2 list"/>
          <p:cNvSpPr txBox="1"/>
          <p:nvPr/>
        </p:nvSpPr>
        <p:spPr>
          <a:xfrm>
            <a:off x="4572000" y="297180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 confirms every line before it runs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structure result that changes more than layout is refused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keys stay on the server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Requests ask Gemini not to store them</a:t>
            </a:r>
            <a:endParaRPr lang="en-US" sz="1400" dirty="0"/>
          </a:p>
        </p:txBody>
      </p:sp>
      <p:sp>
        <p:nvSpPr>
          <p:cNvPr id="12" name="a3:col 3 shadow"/>
          <p:cNvSpPr/>
          <p:nvPr/>
        </p:nvSpPr>
        <p:spPr>
          <a:xfrm>
            <a:off x="8339328" y="2121408"/>
            <a:ext cx="3611880" cy="2971800"/>
          </a:xfrm>
          <a:prstGeom prst="rect">
            <a:avLst/>
          </a:prstGeom>
          <a:solidFill>
            <a:srgbClr val="FFFDF5"/>
          </a:solidFill>
          <a:ln w="12700">
            <a:solidFill>
              <a:srgbClr val="FFFDF5"/>
            </a:solidFill>
            <a:prstDash val="solid"/>
          </a:ln>
        </p:spPr>
      </p:sp>
      <p:sp>
        <p:nvSpPr>
          <p:cNvPr id="13" name="a3:col 3 body"/>
          <p:cNvSpPr/>
          <p:nvPr/>
        </p:nvSpPr>
        <p:spPr>
          <a:xfrm>
            <a:off x="8229600" y="2011680"/>
            <a:ext cx="3611880" cy="2971800"/>
          </a:xfrm>
          <a:prstGeom prst="rect">
            <a:avLst/>
          </a:prstGeom>
          <a:solidFill>
            <a:srgbClr val="C4B5FD"/>
          </a:solidFill>
          <a:ln w="38100">
            <a:solidFill>
              <a:srgbClr val="FFFDF5"/>
            </a:solidFill>
            <a:prstDash val="solid"/>
          </a:ln>
        </p:spPr>
      </p:sp>
      <p:sp>
        <p:nvSpPr>
          <p:cNvPr id="14" name="a3:col 3 head"/>
          <p:cNvSpPr txBox="1"/>
          <p:nvPr/>
        </p:nvSpPr>
        <p:spPr>
          <a:xfrm>
            <a:off x="8412480" y="2148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AI HERE</a:t>
            </a:r>
            <a:endParaRPr lang="en-US" sz="1800" dirty="0"/>
          </a:p>
        </p:txBody>
      </p:sp>
      <p:sp>
        <p:nvSpPr>
          <p:cNvPr id="15" name="a3:col 3 list"/>
          <p:cNvSpPr txBox="1"/>
          <p:nvPr/>
        </p:nvSpPr>
        <p:spPr>
          <a:xfrm>
            <a:off x="8412480" y="265176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Compiling, running, error lines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Typed code in Full program mode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Teaching notes: fixed rules, not generated</a:t>
            </a:r>
            <a:endParaRPr lang="en-US" sz="1400" dirty="0"/>
          </a:p>
        </p:txBody>
      </p:sp>
      <p:sp>
        <p:nvSpPr>
          <p:cNvPr id="16" name="a4:built label"/>
          <p:cNvSpPr txBox="1"/>
          <p:nvPr/>
        </p:nvSpPr>
        <p:spPr>
          <a:xfrm>
            <a:off x="548640" y="5486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9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17" name="a4:stack 1 shadow"/>
          <p:cNvSpPr/>
          <p:nvPr/>
        </p:nvSpPr>
        <p:spPr>
          <a:xfrm>
            <a:off x="1920240" y="5486400"/>
            <a:ext cx="12801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a4:stack 1 body"/>
          <p:cNvSpPr/>
          <p:nvPr/>
        </p:nvSpPr>
        <p:spPr>
          <a:xfrm>
            <a:off x="1920240" y="5486400"/>
            <a:ext cx="1280160" cy="329184"/>
          </a:xfrm>
          <a:prstGeom prst="rect">
            <a:avLst/>
          </a:prstGeom>
          <a:solidFill>
            <a:srgbClr val="FFFDF5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9" name="a4:stack 1 text"/>
          <p:cNvSpPr txBox="1"/>
          <p:nvPr/>
        </p:nvSpPr>
        <p:spPr>
          <a:xfrm>
            <a:off x="192024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API</a:t>
            </a:r>
            <a:endParaRPr lang="en-US" sz="1000" dirty="0"/>
          </a:p>
        </p:txBody>
      </p:sp>
      <p:sp>
        <p:nvSpPr>
          <p:cNvPr id="20" name="a4:stack 2 shadow"/>
          <p:cNvSpPr/>
          <p:nvPr/>
        </p:nvSpPr>
        <p:spPr>
          <a:xfrm>
            <a:off x="3291840" y="5486400"/>
            <a:ext cx="12801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a4:stack 2 body"/>
          <p:cNvSpPr/>
          <p:nvPr/>
        </p:nvSpPr>
        <p:spPr>
          <a:xfrm>
            <a:off x="3291840" y="5486400"/>
            <a:ext cx="1280160" cy="329184"/>
          </a:xfrm>
          <a:prstGeom prst="rect">
            <a:avLst/>
          </a:prstGeom>
          <a:solidFill>
            <a:srgbClr val="FFFDF5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2" name="a4:stack 2 text"/>
          <p:cNvSpPr txBox="1"/>
          <p:nvPr/>
        </p:nvSpPr>
        <p:spPr>
          <a:xfrm>
            <a:off x="329184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EXCALIDRAW</a:t>
            </a:r>
            <a:endParaRPr lang="en-US" sz="1000" dirty="0"/>
          </a:p>
        </p:txBody>
      </p:sp>
      <p:sp>
        <p:nvSpPr>
          <p:cNvPr id="23" name="a4:stack 3 shadow"/>
          <p:cNvSpPr/>
          <p:nvPr/>
        </p:nvSpPr>
        <p:spPr>
          <a:xfrm>
            <a:off x="4663440" y="5486400"/>
            <a:ext cx="12801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a4:stack 3 body"/>
          <p:cNvSpPr/>
          <p:nvPr/>
        </p:nvSpPr>
        <p:spPr>
          <a:xfrm>
            <a:off x="4663440" y="5486400"/>
            <a:ext cx="1280160" cy="329184"/>
          </a:xfrm>
          <a:prstGeom prst="rect">
            <a:avLst/>
          </a:prstGeom>
          <a:solidFill>
            <a:srgbClr val="FFFDF5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5" name="a4:stack 3 text"/>
          <p:cNvSpPr txBox="1"/>
          <p:nvPr/>
        </p:nvSpPr>
        <p:spPr>
          <a:xfrm>
            <a:off x="466344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26" name="a4:stack 4 shadow"/>
          <p:cNvSpPr/>
          <p:nvPr/>
        </p:nvSpPr>
        <p:spPr>
          <a:xfrm>
            <a:off x="6035040" y="5486400"/>
            <a:ext cx="12801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a4:stack 4 body"/>
          <p:cNvSpPr/>
          <p:nvPr/>
        </p:nvSpPr>
        <p:spPr>
          <a:xfrm>
            <a:off x="6035040" y="5486400"/>
            <a:ext cx="1280160" cy="329184"/>
          </a:xfrm>
          <a:prstGeom prst="rect">
            <a:avLst/>
          </a:prstGeom>
          <a:solidFill>
            <a:srgbClr val="FFFDF5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8" name="a4:stack 4 text"/>
          <p:cNvSpPr txBox="1"/>
          <p:nvPr/>
        </p:nvSpPr>
        <p:spPr>
          <a:xfrm>
            <a:off x="603504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NODE.JS</a:t>
            </a:r>
            <a:endParaRPr lang="en-US" sz="1000" dirty="0"/>
          </a:p>
        </p:txBody>
      </p:sp>
      <p:sp>
        <p:nvSpPr>
          <p:cNvPr id="29" name="a4:stack 5 shadow"/>
          <p:cNvSpPr/>
          <p:nvPr/>
        </p:nvSpPr>
        <p:spPr>
          <a:xfrm>
            <a:off x="7406640" y="5486400"/>
            <a:ext cx="12801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a4:stack 5 body"/>
          <p:cNvSpPr/>
          <p:nvPr/>
        </p:nvSpPr>
        <p:spPr>
          <a:xfrm>
            <a:off x="7406640" y="5486400"/>
            <a:ext cx="1280160" cy="329184"/>
          </a:xfrm>
          <a:prstGeom prst="rect">
            <a:avLst/>
          </a:prstGeom>
          <a:solidFill>
            <a:srgbClr val="FFFDF5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1" name="a4:stack 5 text"/>
          <p:cNvSpPr txBox="1"/>
          <p:nvPr/>
        </p:nvSpPr>
        <p:spPr>
          <a:xfrm>
            <a:off x="740664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</a:t>
            </a:r>
            <a:endParaRPr lang="en-US" sz="1000" dirty="0"/>
          </a:p>
        </p:txBody>
      </p:sp>
      <p:sp>
        <p:nvSpPr>
          <p:cNvPr id="32" name="a4:stack 6 shadow"/>
          <p:cNvSpPr/>
          <p:nvPr/>
        </p:nvSpPr>
        <p:spPr>
          <a:xfrm>
            <a:off x="8778240" y="5486400"/>
            <a:ext cx="12801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a4:stack 6 body"/>
          <p:cNvSpPr/>
          <p:nvPr/>
        </p:nvSpPr>
        <p:spPr>
          <a:xfrm>
            <a:off x="8778240" y="5486400"/>
            <a:ext cx="1280160" cy="329184"/>
          </a:xfrm>
          <a:prstGeom prst="rect">
            <a:avLst/>
          </a:prstGeom>
          <a:solidFill>
            <a:srgbClr val="FFFDF5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4" name="a4:stack 6 text"/>
          <p:cNvSpPr txBox="1"/>
          <p:nvPr/>
        </p:nvSpPr>
        <p:spPr>
          <a:xfrm>
            <a:off x="877824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G++ + PYTHON</a:t>
            </a:r>
            <a:endParaRPr lang="en-US" sz="1000" dirty="0"/>
          </a:p>
        </p:txBody>
      </p:sp>
      <p:sp>
        <p:nvSpPr>
          <p:cNvPr id="35" name="a4:stack 7 shadow"/>
          <p:cNvSpPr/>
          <p:nvPr/>
        </p:nvSpPr>
        <p:spPr>
          <a:xfrm>
            <a:off x="10149840" y="5486400"/>
            <a:ext cx="1280160" cy="32918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a4:stack 7 body"/>
          <p:cNvSpPr/>
          <p:nvPr/>
        </p:nvSpPr>
        <p:spPr>
          <a:xfrm>
            <a:off x="10149840" y="5486400"/>
            <a:ext cx="1280160" cy="329184"/>
          </a:xfrm>
          <a:prstGeom prst="rect">
            <a:avLst/>
          </a:prstGeom>
          <a:solidFill>
            <a:srgbClr val="FFFDF5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7" name="a4:stack 7 text"/>
          <p:cNvSpPr txBox="1"/>
          <p:nvPr/>
        </p:nvSpPr>
        <p:spPr>
          <a:xfrm>
            <a:off x="10149840" y="5486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WANDBOX</a:t>
            </a:r>
            <a:endParaRPr lang="en-US" sz="1000" dirty="0"/>
          </a:p>
        </p:txBody>
      </p:sp>
      <p:sp>
        <p:nvSpPr>
          <p:cNvPr id="38" name="a4:disclosure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DEVELOPED WITH AI CODING TOOLS: OPENAI CODEX, CLAUDE CODE.   NOT YET MEASURED: HANDWRITING ACCURACY ON REAL CLASSROOM SAMPLES.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40" name="nav 1">
            <a:hlinkClick r:id="rId1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FDF5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41" name="nav 2">
            <a:hlinkClick r:id="rId2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FDF5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42" name="nav 3">
            <a:hlinkClick r:id="rId3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FDF5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43" name="nav 4">
            <a:hlinkClick r:id="rId4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FDF5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44" name="nav 5">
            <a:hlinkClick r:id="rId5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FDF5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45" name="nav 6">
            <a:hlinkClick r:id="rId6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46" name="nav 7">
            <a:hlinkClick r:id="rId7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FDF5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47" name="nav 8">
            <a:hlinkClick r:id="rId8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FDF5"/>
          </a:solidFill>
          <a:ln w="25400">
            <a:solidFill>
              <a:srgbClr val="FFFD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descr="Graph paper gr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547872"/>
            <a:ext cx="5879592" cy="33101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384048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 / WHAT ELSE IT DOES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EVERYTHING A</a:t>
            </a:r>
            <a:endParaRPr lang="en-US" sz="38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LESSON NEEDS.</a:t>
            </a:r>
            <a:endParaRPr lang="en-US" sz="3800" dirty="0"/>
          </a:p>
        </p:txBody>
      </p:sp>
      <p:sp>
        <p:nvSpPr>
          <p:cNvPr id="5" name="a1:feature 1 shadow"/>
          <p:cNvSpPr/>
          <p:nvPr/>
        </p:nvSpPr>
        <p:spPr>
          <a:xfrm>
            <a:off x="640080" y="2286000"/>
            <a:ext cx="3520440" cy="1691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a1:feature 1 body"/>
          <p:cNvSpPr/>
          <p:nvPr/>
        </p:nvSpPr>
        <p:spPr>
          <a:xfrm>
            <a:off x="548640" y="2194560"/>
            <a:ext cx="3520440" cy="169164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a1:num 1"/>
          <p:cNvSpPr txBox="1"/>
          <p:nvPr/>
        </p:nvSpPr>
        <p:spPr>
          <a:xfrm>
            <a:off x="731520" y="2304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a1:head 1"/>
          <p:cNvSpPr txBox="1"/>
          <p:nvPr/>
        </p:nvSpPr>
        <p:spPr>
          <a:xfrm>
            <a:off x="731520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SNAPSHOTS</a:t>
            </a:r>
            <a:endParaRPr lang="en-US" sz="1900" dirty="0"/>
          </a:p>
        </p:txBody>
      </p:sp>
      <p:sp>
        <p:nvSpPr>
          <p:cNvPr id="9" name="a1:body 1"/>
          <p:cNvSpPr txBox="1"/>
          <p:nvPr/>
        </p:nvSpPr>
        <p:spPr>
          <a:xfrm>
            <a:off x="731520" y="30632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run is saved with the whole board, in Git history.</a:t>
            </a:r>
            <a:endParaRPr lang="en-US" sz="1400" dirty="0"/>
          </a:p>
        </p:txBody>
      </p:sp>
      <p:sp>
        <p:nvSpPr>
          <p:cNvPr id="10" name="a1:feature 2 shadow"/>
          <p:cNvSpPr/>
          <p:nvPr/>
        </p:nvSpPr>
        <p:spPr>
          <a:xfrm>
            <a:off x="4434840" y="2286000"/>
            <a:ext cx="3520440" cy="1691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a1:feature 2 body"/>
          <p:cNvSpPr/>
          <p:nvPr/>
        </p:nvSpPr>
        <p:spPr>
          <a:xfrm>
            <a:off x="4343400" y="2194560"/>
            <a:ext cx="3520440" cy="1691640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2" name="a1:num 2"/>
          <p:cNvSpPr txBox="1"/>
          <p:nvPr/>
        </p:nvSpPr>
        <p:spPr>
          <a:xfrm>
            <a:off x="4526280" y="2304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a1:head 2"/>
          <p:cNvSpPr txBox="1"/>
          <p:nvPr/>
        </p:nvSpPr>
        <p:spPr>
          <a:xfrm>
            <a:off x="4526280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INPUT CASES</a:t>
            </a:r>
            <a:endParaRPr lang="en-US" sz="1900" dirty="0"/>
          </a:p>
        </p:txBody>
      </p:sp>
      <p:sp>
        <p:nvSpPr>
          <p:cNvPr id="14" name="a1:body 2"/>
          <p:cNvSpPr txBox="1"/>
          <p:nvPr/>
        </p:nvSpPr>
        <p:spPr>
          <a:xfrm>
            <a:off x="4526280" y="30632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up to five inputs. Compare output exactly. Save suites.</a:t>
            </a:r>
            <a:endParaRPr lang="en-US" sz="1400" dirty="0"/>
          </a:p>
        </p:txBody>
      </p:sp>
      <p:sp>
        <p:nvSpPr>
          <p:cNvPr id="15" name="a1:feature 3 shadow"/>
          <p:cNvSpPr/>
          <p:nvPr/>
        </p:nvSpPr>
        <p:spPr>
          <a:xfrm>
            <a:off x="8229600" y="2286000"/>
            <a:ext cx="3520440" cy="1691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a1:feature 3 body"/>
          <p:cNvSpPr/>
          <p:nvPr/>
        </p:nvSpPr>
        <p:spPr>
          <a:xfrm>
            <a:off x="8138160" y="2194560"/>
            <a:ext cx="3520440" cy="1691640"/>
          </a:xfrm>
          <a:prstGeom prst="rect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7" name="a1:num 3"/>
          <p:cNvSpPr txBox="1"/>
          <p:nvPr/>
        </p:nvSpPr>
        <p:spPr>
          <a:xfrm>
            <a:off x="8321040" y="2304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a1:head 3"/>
          <p:cNvSpPr txBox="1"/>
          <p:nvPr/>
        </p:nvSpPr>
        <p:spPr>
          <a:xfrm>
            <a:off x="8321040" y="2606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TEACHING HEADERS</a:t>
            </a:r>
            <a:endParaRPr lang="en-US" sz="1900" dirty="0"/>
          </a:p>
        </p:txBody>
      </p:sp>
      <p:sp>
        <p:nvSpPr>
          <p:cNvPr id="19" name="a1:body 3"/>
          <p:cNvSpPr txBox="1"/>
          <p:nvPr/>
        </p:nvSpPr>
        <p:spPr>
          <a:xfrm>
            <a:off x="8321040" y="30632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Stack, queue, linked list, binary search, plus C++ STL examples.</a:t>
            </a:r>
            <a:endParaRPr lang="en-US" sz="1400" dirty="0"/>
          </a:p>
        </p:txBody>
      </p:sp>
      <p:sp>
        <p:nvSpPr>
          <p:cNvPr id="20" name="a2:feature 4 shadow"/>
          <p:cNvSpPr/>
          <p:nvPr/>
        </p:nvSpPr>
        <p:spPr>
          <a:xfrm>
            <a:off x="914400" y="4206240"/>
            <a:ext cx="3520440" cy="1691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a2:feature 4 body"/>
          <p:cNvSpPr/>
          <p:nvPr/>
        </p:nvSpPr>
        <p:spPr>
          <a:xfrm>
            <a:off x="822960" y="4114800"/>
            <a:ext cx="3520440" cy="16916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2" name="a2:num 4"/>
          <p:cNvSpPr txBox="1"/>
          <p:nvPr/>
        </p:nvSpPr>
        <p:spPr>
          <a:xfrm>
            <a:off x="1005840" y="4224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a2:head 4"/>
          <p:cNvSpPr txBox="1"/>
          <p:nvPr/>
        </p:nvSpPr>
        <p:spPr>
          <a:xfrm>
            <a:off x="1005840" y="4526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DRAW A LIST</a:t>
            </a:r>
            <a:endParaRPr lang="en-US" sz="1900" dirty="0"/>
          </a:p>
        </p:txBody>
      </p:sp>
      <p:sp>
        <p:nvSpPr>
          <p:cNvPr id="24" name="a2:body 4"/>
          <p:cNvSpPr txBox="1"/>
          <p:nvPr/>
        </p:nvSpPr>
        <p:spPr>
          <a:xfrm>
            <a:off x="1005840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Draw or type 1-&gt;3-&gt;4-&gt;5. Boardroom builds real linked-list nodes.</a:t>
            </a:r>
            <a:endParaRPr lang="en-US" sz="1400" dirty="0"/>
          </a:p>
        </p:txBody>
      </p:sp>
      <p:sp>
        <p:nvSpPr>
          <p:cNvPr id="25" name="a2:feature 5 shadow"/>
          <p:cNvSpPr/>
          <p:nvPr/>
        </p:nvSpPr>
        <p:spPr>
          <a:xfrm>
            <a:off x="4709160" y="4206240"/>
            <a:ext cx="3520440" cy="1691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a2:feature 5 body"/>
          <p:cNvSpPr/>
          <p:nvPr/>
        </p:nvSpPr>
        <p:spPr>
          <a:xfrm>
            <a:off x="4617720" y="4114800"/>
            <a:ext cx="3520440" cy="1691640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7" name="a2:num 5"/>
          <p:cNvSpPr txBox="1"/>
          <p:nvPr/>
        </p:nvSpPr>
        <p:spPr>
          <a:xfrm>
            <a:off x="4800600" y="4224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a2:head 5"/>
          <p:cNvSpPr txBox="1"/>
          <p:nvPr/>
        </p:nvSpPr>
        <p:spPr>
          <a:xfrm>
            <a:off x="4800600" y="4526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BOARDS</a:t>
            </a:r>
            <a:endParaRPr lang="en-US" sz="1900" dirty="0"/>
          </a:p>
        </p:txBody>
      </p:sp>
      <p:sp>
        <p:nvSpPr>
          <p:cNvPr id="29" name="a2:body 5"/>
          <p:cNvSpPr txBox="1"/>
          <p:nvPr/>
        </p:nvSpPr>
        <p:spPr>
          <a:xfrm>
            <a:off x="4800600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Tabs, and a side-by-side view for comparing two boards.</a:t>
            </a:r>
            <a:endParaRPr lang="en-US" sz="1400" dirty="0"/>
          </a:p>
        </p:txBody>
      </p:sp>
      <p:sp>
        <p:nvSpPr>
          <p:cNvPr id="30" name="a2:feature 6 shadow"/>
          <p:cNvSpPr/>
          <p:nvPr/>
        </p:nvSpPr>
        <p:spPr>
          <a:xfrm>
            <a:off x="8503920" y="4206240"/>
            <a:ext cx="3520440" cy="1691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a2:feature 6 body"/>
          <p:cNvSpPr/>
          <p:nvPr/>
        </p:nvSpPr>
        <p:spPr>
          <a:xfrm>
            <a:off x="8412480" y="4114800"/>
            <a:ext cx="3520440" cy="169164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2" name="a2:num 6"/>
          <p:cNvSpPr txBox="1"/>
          <p:nvPr/>
        </p:nvSpPr>
        <p:spPr>
          <a:xfrm>
            <a:off x="8595360" y="42245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a2:head 6"/>
          <p:cNvSpPr txBox="1"/>
          <p:nvPr/>
        </p:nvSpPr>
        <p:spPr>
          <a:xfrm>
            <a:off x="8595360" y="4526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 TOOLS</a:t>
            </a:r>
            <a:endParaRPr lang="en-US" sz="1900" dirty="0"/>
          </a:p>
        </p:txBody>
      </p:sp>
      <p:sp>
        <p:nvSpPr>
          <p:cNvPr id="34" name="a2:body 6"/>
          <p:cNvSpPr txBox="1"/>
          <p:nvPr/>
        </p:nvSpPr>
        <p:spPr>
          <a:xfrm>
            <a:off x="8595360" y="4983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Pen, eraser, shapes, laser pointer, five stroke widths, dark mode.</a:t>
            </a:r>
            <a:endParaRPr lang="en-US" sz="1400" dirty="0"/>
          </a:p>
        </p:txBody>
      </p:sp>
      <p:sp>
        <p:nvSpPr>
          <p:cNvPr id="35" name="a3:evidence shadow"/>
          <p:cNvSpPr/>
          <p:nvPr/>
        </p:nvSpPr>
        <p:spPr>
          <a:xfrm>
            <a:off x="603504" y="6089904"/>
            <a:ext cx="61264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a3:evidence body"/>
          <p:cNvSpPr/>
          <p:nvPr/>
        </p:nvSpPr>
        <p:spPr>
          <a:xfrm>
            <a:off x="548640" y="6035040"/>
            <a:ext cx="6126480" cy="384048"/>
          </a:xfrm>
          <a:prstGeom prst="rect">
            <a:avLst/>
          </a:prstGeom>
          <a:solidFill>
            <a:srgbClr val="000000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7" name="a3:evidence text"/>
          <p:cNvSpPr txBox="1"/>
          <p:nvPr/>
        </p:nvSpPr>
        <p:spPr>
          <a:xfrm>
            <a:off x="548640" y="603504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 / 39 NON-GEMINI BROWSER TESTS PASSED · 18 OCT 2026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39" name="nav 1">
            <a:hlinkClick r:id="rId2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40" name="nav 2">
            <a:hlinkClick r:id="rId3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41" name="nav 3">
            <a:hlinkClick r:id="rId4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42" name="nav 4">
            <a:hlinkClick r:id="rId5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43" name="nav 5">
            <a:hlinkClick r:id="rId6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44" name="nav 6">
            <a:hlinkClick r:id="rId7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45" name="nav 7">
            <a:hlinkClick r:id="rId8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46" name="nav 8">
            <a:hlinkClick r:id="rId9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 / WHAT’S NEXT</a:t>
            </a:r>
            <a:endParaRPr lang="en-US" sz="1400" dirty="0"/>
          </a:p>
        </p:txBody>
      </p:sp>
      <p:sp>
        <p:nvSpPr>
          <p:cNvPr id="3" name="card shadow"/>
          <p:cNvSpPr/>
          <p:nvPr/>
        </p:nvSpPr>
        <p:spPr>
          <a:xfrm>
            <a:off x="694944" y="1243584"/>
            <a:ext cx="6309360" cy="3017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card body"/>
          <p:cNvSpPr/>
          <p:nvPr/>
        </p:nvSpPr>
        <p:spPr>
          <a:xfrm>
            <a:off x="548640" y="1097280"/>
            <a:ext cx="6309360" cy="3017520"/>
          </a:xfrm>
          <a:prstGeom prst="rect">
            <a:avLst/>
          </a:prstGeom>
          <a:solidFill>
            <a:srgbClr val="FF6B6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BOARD</a:t>
            </a:r>
            <a:endParaRPr lang="en-US" sz="66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NOW TALKS</a:t>
            </a:r>
            <a:endParaRPr lang="en-US" sz="6600" dirty="0"/>
          </a:p>
          <a:p>
            <a:pPr indent="0" marL="0">
              <a:lnSpc>
                <a:spcPct val="88000"/>
              </a:lnSpc>
              <a:buNone/>
            </a:pPr>
            <a:r>
              <a:rPr lang="en-US" sz="6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BACK.</a:t>
            </a:r>
            <a:endParaRPr lang="en-US" sz="6600" dirty="0"/>
          </a:p>
        </p:txBody>
      </p:sp>
      <p:sp>
        <p:nvSpPr>
          <p:cNvPr id="6" name="star shadow"/>
          <p:cNvSpPr/>
          <p:nvPr/>
        </p:nvSpPr>
        <p:spPr>
          <a:xfrm rot="600000">
            <a:off x="6181344" y="740664"/>
            <a:ext cx="1051560" cy="1051560"/>
          </a:xfrm>
          <a:prstGeom prst="star5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tar body"/>
          <p:cNvSpPr/>
          <p:nvPr/>
        </p:nvSpPr>
        <p:spPr>
          <a:xfrm rot="600000">
            <a:off x="6126480" y="685800"/>
            <a:ext cx="1051560" cy="1051560"/>
          </a:xfrm>
          <a:prstGeom prst="star5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0" y="1097280"/>
            <a:ext cx="434340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WE HAD ANOTHER MONTH</a:t>
            </a:r>
            <a:endParaRPr lang="en-US" sz="1300" dirty="0"/>
          </a:p>
        </p:txBody>
      </p:sp>
      <p:sp>
        <p:nvSpPr>
          <p:cNvPr id="9" name="a1:next 1 shadow"/>
          <p:cNvSpPr/>
          <p:nvPr/>
        </p:nvSpPr>
        <p:spPr>
          <a:xfrm>
            <a:off x="7406640" y="1737360"/>
            <a:ext cx="41148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a1:next 1 body"/>
          <p:cNvSpPr/>
          <p:nvPr/>
        </p:nvSpPr>
        <p:spPr>
          <a:xfrm>
            <a:off x="7315200" y="1645920"/>
            <a:ext cx="4114800" cy="1188720"/>
          </a:xfrm>
          <a:prstGeom prst="rect">
            <a:avLst/>
          </a:prstGeom>
          <a:solidFill>
            <a:srgbClr val="FFD93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1" name="a1:next head 1"/>
          <p:cNvSpPr txBox="1"/>
          <p:nvPr/>
        </p:nvSpPr>
        <p:spPr>
          <a:xfrm>
            <a:off x="749808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</a:t>
            </a:r>
            <a:endParaRPr lang="en-US" sz="1800" dirty="0"/>
          </a:p>
        </p:txBody>
      </p:sp>
      <p:sp>
        <p:nvSpPr>
          <p:cNvPr id="12" name="a1:next body 1"/>
          <p:cNvSpPr txBox="1"/>
          <p:nvPr/>
        </p:nvSpPr>
        <p:spPr>
          <a:xfrm>
            <a:off x="7498080" y="21214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Benchmark handwriting accuracy on real classroom samples.</a:t>
            </a:r>
            <a:endParaRPr lang="en-US" sz="1400" dirty="0"/>
          </a:p>
        </p:txBody>
      </p:sp>
      <p:sp>
        <p:nvSpPr>
          <p:cNvPr id="13" name="a2:next 2 shadow"/>
          <p:cNvSpPr/>
          <p:nvPr/>
        </p:nvSpPr>
        <p:spPr>
          <a:xfrm>
            <a:off x="7635240" y="3108960"/>
            <a:ext cx="41148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a2:next 2 body"/>
          <p:cNvSpPr/>
          <p:nvPr/>
        </p:nvSpPr>
        <p:spPr>
          <a:xfrm>
            <a:off x="7543800" y="3017520"/>
            <a:ext cx="4114800" cy="1188720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5" name="a2:next head 2"/>
          <p:cNvSpPr txBox="1"/>
          <p:nvPr/>
        </p:nvSpPr>
        <p:spPr>
          <a:xfrm>
            <a:off x="7726680" y="3108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HARDEN</a:t>
            </a:r>
            <a:endParaRPr lang="en-US" sz="1800" dirty="0"/>
          </a:p>
        </p:txBody>
      </p:sp>
      <p:sp>
        <p:nvSpPr>
          <p:cNvPr id="16" name="a2:next body 2"/>
          <p:cNvSpPr txBox="1"/>
          <p:nvPr/>
        </p:nvSpPr>
        <p:spPr>
          <a:xfrm>
            <a:off x="7726680" y="34930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Separate execution VM, login and a security review before public hosting.</a:t>
            </a:r>
            <a:endParaRPr lang="en-US" sz="1400" dirty="0"/>
          </a:p>
        </p:txBody>
      </p:sp>
      <p:sp>
        <p:nvSpPr>
          <p:cNvPr id="17" name="a3:next 3 shadow"/>
          <p:cNvSpPr/>
          <p:nvPr/>
        </p:nvSpPr>
        <p:spPr>
          <a:xfrm>
            <a:off x="7406640" y="4480560"/>
            <a:ext cx="41148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a3:next 3 body"/>
          <p:cNvSpPr/>
          <p:nvPr/>
        </p:nvSpPr>
        <p:spPr>
          <a:xfrm>
            <a:off x="7315200" y="4389120"/>
            <a:ext cx="411480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9" name="a3:next head 3"/>
          <p:cNvSpPr txBox="1"/>
          <p:nvPr/>
        </p:nvSpPr>
        <p:spPr>
          <a:xfrm>
            <a:off x="7498080" y="4480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PIN</a:t>
            </a:r>
            <a:endParaRPr lang="en-US" sz="1800" dirty="0"/>
          </a:p>
        </p:txBody>
      </p:sp>
      <p:sp>
        <p:nvSpPr>
          <p:cNvPr id="20" name="a3:next body 3"/>
          <p:cNvSpPr txBox="1"/>
          <p:nvPr/>
        </p:nvSpPr>
        <p:spPr>
          <a:xfrm>
            <a:off x="7498080" y="48646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Freeze compiler and header versions inside every lesson snapshot.</a:t>
            </a:r>
            <a:endParaRPr lang="en-US" sz="1400" dirty="0"/>
          </a:p>
        </p:txBody>
      </p:sp>
      <p:sp>
        <p:nvSpPr>
          <p:cNvPr id="21" name="a4:gaps label"/>
          <p:cNvSpPr txBox="1"/>
          <p:nvPr/>
        </p:nvSpPr>
        <p:spPr>
          <a:xfrm>
            <a:off x="548640" y="4526280"/>
            <a:ext cx="2743200" cy="36576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D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KNOWN GAPS TODAY</a:t>
            </a:r>
            <a:endParaRPr lang="en-US" sz="1300" dirty="0"/>
          </a:p>
        </p:txBody>
      </p:sp>
      <p:sp>
        <p:nvSpPr>
          <p:cNvPr id="22" name="a4:gap 1 shadow"/>
          <p:cNvSpPr/>
          <p:nvPr/>
        </p:nvSpPr>
        <p:spPr>
          <a:xfrm>
            <a:off x="640080" y="5120640"/>
            <a:ext cx="329184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a4:gap 1 body"/>
          <p:cNvSpPr/>
          <p:nvPr/>
        </p:nvSpPr>
        <p:spPr>
          <a:xfrm>
            <a:off x="548640" y="5029200"/>
            <a:ext cx="3291840" cy="12344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4" name="a4:gap 1 text"/>
          <p:cNvSpPr txBox="1"/>
          <p:nvPr/>
        </p:nvSpPr>
        <p:spPr>
          <a:xfrm>
            <a:off x="713232" y="507492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Hosted site runs code on Wandbox: rate limited, no sanitizer promise.</a:t>
            </a:r>
            <a:endParaRPr lang="en-US" sz="1400" dirty="0"/>
          </a:p>
        </p:txBody>
      </p:sp>
      <p:sp>
        <p:nvSpPr>
          <p:cNvPr id="25" name="a4:gap 2 shadow"/>
          <p:cNvSpPr/>
          <p:nvPr/>
        </p:nvSpPr>
        <p:spPr>
          <a:xfrm>
            <a:off x="4114800" y="5120640"/>
            <a:ext cx="310896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a4:gap 2 body"/>
          <p:cNvSpPr/>
          <p:nvPr/>
        </p:nvSpPr>
        <p:spPr>
          <a:xfrm>
            <a:off x="4023360" y="5029200"/>
            <a:ext cx="3108960" cy="1234440"/>
          </a:xfrm>
          <a:prstGeom prst="rect">
            <a:avLst/>
          </a:prstGeom>
          <a:solidFill>
            <a:srgbClr val="C4B5FD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7" name="a4:gap 2 text"/>
          <p:cNvSpPr txBox="1"/>
          <p:nvPr/>
        </p:nvSpPr>
        <p:spPr>
          <a:xfrm>
            <a:off x="4187952" y="507492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Language is C++17 now. C code that is not valid C++ will not compile.</a:t>
            </a:r>
            <a:endParaRPr lang="en-US" sz="1400" dirty="0"/>
          </a:p>
        </p:txBody>
      </p:sp>
      <p:sp>
        <p:nvSpPr>
          <p:cNvPr id="28" name="a4:sign off shadow"/>
          <p:cNvSpPr/>
          <p:nvPr/>
        </p:nvSpPr>
        <p:spPr>
          <a:xfrm>
            <a:off x="7872984" y="5769864"/>
            <a:ext cx="384048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a4:sign off body"/>
          <p:cNvSpPr/>
          <p:nvPr/>
        </p:nvSpPr>
        <p:spPr>
          <a:xfrm>
            <a:off x="7818120" y="5715000"/>
            <a:ext cx="3840480" cy="548640"/>
          </a:xfrm>
          <a:prstGeom prst="rect">
            <a:avLst/>
          </a:prstGeom>
          <a:solidFill>
            <a:srgbClr val="FFD93D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0" name="a4:sign off text"/>
          <p:cNvSpPr txBox="1"/>
          <p:nvPr/>
        </p:nvSpPr>
        <p:spPr>
          <a:xfrm>
            <a:off x="7818120" y="5715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WRITE.  SELECT.  RUN.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· CRAFT N CODE KARNATAKA 2026</a:t>
            </a:r>
            <a:endParaRPr lang="en-US" sz="1100" dirty="0"/>
          </a:p>
        </p:txBody>
      </p:sp>
      <p:sp>
        <p:nvSpPr>
          <p:cNvPr id="32" name="nav 1">
            <a:hlinkClick r:id="rId1" tooltip="Jump to slide 1" action="ppaction://hlinksldjump"/>
          </p:cNvPr>
          <p:cNvSpPr txBox="1"/>
          <p:nvPr/>
        </p:nvSpPr>
        <p:spPr>
          <a:xfrm>
            <a:off x="88056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Jump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200" dirty="0"/>
          </a:p>
        </p:txBody>
      </p:sp>
      <p:sp>
        <p:nvSpPr>
          <p:cNvPr id="33" name="nav 2">
            <a:hlinkClick r:id="rId2" tooltip="Jump to slide 2" action="ppaction://hlinksldjump"/>
          </p:cNvPr>
          <p:cNvSpPr txBox="1"/>
          <p:nvPr/>
        </p:nvSpPr>
        <p:spPr>
          <a:xfrm>
            <a:off x="91714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200" dirty="0"/>
          </a:p>
        </p:txBody>
      </p:sp>
      <p:sp>
        <p:nvSpPr>
          <p:cNvPr id="34" name="nav 3">
            <a:hlinkClick r:id="rId3" tooltip="Jump to slide 3" action="ppaction://hlinksldjump"/>
          </p:cNvPr>
          <p:cNvSpPr txBox="1"/>
          <p:nvPr/>
        </p:nvSpPr>
        <p:spPr>
          <a:xfrm>
            <a:off x="953719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200" dirty="0"/>
          </a:p>
        </p:txBody>
      </p:sp>
      <p:sp>
        <p:nvSpPr>
          <p:cNvPr id="35" name="nav 4">
            <a:hlinkClick r:id="rId4" tooltip="Jump to slide 4" action="ppaction://hlinksldjump"/>
          </p:cNvPr>
          <p:cNvSpPr txBox="1"/>
          <p:nvPr/>
        </p:nvSpPr>
        <p:spPr>
          <a:xfrm>
            <a:off x="990295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Jump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200" dirty="0"/>
          </a:p>
        </p:txBody>
      </p:sp>
      <p:sp>
        <p:nvSpPr>
          <p:cNvPr id="36" name="nav 5">
            <a:hlinkClick r:id="rId5" tooltip="Jump to slide 5" action="ppaction://hlinksldjump"/>
          </p:cNvPr>
          <p:cNvSpPr txBox="1"/>
          <p:nvPr/>
        </p:nvSpPr>
        <p:spPr>
          <a:xfrm>
            <a:off x="1026871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200" dirty="0"/>
          </a:p>
        </p:txBody>
      </p:sp>
      <p:sp>
        <p:nvSpPr>
          <p:cNvPr id="37" name="nav 6">
            <a:hlinkClick r:id="rId6" tooltip="Jump to slide 6" action="ppaction://hlinksldjump"/>
          </p:cNvPr>
          <p:cNvSpPr txBox="1"/>
          <p:nvPr/>
        </p:nvSpPr>
        <p:spPr>
          <a:xfrm>
            <a:off x="1063447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Jump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200" dirty="0"/>
          </a:p>
        </p:txBody>
      </p:sp>
      <p:sp>
        <p:nvSpPr>
          <p:cNvPr id="38" name="nav 7">
            <a:hlinkClick r:id="rId7" tooltip="Jump to slide 7" action="ppaction://hlinksldjump"/>
          </p:cNvPr>
          <p:cNvSpPr txBox="1"/>
          <p:nvPr/>
        </p:nvSpPr>
        <p:spPr>
          <a:xfrm>
            <a:off x="11000232" y="6473952"/>
            <a:ext cx="292608" cy="29260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200" dirty="0"/>
          </a:p>
        </p:txBody>
      </p:sp>
      <p:sp>
        <p:nvSpPr>
          <p:cNvPr id="39" name="nav 8">
            <a:hlinkClick r:id="rId8" tooltip="Jump to slide 8" action="ppaction://hlinksldjump"/>
          </p:cNvPr>
          <p:cNvSpPr txBox="1"/>
          <p:nvPr/>
        </p:nvSpPr>
        <p:spPr>
          <a:xfrm>
            <a:off x="11365992" y="6473952"/>
            <a:ext cx="292608" cy="292608"/>
          </a:xfrm>
          <a:prstGeom prst="rect">
            <a:avLst/>
          </a:prstGeom>
          <a:solidFill>
            <a:srgbClr val="FFD93D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theme/theme1.xml><?xml version="1.0" encoding="utf-8"?>
<a:theme xmlns:a="http://schemas.openxmlformats.org/drawingml/2006/main" name="Boardroom Neo-Brutalist">
  <a:themeElements>
    <a:clrScheme name="Boardroom Neo-Brutalist">
      <a:dk1>
        <a:srgbClr val="000000"/>
      </a:dk1>
      <a:lt1>
        <a:srgbClr val="FFFFFF"/>
      </a:lt1>
      <a:dk2>
        <a:srgbClr val="000000"/>
      </a:dk2>
      <a:lt2>
        <a:srgbClr val="FFFDF5"/>
      </a:lt2>
      <a:accent1>
        <a:srgbClr val="FF6B6B"/>
      </a:accent1>
      <a:accent2>
        <a:srgbClr val="FFD93D"/>
      </a:accent2>
      <a:accent3>
        <a:srgbClr val="C4B5FD"/>
      </a:accent3>
      <a:accent4>
        <a:srgbClr val="000000"/>
      </a:accent4>
      <a:accent5>
        <a:srgbClr val="FFFFFF"/>
      </a:accent5>
      <a:accent6>
        <a:srgbClr val="FFFDF5"/>
      </a:accent6>
      <a:hlink>
        <a:srgbClr val="000000"/>
      </a:hlink>
      <a:folHlink>
        <a:srgbClr val="000000"/>
      </a:folHlink>
    </a:clrScheme>
    <a:fontScheme name="Boardroom Neo-Brutalist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ace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Boardroom: the whiteboard that runs your code</dc:title>
  <dc:subject>PptxGenJS Presentation</dc:subject>
  <dc:creator>Craft N Code Karnataka 2026 team</dc:creator>
  <cp:lastModifiedBy>Craft N Code Karnataka 2026 team</cp:lastModifiedBy>
  <cp:revision>1</cp:revision>
  <dcterms:created xsi:type="dcterms:W3CDTF">2026-10-18T14:37:47Z</dcterms:created>
  <dcterms:modified xsi:type="dcterms:W3CDTF">2026-10-18T14:37:47Z</dcterms:modified>
</cp:coreProperties>
</file>