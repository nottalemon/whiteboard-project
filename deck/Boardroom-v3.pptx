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K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1-1.gif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5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CRAFT N CODE KARNATAKA 2026   ·   AI FOR EDUCATION</a:t>
            </a:r>
            <a:endParaRPr lang="en-US" sz="1100" dirty="0"/>
          </a:p>
        </p:txBody>
      </p:sp>
      <p:sp>
        <p:nvSpPr>
          <p:cNvPr id="4" name="cover title"/>
          <p:cNvSpPr txBox="1"/>
          <p:nvPr/>
        </p:nvSpPr>
        <p:spPr>
          <a:xfrm>
            <a:off x="822960" y="15544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</a:t>
            </a:r>
            <a:endParaRPr lang="en-US" sz="8000" dirty="0"/>
          </a:p>
        </p:txBody>
      </p:sp>
      <p:sp>
        <p:nvSpPr>
          <p:cNvPr id="5" name="cover subtitle"/>
          <p:cNvSpPr txBox="1"/>
          <p:nvPr/>
        </p:nvSpPr>
        <p:spPr>
          <a:xfrm>
            <a:off x="822960" y="3063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whiteboard that runs your code.</a:t>
            </a:r>
            <a:endParaRPr lang="en-US" sz="2600" dirty="0"/>
          </a:p>
        </p:txBody>
      </p:sp>
      <p:sp>
        <p:nvSpPr>
          <p:cNvPr id="6" name="a1:cover verbs"/>
          <p:cNvSpPr txBox="1"/>
          <p:nvPr/>
        </p:nvSpPr>
        <p:spPr>
          <a:xfrm>
            <a:off x="82296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Write.  Select.  Run.</a:t>
            </a:r>
            <a:endParaRPr lang="en-US" sz="1800" dirty="0"/>
          </a:p>
        </p:txBody>
      </p:sp>
      <p:sp>
        <p:nvSpPr>
          <p:cNvPr id="7" name="cover simulation backdrop"/>
          <p:cNvSpPr/>
          <p:nvPr/>
        </p:nvSpPr>
        <p:spPr>
          <a:xfrm>
            <a:off x="7168896" y="1728216"/>
            <a:ext cx="4572000" cy="27889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pic>
        <p:nvPicPr>
          <p:cNvPr id="8" name="cover simulation" descr="Animation: code is typed on a board, blue ink input 3 5 is added, Run is pressed and 3 + 5 = 8 appear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600200"/>
            <a:ext cx="4572000" cy="2788920"/>
          </a:xfrm>
          <a:prstGeom prst="rect">
            <a:avLst/>
          </a:prstGeom>
        </p:spPr>
      </p:pic>
      <p:sp>
        <p:nvSpPr>
          <p:cNvPr id="9" name="cover simulation frame"/>
          <p:cNvSpPr/>
          <p:nvPr/>
        </p:nvSpPr>
        <p:spPr>
          <a:xfrm>
            <a:off x="7040880" y="1600200"/>
            <a:ext cx="4572000" cy="2788920"/>
          </a:xfrm>
          <a:prstGeom prst="rect">
            <a:avLst/>
          </a:prstGeom>
          <a:ln w="15875">
            <a:solidFill>
              <a:srgbClr val="0E1330"/>
            </a:solidFill>
            <a:prstDash val="solid"/>
          </a:ln>
        </p:spPr>
      </p:sp>
      <p:sp>
        <p:nvSpPr>
          <p:cNvPr id="10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3A4066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12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13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14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15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16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17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18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19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  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4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whiteboard</a:t>
            </a:r>
            <a:endParaRPr lang="en-US" sz="4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can’t compile.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Teachers explain C++ and Python at a board. To check an example, they leave the lesson for an IDE.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premise, not a statistic.</a:t>
            </a:r>
            <a:endParaRPr lang="en-US" sz="1200" dirty="0"/>
          </a:p>
        </p:txBody>
      </p:sp>
      <p:sp>
        <p:nvSpPr>
          <p:cNvPr id="7" name="today body"/>
          <p:cNvSpPr/>
          <p:nvPr/>
        </p:nvSpPr>
        <p:spPr>
          <a:xfrm>
            <a:off x="6309360" y="914400"/>
            <a:ext cx="53309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8" name="today strip"/>
          <p:cNvSpPr/>
          <p:nvPr/>
        </p:nvSpPr>
        <p:spPr>
          <a:xfrm>
            <a:off x="6309360" y="914400"/>
            <a:ext cx="5330952" cy="73152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on the board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167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Switch to an IDE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6426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Paste, run, switch back</a:t>
            </a:r>
            <a:endParaRPr lang="en-US" sz="1700" dirty="0"/>
          </a:p>
        </p:txBody>
      </p:sp>
      <p:sp>
        <p:nvSpPr>
          <p:cNvPr id="16" name="a1:after panel"/>
          <p:cNvSpPr/>
          <p:nvPr/>
        </p:nvSpPr>
        <p:spPr>
          <a:xfrm>
            <a:off x="6309360" y="3474720"/>
            <a:ext cx="5330952" cy="25603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7" name="a1:after label"/>
          <p:cNvSpPr txBox="1"/>
          <p:nvPr/>
        </p:nvSpPr>
        <p:spPr>
          <a:xfrm>
            <a:off x="65836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BOARDROOM</a:t>
            </a:r>
            <a:endParaRPr lang="en-US" sz="1100" dirty="0"/>
          </a:p>
        </p:txBody>
      </p:sp>
      <p:sp>
        <p:nvSpPr>
          <p:cNvPr id="18" name="a1:after steps"/>
          <p:cNvSpPr txBox="1"/>
          <p:nvPr/>
        </p:nvSpPr>
        <p:spPr>
          <a:xfrm>
            <a:off x="6583680" y="42976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Write.  Select.  Run.</a:t>
            </a:r>
            <a:endParaRPr lang="en-US" sz="3400" dirty="0"/>
          </a:p>
        </p:txBody>
      </p:sp>
      <p:sp>
        <p:nvSpPr>
          <p:cNvPr id="19" name="a1:after text"/>
          <p:cNvSpPr txBox="1"/>
          <p:nvPr/>
        </p:nvSpPr>
        <p:spPr>
          <a:xfrm>
            <a:off x="6583680" y="5120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answer appears on the board.</a:t>
            </a:r>
            <a:endParaRPr lang="en-US" sz="1600" dirty="0"/>
          </a:p>
        </p:txBody>
      </p:sp>
      <p:sp>
        <p:nvSpPr>
          <p:cNvPr id="20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22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23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24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25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26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27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28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29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  HOW IT WORKS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ink to answer.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tep 1 rule"/>
          <p:cNvSpPr/>
          <p:nvPr/>
        </p:nvSpPr>
        <p:spPr>
          <a:xfrm>
            <a:off x="548640" y="2514600"/>
            <a:ext cx="2048256" cy="36576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974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Black ink is code, blue ink is input.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98064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step 2 rule"/>
          <p:cNvSpPr/>
          <p:nvPr/>
        </p:nvSpPr>
        <p:spPr>
          <a:xfrm>
            <a:off x="2798064" y="2514600"/>
            <a:ext cx="2048256" cy="36576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98064" y="26974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798064" y="320040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Drag a box around the program.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47488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step 3 rule"/>
          <p:cNvSpPr/>
          <p:nvPr/>
        </p:nvSpPr>
        <p:spPr>
          <a:xfrm>
            <a:off x="5047488" y="2514600"/>
            <a:ext cx="2048256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6974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20040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reads it. You confirm every line.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96912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step 4 rule"/>
          <p:cNvSpPr/>
          <p:nvPr/>
        </p:nvSpPr>
        <p:spPr>
          <a:xfrm>
            <a:off x="7296912" y="2514600"/>
            <a:ext cx="2048256" cy="36576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26974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96912" y="320040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fresh container compiles and runs it.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546336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step 5 rule"/>
          <p:cNvSpPr/>
          <p:nvPr/>
        </p:nvSpPr>
        <p:spPr>
          <a:xfrm>
            <a:off x="9546336" y="2514600"/>
            <a:ext cx="2048256" cy="36576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46336" y="26974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546336" y="320040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 and errors show up on the board.</a:t>
            </a:r>
            <a:endParaRPr lang="en-US" sz="1400" dirty="0"/>
          </a:p>
        </p:txBody>
      </p:sp>
      <p:sp>
        <p:nvSpPr>
          <p:cNvPr id="25" name="a1:gate bg"/>
          <p:cNvSpPr/>
          <p:nvPr/>
        </p:nvSpPr>
        <p:spPr>
          <a:xfrm>
            <a:off x="548640" y="4572000"/>
            <a:ext cx="11091672" cy="137160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26" name="a1:gate bar"/>
          <p:cNvSpPr/>
          <p:nvPr/>
        </p:nvSpPr>
        <p:spPr>
          <a:xfrm>
            <a:off x="548640" y="4572000"/>
            <a:ext cx="109728" cy="137160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7" name="a1:gate head"/>
          <p:cNvSpPr txBox="1"/>
          <p:nvPr/>
        </p:nvSpPr>
        <p:spPr>
          <a:xfrm>
            <a:off x="960120" y="4828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teacher stays in charge</a:t>
            </a:r>
            <a:endParaRPr lang="en-US" sz="2000" dirty="0"/>
          </a:p>
        </p:txBody>
      </p:sp>
      <p:sp>
        <p:nvSpPr>
          <p:cNvPr id="28" name="a1:gate text"/>
          <p:cNvSpPr txBox="1"/>
          <p:nvPr/>
        </p:nvSpPr>
        <p:spPr>
          <a:xfrm>
            <a:off x="960120" y="5303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Nothing runs until the teacher has checked the code against the ink.</a:t>
            </a:r>
            <a:endParaRPr lang="en-US" sz="1600" dirty="0"/>
          </a:p>
        </p:txBody>
      </p:sp>
      <p:sp>
        <p:nvSpPr>
          <p:cNvPr id="29" name="a1:gate box"/>
          <p:cNvSpPr/>
          <p:nvPr/>
        </p:nvSpPr>
        <p:spPr>
          <a:xfrm>
            <a:off x="10241280" y="4937760"/>
            <a:ext cx="640080" cy="640080"/>
          </a:xfrm>
          <a:prstGeom prst="rect">
            <a:avLst/>
          </a:prstGeom>
          <a:solidFill>
            <a:srgbClr val="F6F4EE"/>
          </a:solidFill>
          <a:ln w="12700">
            <a:solidFill>
              <a:srgbClr val="F6F4EE"/>
            </a:solidFill>
            <a:prstDash val="solid"/>
          </a:ln>
        </p:spPr>
      </p:sp>
      <p:sp>
        <p:nvSpPr>
          <p:cNvPr id="30" name="a1:gate tick"/>
          <p:cNvSpPr txBox="1"/>
          <p:nvPr/>
        </p:nvSpPr>
        <p:spPr>
          <a:xfrm>
            <a:off x="1024128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3000" dirty="0"/>
          </a:p>
        </p:txBody>
      </p:sp>
      <p:sp>
        <p:nvSpPr>
          <p:cNvPr id="31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3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4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5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6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7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8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9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0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  THREE MODES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slider. Three ways to run.</a:t>
            </a:r>
            <a:endParaRPr lang="en-US" sz="3600" dirty="0"/>
          </a:p>
        </p:txBody>
      </p:sp>
      <p:sp>
        <p:nvSpPr>
          <p:cNvPr id="5" name="a1:mode 1 body"/>
          <p:cNvSpPr/>
          <p:nvPr/>
        </p:nvSpPr>
        <p:spPr>
          <a:xfrm>
            <a:off x="548640" y="1920240"/>
            <a:ext cx="35935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6" name="a1:mode 1 strip"/>
          <p:cNvSpPr/>
          <p:nvPr/>
        </p:nvSpPr>
        <p:spPr>
          <a:xfrm>
            <a:off x="548640" y="1920240"/>
            <a:ext cx="3593592" cy="73152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7" name="a1:who 1"/>
          <p:cNvSpPr txBox="1"/>
          <p:nvPr/>
        </p:nvSpPr>
        <p:spPr>
          <a:xfrm>
            <a:off x="82296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NEVER</a:t>
            </a:r>
            <a:endParaRPr lang="en-US" sz="1000" dirty="0"/>
          </a:p>
        </p:txBody>
      </p:sp>
      <p:sp>
        <p:nvSpPr>
          <p:cNvPr id="8" name="a1:mode 1 name"/>
          <p:cNvSpPr txBox="1"/>
          <p:nvPr/>
        </p:nvSpPr>
        <p:spPr>
          <a:xfrm>
            <a:off x="8229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program</a:t>
            </a:r>
            <a:endParaRPr lang="en-US" sz="2600" dirty="0"/>
          </a:p>
        </p:txBody>
      </p:sp>
      <p:sp>
        <p:nvSpPr>
          <p:cNvPr id="9" name="a1:mode 1 text"/>
          <p:cNvSpPr txBox="1"/>
          <p:nvPr/>
        </p:nvSpPr>
        <p:spPr>
          <a:xfrm>
            <a:off x="82296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Compiles exactly what you wrote.</a:t>
            </a:r>
            <a:endParaRPr lang="en-US" sz="1500" dirty="0"/>
          </a:p>
        </p:txBody>
      </p:sp>
      <p:sp>
        <p:nvSpPr>
          <p:cNvPr id="10" name="a2:mode 2 body"/>
          <p:cNvSpPr/>
          <p:nvPr/>
        </p:nvSpPr>
        <p:spPr>
          <a:xfrm>
            <a:off x="4297680" y="1920240"/>
            <a:ext cx="35935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1" name="a2:mode 2 strip"/>
          <p:cNvSpPr/>
          <p:nvPr/>
        </p:nvSpPr>
        <p:spPr>
          <a:xfrm>
            <a:off x="4297680" y="1920240"/>
            <a:ext cx="3593592" cy="7315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2" name="a2:who 2"/>
          <p:cNvSpPr txBox="1"/>
          <p:nvPr/>
        </p:nvSpPr>
        <p:spPr>
          <a:xfrm>
            <a:off x="457200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ARRANGES</a:t>
            </a:r>
            <a:endParaRPr lang="en-US" sz="1000" dirty="0"/>
          </a:p>
        </p:txBody>
      </p:sp>
      <p:sp>
        <p:nvSpPr>
          <p:cNvPr id="13" name="a2:mode 2 name"/>
          <p:cNvSpPr txBox="1"/>
          <p:nvPr/>
        </p:nvSpPr>
        <p:spPr>
          <a:xfrm>
            <a:off x="457200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</a:t>
            </a:r>
            <a:endParaRPr lang="en-US" sz="2600" dirty="0"/>
          </a:p>
        </p:txBody>
      </p:sp>
      <p:sp>
        <p:nvSpPr>
          <p:cNvPr id="14" name="a2:mode 2 text"/>
          <p:cNvSpPr txBox="1"/>
          <p:nvPr/>
        </p:nvSpPr>
        <p:spPr>
          <a:xfrm>
            <a:off x="457200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Arranges loose lines under a template of headers. Never fixes code.</a:t>
            </a:r>
            <a:endParaRPr lang="en-US" sz="1500" dirty="0"/>
          </a:p>
        </p:txBody>
      </p:sp>
      <p:sp>
        <p:nvSpPr>
          <p:cNvPr id="15" name="a3:mode 3 body"/>
          <p:cNvSpPr/>
          <p:nvPr/>
        </p:nvSpPr>
        <p:spPr>
          <a:xfrm>
            <a:off x="8046720" y="1920240"/>
            <a:ext cx="35935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6" name="a3:mode 3 strip"/>
          <p:cNvSpPr/>
          <p:nvPr/>
        </p:nvSpPr>
        <p:spPr>
          <a:xfrm>
            <a:off x="8046720" y="1920240"/>
            <a:ext cx="3593592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7" name="a3:who 3"/>
          <p:cNvSpPr txBox="1"/>
          <p:nvPr/>
        </p:nvSpPr>
        <p:spPr>
          <a:xfrm>
            <a:off x="832104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WRITES</a:t>
            </a:r>
            <a:endParaRPr lang="en-US" sz="1000" dirty="0"/>
          </a:p>
        </p:txBody>
      </p:sp>
      <p:sp>
        <p:nvSpPr>
          <p:cNvPr id="18" name="a3:mode 3 name"/>
          <p:cNvSpPr txBox="1"/>
          <p:nvPr/>
        </p:nvSpPr>
        <p:spPr>
          <a:xfrm>
            <a:off x="832104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</a:t>
            </a:r>
            <a:endParaRPr lang="en-US" sz="2600" dirty="0"/>
          </a:p>
        </p:txBody>
      </p:sp>
      <p:sp>
        <p:nvSpPr>
          <p:cNvPr id="19" name="a3:mode 3 text"/>
          <p:cNvSpPr txBox="1"/>
          <p:nvPr/>
        </p:nvSpPr>
        <p:spPr>
          <a:xfrm>
            <a:off x="832104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Plain-language steps become a program, then it compiles.</a:t>
            </a:r>
            <a:endParaRPr lang="en-US" sz="1500" dirty="0"/>
          </a:p>
        </p:txBody>
      </p:sp>
      <p:sp>
        <p:nvSpPr>
          <p:cNvPr id="20" name="a4:fix bg"/>
          <p:cNvSpPr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solidFill>
            <a:srgbClr val="DCE4FF"/>
          </a:solidFill>
          <a:ln w="12700">
            <a:solidFill>
              <a:srgbClr val="DCE4FF"/>
            </a:solidFill>
            <a:prstDash val="solid"/>
          </a:ln>
        </p:spPr>
      </p:sp>
      <p:sp>
        <p:nvSpPr>
          <p:cNvPr id="21" name="a4:fix title"/>
          <p:cNvSpPr txBox="1"/>
          <p:nvPr/>
        </p:nvSpPr>
        <p:spPr>
          <a:xfrm>
            <a:off x="868680" y="5029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 Gemini to fix</a:t>
            </a:r>
            <a:endParaRPr lang="en-US" sz="1800" dirty="0"/>
          </a:p>
        </p:txBody>
      </p:sp>
      <p:sp>
        <p:nvSpPr>
          <p:cNvPr id="22" name="a4:fix text"/>
          <p:cNvSpPr txBox="1"/>
          <p:nvPr/>
        </p:nvSpPr>
        <p:spPr>
          <a:xfrm>
            <a:off x="4206240" y="50292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Only after a failed run, and only if the teacher clicks it.</a:t>
            </a:r>
            <a:endParaRPr lang="en-US" sz="1600" dirty="0"/>
          </a:p>
        </p:txBody>
      </p:sp>
      <p:sp>
        <p:nvSpPr>
          <p:cNvPr id="23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25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26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27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28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29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0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1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32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  SAFE BY 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tried to break it.</a:t>
            </a:r>
            <a:endParaRPr lang="en-US" sz="3600" dirty="0"/>
          </a:p>
        </p:txBody>
      </p:sp>
      <p:sp>
        <p:nvSpPr>
          <p:cNvPr id="5" name="sandbox simulation backdrop"/>
          <p:cNvSpPr/>
          <p:nvPr/>
        </p:nvSpPr>
        <p:spPr>
          <a:xfrm>
            <a:off x="676656" y="1819656"/>
            <a:ext cx="6035040" cy="368503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pic>
        <p:nvPicPr>
          <p:cNvPr id="6" name="sandbox simulation" descr="Animation: four hostile programs each run in a fresh container and are stopped: a sleep at five seconds, a flood of output cut at 16 KiB, a heap buffer overflow caught by AddressSanitizer, and a blocked network cal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035040" cy="3685032"/>
          </a:xfrm>
          <a:prstGeom prst="rect">
            <a:avLst/>
          </a:prstGeom>
        </p:spPr>
      </p:pic>
      <p:sp>
        <p:nvSpPr>
          <p:cNvPr id="7" name="sandbox simulation frame"/>
          <p:cNvSpPr/>
          <p:nvPr/>
        </p:nvSpPr>
        <p:spPr>
          <a:xfrm>
            <a:off x="548640" y="1691640"/>
            <a:ext cx="6035040" cy="3685032"/>
          </a:xfrm>
          <a:prstGeom prst="rect">
            <a:avLst/>
          </a:prstGeom>
          <a:ln w="15875">
            <a:solidFill>
              <a:srgbClr val="0E13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669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Simulation of four of our real test runs.</a:t>
            </a:r>
            <a:endParaRPr lang="en-US" sz="1200" dirty="0"/>
          </a:p>
        </p:txBody>
      </p:sp>
      <p:sp>
        <p:nvSpPr>
          <p:cNvPr id="9" name="a1:result 1 bar"/>
          <p:cNvSpPr/>
          <p:nvPr/>
        </p:nvSpPr>
        <p:spPr>
          <a:xfrm>
            <a:off x="7178040" y="1783080"/>
            <a:ext cx="73152" cy="7315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0" name="a1:attack 1"/>
          <p:cNvSpPr txBox="1"/>
          <p:nvPr/>
        </p:nvSpPr>
        <p:spPr>
          <a:xfrm>
            <a:off x="7452360" y="1783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sleep(10)</a:t>
            </a:r>
            <a:endParaRPr lang="en-US" sz="1300" dirty="0"/>
          </a:p>
        </p:txBody>
      </p:sp>
      <p:sp>
        <p:nvSpPr>
          <p:cNvPr id="11" name="a1:result 1"/>
          <p:cNvSpPr txBox="1"/>
          <p:nvPr/>
        </p:nvSpPr>
        <p:spPr>
          <a:xfrm>
            <a:off x="7452360" y="20939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Stopped at 5 seconds</a:t>
            </a:r>
            <a:endParaRPr lang="en-US" sz="2000" dirty="0"/>
          </a:p>
        </p:txBody>
      </p:sp>
      <p:sp>
        <p:nvSpPr>
          <p:cNvPr id="12" name="a2:result 2 bar"/>
          <p:cNvSpPr/>
          <p:nvPr/>
        </p:nvSpPr>
        <p:spPr>
          <a:xfrm>
            <a:off x="7178040" y="2697480"/>
            <a:ext cx="73152" cy="73152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3" name="a2:attack 2"/>
          <p:cNvSpPr txBox="1"/>
          <p:nvPr/>
        </p:nvSpPr>
        <p:spPr>
          <a:xfrm>
            <a:off x="7452360" y="2697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100,000 lines of output</a:t>
            </a:r>
            <a:endParaRPr lang="en-US" sz="1300" dirty="0"/>
          </a:p>
        </p:txBody>
      </p:sp>
      <p:sp>
        <p:nvSpPr>
          <p:cNvPr id="14" name="a2:result 2"/>
          <p:cNvSpPr txBox="1"/>
          <p:nvPr/>
        </p:nvSpPr>
        <p:spPr>
          <a:xfrm>
            <a:off x="7452360" y="30083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Cut at 16 KiB</a:t>
            </a:r>
            <a:endParaRPr lang="en-US" sz="2000" dirty="0"/>
          </a:p>
        </p:txBody>
      </p:sp>
      <p:sp>
        <p:nvSpPr>
          <p:cNvPr id="15" name="a3:result 3 bar"/>
          <p:cNvSpPr/>
          <p:nvPr/>
        </p:nvSpPr>
        <p:spPr>
          <a:xfrm>
            <a:off x="7178040" y="3611880"/>
            <a:ext cx="73152" cy="7315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6" name="a3:attack 3"/>
          <p:cNvSpPr txBox="1"/>
          <p:nvPr/>
        </p:nvSpPr>
        <p:spPr>
          <a:xfrm>
            <a:off x="7452360" y="3611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past a buffer</a:t>
            </a:r>
            <a:endParaRPr lang="en-US" sz="1300" dirty="0"/>
          </a:p>
        </p:txBody>
      </p:sp>
      <p:sp>
        <p:nvSpPr>
          <p:cNvPr id="17" name="a3:result 3"/>
          <p:cNvSpPr txBox="1"/>
          <p:nvPr/>
        </p:nvSpPr>
        <p:spPr>
          <a:xfrm>
            <a:off x="7452360" y="39227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Caught by AddressSanitizer</a:t>
            </a:r>
            <a:endParaRPr lang="en-US" sz="2000" dirty="0"/>
          </a:p>
        </p:txBody>
      </p:sp>
      <p:sp>
        <p:nvSpPr>
          <p:cNvPr id="18" name="a4:result 4 bar"/>
          <p:cNvSpPr/>
          <p:nvPr/>
        </p:nvSpPr>
        <p:spPr>
          <a:xfrm>
            <a:off x="7178040" y="4526280"/>
            <a:ext cx="73152" cy="73152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9" name="a4:attack 4"/>
          <p:cNvSpPr txBox="1"/>
          <p:nvPr/>
        </p:nvSpPr>
        <p:spPr>
          <a:xfrm>
            <a:off x="7452360" y="4526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 call</a:t>
            </a:r>
            <a:endParaRPr lang="en-US" sz="1300" dirty="0"/>
          </a:p>
        </p:txBody>
      </p:sp>
      <p:sp>
        <p:nvSpPr>
          <p:cNvPr id="20" name="a4:result 4"/>
          <p:cNvSpPr txBox="1"/>
          <p:nvPr/>
        </p:nvSpPr>
        <p:spPr>
          <a:xfrm>
            <a:off x="7452360" y="48371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Blocked</a:t>
            </a:r>
            <a:endParaRPr lang="en-US" sz="2000" dirty="0"/>
          </a:p>
        </p:txBody>
      </p:sp>
      <p:sp>
        <p:nvSpPr>
          <p:cNvPr id="21" name="a5:limits"/>
          <p:cNvSpPr txBox="1"/>
          <p:nvPr/>
        </p:nvSpPr>
        <p:spPr>
          <a:xfrm>
            <a:off x="7178040" y="54864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run gets a fresh container: no network, read-only root, 512 MiB, 64 processes.</a:t>
            </a:r>
            <a:endParaRPr lang="en-US" sz="1200" dirty="0"/>
          </a:p>
        </p:txBody>
      </p:sp>
      <p:sp>
        <p:nvSpPr>
          <p:cNvPr id="22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24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25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26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27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28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29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0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31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  WHERE IT STANDS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Tested, honest about limits, and growing.</a:t>
            </a:r>
            <a:endParaRPr lang="en-US" sz="3400" dirty="0"/>
          </a:p>
        </p:txBody>
      </p:sp>
      <p:sp>
        <p:nvSpPr>
          <p:cNvPr id="5" name="proof bg"/>
          <p:cNvSpPr/>
          <p:nvPr/>
        </p:nvSpPr>
        <p:spPr>
          <a:xfrm>
            <a:off x="548640" y="1828800"/>
            <a:ext cx="3383280" cy="411480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39/39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non-Gemini browser tests passed</a:t>
            </a:r>
            <a:endParaRPr lang="en-US" sz="1400" dirty="0"/>
          </a:p>
        </p:txBody>
      </p:sp>
      <p:sp>
        <p:nvSpPr>
          <p:cNvPr id="8" name="proof rule"/>
          <p:cNvSpPr/>
          <p:nvPr/>
        </p:nvSpPr>
        <p:spPr>
          <a:xfrm>
            <a:off x="822960" y="3886200"/>
            <a:ext cx="457200" cy="2743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69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compile and run probes, C++ and Python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23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own runs, 18 Oct 2026</a:t>
            </a:r>
            <a:endParaRPr lang="en-US" sz="1000" dirty="0"/>
          </a:p>
        </p:txBody>
      </p:sp>
      <p:sp>
        <p:nvSpPr>
          <p:cNvPr id="12" name="a1:limits label"/>
          <p:cNvSpPr txBox="1"/>
          <p:nvPr/>
        </p:nvSpPr>
        <p:spPr>
          <a:xfrm>
            <a:off x="43434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KNOWN LIMITS</a:t>
            </a:r>
            <a:endParaRPr lang="en-US" sz="1100" dirty="0"/>
          </a:p>
        </p:txBody>
      </p:sp>
      <p:sp>
        <p:nvSpPr>
          <p:cNvPr id="13" name="a1:limit 1 rule"/>
          <p:cNvSpPr/>
          <p:nvPr/>
        </p:nvSpPr>
        <p:spPr>
          <a:xfrm>
            <a:off x="4343400" y="2286000"/>
            <a:ext cx="3383280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4" name="a1:limit 1"/>
          <p:cNvSpPr txBox="1"/>
          <p:nvPr/>
        </p:nvSpPr>
        <p:spPr>
          <a:xfrm>
            <a:off x="4343400" y="2423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Hosted site runs code on Wandbox, not Docker.</a:t>
            </a:r>
            <a:endParaRPr lang="en-US" sz="1500" dirty="0"/>
          </a:p>
        </p:txBody>
      </p:sp>
      <p:sp>
        <p:nvSpPr>
          <p:cNvPr id="15" name="a1:limit 2 rule"/>
          <p:cNvSpPr/>
          <p:nvPr/>
        </p:nvSpPr>
        <p:spPr>
          <a:xfrm>
            <a:off x="4343400" y="3474720"/>
            <a:ext cx="3383280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6" name="a1:limit 2"/>
          <p:cNvSpPr txBox="1"/>
          <p:nvPr/>
        </p:nvSpPr>
        <p:spPr>
          <a:xfrm>
            <a:off x="434340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C++17 only. C that is not valid C++ will not compile.</a:t>
            </a:r>
            <a:endParaRPr lang="en-US" sz="1500" dirty="0"/>
          </a:p>
        </p:txBody>
      </p:sp>
      <p:sp>
        <p:nvSpPr>
          <p:cNvPr id="17" name="a1:limit 3 rule"/>
          <p:cNvSpPr/>
          <p:nvPr/>
        </p:nvSpPr>
        <p:spPr>
          <a:xfrm>
            <a:off x="4343400" y="4663440"/>
            <a:ext cx="3383280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8" name="a1:limit 3"/>
          <p:cNvSpPr txBox="1"/>
          <p:nvPr/>
        </p:nvSpPr>
        <p:spPr>
          <a:xfrm>
            <a:off x="4343400" y="4800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Handwriting accuracy not yet measured on real classrooms.</a:t>
            </a:r>
            <a:endParaRPr lang="en-US" sz="1500" dirty="0"/>
          </a:p>
        </p:txBody>
      </p:sp>
      <p:sp>
        <p:nvSpPr>
          <p:cNvPr id="19" name="a2:next label"/>
          <p:cNvSpPr txBox="1"/>
          <p:nvPr/>
        </p:nvSpPr>
        <p:spPr>
          <a:xfrm>
            <a:off x="82296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</a:t>
            </a:r>
            <a:endParaRPr lang="en-US" sz="1100" dirty="0"/>
          </a:p>
        </p:txBody>
      </p:sp>
      <p:sp>
        <p:nvSpPr>
          <p:cNvPr id="20" name="a2:next 1 rule"/>
          <p:cNvSpPr/>
          <p:nvPr/>
        </p:nvSpPr>
        <p:spPr>
          <a:xfrm>
            <a:off x="8229600" y="2286000"/>
            <a:ext cx="341071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1" name="a2:next 1 head"/>
          <p:cNvSpPr txBox="1"/>
          <p:nvPr/>
        </p:nvSpPr>
        <p:spPr>
          <a:xfrm>
            <a:off x="8229600" y="2395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</a:t>
            </a:r>
            <a:endParaRPr lang="en-US" sz="1800" dirty="0"/>
          </a:p>
        </p:txBody>
      </p:sp>
      <p:sp>
        <p:nvSpPr>
          <p:cNvPr id="22" name="a2:next 1 text"/>
          <p:cNvSpPr txBox="1"/>
          <p:nvPr/>
        </p:nvSpPr>
        <p:spPr>
          <a:xfrm>
            <a:off x="822960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Benchmark handwriting accuracy.</a:t>
            </a:r>
            <a:endParaRPr lang="en-US" sz="1400" dirty="0"/>
          </a:p>
        </p:txBody>
      </p:sp>
      <p:sp>
        <p:nvSpPr>
          <p:cNvPr id="23" name="a2:next 2 rule"/>
          <p:cNvSpPr/>
          <p:nvPr/>
        </p:nvSpPr>
        <p:spPr>
          <a:xfrm>
            <a:off x="8229600" y="3474720"/>
            <a:ext cx="341071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4" name="a2:next 2 head"/>
          <p:cNvSpPr txBox="1"/>
          <p:nvPr/>
        </p:nvSpPr>
        <p:spPr>
          <a:xfrm>
            <a:off x="8229600" y="3584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Harden</a:t>
            </a:r>
            <a:endParaRPr lang="en-US" sz="1800" dirty="0"/>
          </a:p>
        </p:txBody>
      </p:sp>
      <p:sp>
        <p:nvSpPr>
          <p:cNvPr id="25" name="a2:next 2 text"/>
          <p:cNvSpPr txBox="1"/>
          <p:nvPr/>
        </p:nvSpPr>
        <p:spPr>
          <a:xfrm>
            <a:off x="822960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Separate execution VM and a security review.</a:t>
            </a:r>
            <a:endParaRPr lang="en-US" sz="1400" dirty="0"/>
          </a:p>
        </p:txBody>
      </p:sp>
      <p:sp>
        <p:nvSpPr>
          <p:cNvPr id="26" name="a2:next 3 rule"/>
          <p:cNvSpPr/>
          <p:nvPr/>
        </p:nvSpPr>
        <p:spPr>
          <a:xfrm>
            <a:off x="8229600" y="4663440"/>
            <a:ext cx="341071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7" name="a2:next 3 head"/>
          <p:cNvSpPr txBox="1"/>
          <p:nvPr/>
        </p:nvSpPr>
        <p:spPr>
          <a:xfrm>
            <a:off x="8229600" y="4773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Pin</a:t>
            </a:r>
            <a:endParaRPr lang="en-US" sz="1800" dirty="0"/>
          </a:p>
        </p:txBody>
      </p:sp>
      <p:sp>
        <p:nvSpPr>
          <p:cNvPr id="28" name="a2:next 3 text"/>
          <p:cNvSpPr txBox="1"/>
          <p:nvPr/>
        </p:nvSpPr>
        <p:spPr>
          <a:xfrm>
            <a:off x="8229600" y="5166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Freeze compiler versions in each snapshot.</a:t>
            </a:r>
            <a:endParaRPr lang="en-US" sz="1400" dirty="0"/>
          </a:p>
        </p:txBody>
      </p:sp>
      <p:sp>
        <p:nvSpPr>
          <p:cNvPr id="29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1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2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3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4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5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6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7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38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  METHODOLOGY  ·  SYSTEM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parts, one request path.</a:t>
            </a:r>
            <a:endParaRPr lang="en-US" sz="3400" dirty="0"/>
          </a:p>
        </p:txBody>
      </p:sp>
      <p:sp>
        <p:nvSpPr>
          <p:cNvPr id="5" name="gemini bg"/>
          <p:cNvSpPr/>
          <p:nvPr/>
        </p:nvSpPr>
        <p:spPr>
          <a:xfrm>
            <a:off x="4617720" y="1691640"/>
            <a:ext cx="2926080" cy="68580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17720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API</a:t>
            </a:r>
            <a:endParaRPr lang="en-US" sz="1800" dirty="0"/>
          </a:p>
        </p:txBody>
      </p:sp>
      <p:sp>
        <p:nvSpPr>
          <p:cNvPr id="7" name="gemini down"/>
          <p:cNvSpPr/>
          <p:nvPr/>
        </p:nvSpPr>
        <p:spPr>
          <a:xfrm>
            <a:off x="5577840" y="2377440"/>
            <a:ext cx="0" cy="54864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8" name="gemini up"/>
          <p:cNvSpPr/>
          <p:nvPr/>
        </p:nvSpPr>
        <p:spPr>
          <a:xfrm flipV="1">
            <a:off x="6583680" y="2377440"/>
            <a:ext cx="0" cy="54864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10896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ink, prompts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text, code</a:t>
            </a:r>
            <a:endParaRPr lang="en-US" sz="1100" dirty="0"/>
          </a:p>
        </p:txBody>
      </p:sp>
      <p:sp>
        <p:nvSpPr>
          <p:cNvPr id="11" name="board body"/>
          <p:cNvSpPr/>
          <p:nvPr/>
        </p:nvSpPr>
        <p:spPr>
          <a:xfrm>
            <a:off x="548640" y="2926080"/>
            <a:ext cx="2926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2" name="board strip"/>
          <p:cNvSpPr/>
          <p:nvPr/>
        </p:nvSpPr>
        <p:spPr>
          <a:xfrm>
            <a:off x="548640" y="2926080"/>
            <a:ext cx="2926080" cy="73152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Teacher’s board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Excalidraw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Write, select, confirm</a:t>
            </a:r>
            <a:endParaRPr lang="en-US" sz="1400" dirty="0"/>
          </a:p>
        </p:txBody>
      </p:sp>
      <p:sp>
        <p:nvSpPr>
          <p:cNvPr id="15" name="server bg"/>
          <p:cNvSpPr/>
          <p:nvPr/>
        </p:nvSpPr>
        <p:spPr>
          <a:xfrm>
            <a:off x="4617720" y="2926080"/>
            <a:ext cx="2926080" cy="173736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server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Node.js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Routes every request</a:t>
            </a:r>
            <a:endParaRPr lang="en-US" sz="1400" dirty="0"/>
          </a:p>
        </p:txBody>
      </p:sp>
      <p:sp>
        <p:nvSpPr>
          <p:cNvPr id="18" name="sandbox bg"/>
          <p:cNvSpPr/>
          <p:nvPr/>
        </p:nvSpPr>
        <p:spPr>
          <a:xfrm>
            <a:off x="8686800" y="2926080"/>
            <a:ext cx="2953512" cy="173736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1540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Sandbox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Docker, run locally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Wandbox, when hosted</a:t>
            </a:r>
            <a:endParaRPr lang="en-US" sz="1400" dirty="0"/>
          </a:p>
        </p:txBody>
      </p:sp>
      <p:sp>
        <p:nvSpPr>
          <p:cNvPr id="21" name="board to server"/>
          <p:cNvSpPr/>
          <p:nvPr/>
        </p:nvSpPr>
        <p:spPr>
          <a:xfrm>
            <a:off x="3474720" y="352044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2" name="server to board"/>
          <p:cNvSpPr/>
          <p:nvPr/>
        </p:nvSpPr>
        <p:spPr>
          <a:xfrm flipH="1">
            <a:off x="3474720" y="416052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47472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region, input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4224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</a:t>
            </a:r>
            <a:endParaRPr lang="en-US" sz="1100" dirty="0"/>
          </a:p>
        </p:txBody>
      </p:sp>
      <p:sp>
        <p:nvSpPr>
          <p:cNvPr id="25" name="server to sandbox"/>
          <p:cNvSpPr/>
          <p:nvPr/>
        </p:nvSpPr>
        <p:spPr>
          <a:xfrm>
            <a:off x="7543800" y="352044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6" name="sandbox to server"/>
          <p:cNvSpPr/>
          <p:nvPr/>
        </p:nvSpPr>
        <p:spPr>
          <a:xfrm flipH="1">
            <a:off x="7543800" y="416052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54380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code, stdin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4224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output, errors</a:t>
            </a:r>
            <a:endParaRPr lang="en-US" sz="1100" dirty="0"/>
          </a:p>
        </p:txBody>
      </p:sp>
      <p:sp>
        <p:nvSpPr>
          <p:cNvPr id="29" name="server to git"/>
          <p:cNvSpPr/>
          <p:nvPr/>
        </p:nvSpPr>
        <p:spPr>
          <a:xfrm>
            <a:off x="6080760" y="4663440"/>
            <a:ext cx="0" cy="59436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30" name="git bg"/>
          <p:cNvSpPr/>
          <p:nvPr/>
        </p:nvSpPr>
        <p:spPr>
          <a:xfrm>
            <a:off x="4617720" y="5257800"/>
            <a:ext cx="2926080" cy="640080"/>
          </a:xfrm>
          <a:prstGeom prst="rect">
            <a:avLst/>
          </a:prstGeom>
          <a:solidFill>
            <a:srgbClr val="DCE4FF"/>
          </a:solidFill>
          <a:ln w="12700">
            <a:solidFill>
              <a:srgbClr val="DCE4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17720" y="5257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 snapshots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257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teacher confirms handwriting before any code reaches the sandbox.</a:t>
            </a:r>
            <a:endParaRPr lang="en-US" sz="1300" dirty="0"/>
          </a:p>
        </p:txBody>
      </p:sp>
      <p:sp>
        <p:nvSpPr>
          <p:cNvPr id="33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5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6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7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8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9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0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1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2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   METHODOLOGY  ·  TOOLS USED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 open tools and careful AI.</a:t>
            </a:r>
            <a:endParaRPr lang="en-US" sz="3400" dirty="0"/>
          </a:p>
        </p:txBody>
      </p:sp>
      <p:sp>
        <p:nvSpPr>
          <p:cNvPr id="5" name="a1:stack label"/>
          <p:cNvSpPr txBox="1"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STACK</a:t>
            </a:r>
            <a:endParaRPr lang="en-US" sz="1100" dirty="0"/>
          </a:p>
        </p:txBody>
      </p:sp>
      <p:sp>
        <p:nvSpPr>
          <p:cNvPr id="6" name="a1:stack 1 bg"/>
          <p:cNvSpPr/>
          <p:nvPr/>
        </p:nvSpPr>
        <p:spPr>
          <a:xfrm>
            <a:off x="548640" y="228600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7" name="a1:stack 1 text"/>
          <p:cNvSpPr txBox="1"/>
          <p:nvPr/>
        </p:nvSpPr>
        <p:spPr>
          <a:xfrm>
            <a:off x="54864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8" name="a1:stack 2 bg"/>
          <p:cNvSpPr/>
          <p:nvPr/>
        </p:nvSpPr>
        <p:spPr>
          <a:xfrm>
            <a:off x="2514600" y="228600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9" name="a1:stack 2 text"/>
          <p:cNvSpPr txBox="1"/>
          <p:nvPr/>
        </p:nvSpPr>
        <p:spPr>
          <a:xfrm>
            <a:off x="251460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Excalidraw</a:t>
            </a:r>
            <a:endParaRPr lang="en-US" sz="1500" dirty="0"/>
          </a:p>
        </p:txBody>
      </p:sp>
      <p:sp>
        <p:nvSpPr>
          <p:cNvPr id="10" name="a1:stack 3 bg"/>
          <p:cNvSpPr/>
          <p:nvPr/>
        </p:nvSpPr>
        <p:spPr>
          <a:xfrm>
            <a:off x="548640" y="315468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1" name="a1:stack 3 text"/>
          <p:cNvSpPr txBox="1"/>
          <p:nvPr/>
        </p:nvSpPr>
        <p:spPr>
          <a:xfrm>
            <a:off x="54864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Node.js</a:t>
            </a:r>
            <a:endParaRPr lang="en-US" sz="1500" dirty="0"/>
          </a:p>
        </p:txBody>
      </p:sp>
      <p:sp>
        <p:nvSpPr>
          <p:cNvPr id="12" name="a1:stack 4 bg"/>
          <p:cNvSpPr/>
          <p:nvPr/>
        </p:nvSpPr>
        <p:spPr>
          <a:xfrm>
            <a:off x="2514600" y="315468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3" name="a1:stack 4 text"/>
          <p:cNvSpPr txBox="1"/>
          <p:nvPr/>
        </p:nvSpPr>
        <p:spPr>
          <a:xfrm>
            <a:off x="251460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</a:t>
            </a:r>
            <a:endParaRPr lang="en-US" sz="1500" dirty="0"/>
          </a:p>
        </p:txBody>
      </p:sp>
      <p:sp>
        <p:nvSpPr>
          <p:cNvPr id="14" name="a1:stack 5 bg"/>
          <p:cNvSpPr/>
          <p:nvPr/>
        </p:nvSpPr>
        <p:spPr>
          <a:xfrm>
            <a:off x="548640" y="402336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5" name="a1:stack 5 text"/>
          <p:cNvSpPr txBox="1"/>
          <p:nvPr/>
        </p:nvSpPr>
        <p:spPr>
          <a:xfrm>
            <a:off x="54864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g++ (C++17)</a:t>
            </a:r>
            <a:endParaRPr lang="en-US" sz="1500" dirty="0"/>
          </a:p>
        </p:txBody>
      </p:sp>
      <p:sp>
        <p:nvSpPr>
          <p:cNvPr id="16" name="a1:stack 6 bg"/>
          <p:cNvSpPr/>
          <p:nvPr/>
        </p:nvSpPr>
        <p:spPr>
          <a:xfrm>
            <a:off x="2514600" y="402336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7" name="a1:stack 6 text"/>
          <p:cNvSpPr txBox="1"/>
          <p:nvPr/>
        </p:nvSpPr>
        <p:spPr>
          <a:xfrm>
            <a:off x="251460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</a:t>
            </a:r>
            <a:endParaRPr lang="en-US" sz="1500" dirty="0"/>
          </a:p>
        </p:txBody>
      </p:sp>
      <p:sp>
        <p:nvSpPr>
          <p:cNvPr id="18" name="a1:stack 7 bg"/>
          <p:cNvSpPr/>
          <p:nvPr/>
        </p:nvSpPr>
        <p:spPr>
          <a:xfrm>
            <a:off x="548640" y="489204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9" name="a1:stack 7 text"/>
          <p:cNvSpPr txBox="1"/>
          <p:nvPr/>
        </p:nvSpPr>
        <p:spPr>
          <a:xfrm>
            <a:off x="548640" y="4892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Wandbox</a:t>
            </a:r>
            <a:endParaRPr lang="en-US" sz="1500" dirty="0"/>
          </a:p>
        </p:txBody>
      </p:sp>
      <p:sp>
        <p:nvSpPr>
          <p:cNvPr id="20" name="a1:stack 8 bg"/>
          <p:cNvSpPr/>
          <p:nvPr/>
        </p:nvSpPr>
        <p:spPr>
          <a:xfrm>
            <a:off x="2514600" y="489204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1" name="a1:stack 8 text"/>
          <p:cNvSpPr txBox="1"/>
          <p:nvPr/>
        </p:nvSpPr>
        <p:spPr>
          <a:xfrm>
            <a:off x="2514600" y="4892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</a:t>
            </a:r>
            <a:endParaRPr lang="en-US" sz="1500" dirty="0"/>
          </a:p>
        </p:txBody>
      </p:sp>
      <p:sp>
        <p:nvSpPr>
          <p:cNvPr id="22" name="a2:ai label"/>
          <p:cNvSpPr txBox="1"/>
          <p:nvPr/>
        </p:nvSpPr>
        <p:spPr>
          <a:xfrm>
            <a:off x="49377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IN THE PRODUCT</a:t>
            </a:r>
            <a:endParaRPr lang="en-US" sz="1100" dirty="0"/>
          </a:p>
        </p:txBody>
      </p:sp>
      <p:sp>
        <p:nvSpPr>
          <p:cNvPr id="23" name="a2:ai bg"/>
          <p:cNvSpPr/>
          <p:nvPr/>
        </p:nvSpPr>
        <p:spPr>
          <a:xfrm>
            <a:off x="4937760" y="2286000"/>
            <a:ext cx="3291840" cy="333756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4" name="a2:ai strip"/>
          <p:cNvSpPr/>
          <p:nvPr/>
        </p:nvSpPr>
        <p:spPr>
          <a:xfrm>
            <a:off x="4937760" y="2286000"/>
            <a:ext cx="3291840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5" name="a2:ai head"/>
          <p:cNvSpPr txBox="1"/>
          <p:nvPr/>
        </p:nvSpPr>
        <p:spPr>
          <a:xfrm>
            <a:off x="521208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API</a:t>
            </a:r>
            <a:endParaRPr lang="en-US" sz="2000" dirty="0"/>
          </a:p>
        </p:txBody>
      </p:sp>
      <p:sp>
        <p:nvSpPr>
          <p:cNvPr id="26" name="a2:ai list"/>
          <p:cNvSpPr txBox="1"/>
          <p:nvPr/>
        </p:nvSpPr>
        <p:spPr>
          <a:xfrm>
            <a:off x="5212080" y="32004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Reads handwriting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Arranges snippets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Writes from plain steps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Suggests fixes on request</a:t>
            </a:r>
            <a:endParaRPr lang="en-US" sz="1500" dirty="0"/>
          </a:p>
        </p:txBody>
      </p:sp>
      <p:sp>
        <p:nvSpPr>
          <p:cNvPr id="27" name="a3:build label"/>
          <p:cNvSpPr txBox="1"/>
          <p:nvPr/>
        </p:nvSpPr>
        <p:spPr>
          <a:xfrm>
            <a:off x="859536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 AI HELP</a:t>
            </a:r>
            <a:endParaRPr lang="en-US" sz="1100" dirty="0"/>
          </a:p>
        </p:txBody>
      </p:sp>
      <p:sp>
        <p:nvSpPr>
          <p:cNvPr id="28" name="a3:build bg"/>
          <p:cNvSpPr/>
          <p:nvPr/>
        </p:nvSpPr>
        <p:spPr>
          <a:xfrm>
            <a:off x="8595360" y="2286000"/>
            <a:ext cx="3044952" cy="333756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9" name="a3:build strip"/>
          <p:cNvSpPr/>
          <p:nvPr/>
        </p:nvSpPr>
        <p:spPr>
          <a:xfrm>
            <a:off x="8595360" y="2286000"/>
            <a:ext cx="3044952" cy="73152"/>
          </a:xfrm>
          <a:prstGeom prst="rect">
            <a:avLst/>
          </a:prstGeom>
          <a:solidFill>
            <a:srgbClr val="8FA6FF"/>
          </a:solidFill>
          <a:ln w="12700">
            <a:solidFill>
              <a:srgbClr val="8FA6FF"/>
            </a:solidFill>
            <a:prstDash val="solid"/>
          </a:ln>
        </p:spPr>
      </p:sp>
      <p:sp>
        <p:nvSpPr>
          <p:cNvPr id="30" name="a3:build head"/>
          <p:cNvSpPr txBox="1"/>
          <p:nvPr/>
        </p:nvSpPr>
        <p:spPr>
          <a:xfrm>
            <a:off x="8869680" y="2606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OpenAI Codex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31" name="a3:build text"/>
          <p:cNvSpPr txBox="1"/>
          <p:nvPr/>
        </p:nvSpPr>
        <p:spPr>
          <a:xfrm>
            <a:off x="8869680" y="365760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Used to write and test the code. Excalidraw is the open-source board we build on.</a:t>
            </a:r>
            <a:endParaRPr lang="en-US" sz="1400" dirty="0"/>
          </a:p>
        </p:txBody>
      </p:sp>
      <p:sp>
        <p:nvSpPr>
          <p:cNvPr id="32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3A4066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4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5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6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7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8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9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0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1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theme/theme1.xml><?xml version="1.0" encoding="utf-8"?>
<a:theme xmlns:a="http://schemas.openxmlformats.org/drawingml/2006/main" name="Boardroom">
  <a:themeElements>
    <a:clrScheme name="Boardroom">
      <a:dk1>
        <a:srgbClr val="0E1330"/>
      </a:dk1>
      <a:lt1>
        <a:srgbClr val="FFFFFF"/>
      </a:lt1>
      <a:dk2>
        <a:srgbClr val="0E1330"/>
      </a:dk2>
      <a:lt2>
        <a:srgbClr val="F6F4EE"/>
      </a:lt2>
      <a:accent1>
        <a:srgbClr val="FF5A4E"/>
      </a:accent1>
      <a:accent2>
        <a:srgbClr val="FFC531"/>
      </a:accent2>
      <a:accent3>
        <a:srgbClr val="3355FF"/>
      </a:accent3>
      <a:accent4>
        <a:srgbClr val="DCE4FF"/>
      </a:accent4>
      <a:accent5>
        <a:srgbClr val="5B6075"/>
      </a:accent5>
      <a:accent6>
        <a:srgbClr val="F6F4EE"/>
      </a:accent6>
      <a:hlink>
        <a:srgbClr val="3355FF"/>
      </a:hlink>
      <a:folHlink>
        <a:srgbClr val="3355FF"/>
      </a:folHlink>
    </a:clrScheme>
    <a:fontScheme name="Boardroom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Boardroom: the whiteboard that runs your code</dc:title>
  <dc:subject>PptxGenJS Presentation</dc:subject>
  <dc:creator>Craft N Code Karnataka 2026 team</dc:creator>
  <cp:lastModifiedBy>Craft N Code Karnataka 2026 team</cp:lastModifiedBy>
  <cp:revision>1</cp:revision>
  <dcterms:created xsi:type="dcterms:W3CDTF">2026-10-18T15:28:22Z</dcterms:created>
  <dcterms:modified xsi:type="dcterms:W3CDTF">2026-10-18T15:28:22Z</dcterms:modified>
</cp:coreProperties>
</file>