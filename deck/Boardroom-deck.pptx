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" Type="http://schemas.openxmlformats.org/officeDocument/2006/relationships/image" Target="../media/image-1-1.png"/><Relationship Id="rId2" Type="http://schemas.openxmlformats.org/officeDocument/2006/relationships/image" Target="../media/image-1-2.gif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2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3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4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" Type="http://schemas.openxmlformats.org/officeDocument/2006/relationships/image" Target="../media/image-5-1.png"/><Relationship Id="rId2" Type="http://schemas.openxmlformats.org/officeDocument/2006/relationships/image" Target="../media/image-5-2.gif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7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ftone" descr="Halftone 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4965192" cy="4965192"/>
          </a:xfrm>
          <a:prstGeom prst="rect">
            <a:avLst/>
          </a:prstGeom>
        </p:spPr>
      </p:pic>
      <p:sp>
        <p:nvSpPr>
          <p:cNvPr id="3" name="event chip shadow"/>
          <p:cNvSpPr/>
          <p:nvPr/>
        </p:nvSpPr>
        <p:spPr>
          <a:xfrm>
            <a:off x="603504" y="512064"/>
            <a:ext cx="411480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event chip body"/>
          <p:cNvSpPr/>
          <p:nvPr/>
        </p:nvSpPr>
        <p:spPr>
          <a:xfrm>
            <a:off x="548640" y="457200"/>
            <a:ext cx="4114800" cy="420624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" name="event chip text"/>
          <p:cNvSpPr txBox="1"/>
          <p:nvPr/>
        </p:nvSpPr>
        <p:spPr>
          <a:xfrm>
            <a:off x="548640" y="457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</a:t>
            </a:r>
            <a:endParaRPr lang="en-US" sz="1400" dirty="0"/>
          </a:p>
        </p:txBody>
      </p:sp>
      <p:sp>
        <p:nvSpPr>
          <p:cNvPr id="6" name="theme chip shadow"/>
          <p:cNvSpPr/>
          <p:nvPr/>
        </p:nvSpPr>
        <p:spPr>
          <a:xfrm>
            <a:off x="4901184" y="512064"/>
            <a:ext cx="2560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heme chip body"/>
          <p:cNvSpPr/>
          <p:nvPr/>
        </p:nvSpPr>
        <p:spPr>
          <a:xfrm>
            <a:off x="4846320" y="457200"/>
            <a:ext cx="2560320" cy="420624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heme chip text"/>
          <p:cNvSpPr txBox="1"/>
          <p:nvPr/>
        </p:nvSpPr>
        <p:spPr>
          <a:xfrm>
            <a:off x="4846320" y="4572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FOR EDUCATION</a:t>
            </a:r>
            <a:endParaRPr lang="en-US" sz="1400" dirty="0"/>
          </a:p>
        </p:txBody>
      </p:sp>
      <p:sp>
        <p:nvSpPr>
          <p:cNvPr id="9" name="cover title 1"/>
          <p:cNvSpPr txBox="1"/>
          <p:nvPr/>
        </p:nvSpPr>
        <p:spPr>
          <a:xfrm>
            <a:off x="502920" y="10515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</a:t>
            </a:r>
            <a:endParaRPr lang="en-US" sz="13000" dirty="0"/>
          </a:p>
        </p:txBody>
      </p:sp>
      <p:sp>
        <p:nvSpPr>
          <p:cNvPr id="10" name="cover title 2"/>
          <p:cNvSpPr txBox="1"/>
          <p:nvPr/>
        </p:nvSpPr>
        <p:spPr>
          <a:xfrm>
            <a:off x="502920" y="26060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ROOM.</a:t>
            </a:r>
            <a:endParaRPr lang="en-US" sz="13000" dirty="0"/>
          </a:p>
        </p:txBody>
      </p:sp>
      <p:sp>
        <p:nvSpPr>
          <p:cNvPr id="11" name="a1:tagline shadow"/>
          <p:cNvSpPr/>
          <p:nvPr/>
        </p:nvSpPr>
        <p:spPr>
          <a:xfrm>
            <a:off x="640080" y="4663440"/>
            <a:ext cx="63093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a1:tagline body"/>
          <p:cNvSpPr/>
          <p:nvPr/>
        </p:nvSpPr>
        <p:spPr>
          <a:xfrm>
            <a:off x="548640" y="4572000"/>
            <a:ext cx="6309360" cy="12344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a1:tagline text"/>
          <p:cNvSpPr txBox="1"/>
          <p:nvPr/>
        </p:nvSpPr>
        <p:spPr>
          <a:xfrm>
            <a:off x="777240" y="46634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RUNS YOUR CODE.</a:t>
            </a:r>
            <a:endParaRPr lang="en-US" sz="2800" dirty="0"/>
          </a:p>
        </p:txBody>
      </p:sp>
      <p:sp>
        <p:nvSpPr>
          <p:cNvPr id="14" name="cover simulation shadow"/>
          <p:cNvSpPr/>
          <p:nvPr/>
        </p:nvSpPr>
        <p:spPr>
          <a:xfrm>
            <a:off x="7287768" y="1481328"/>
            <a:ext cx="4572000" cy="2788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cover simulation" descr="Animation: code is typed on a board, blue input 3 5 is added, Run is pressed and 3 + 5 = 8 appear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371600"/>
            <a:ext cx="4572000" cy="2788920"/>
          </a:xfrm>
          <a:prstGeom prst="rect">
            <a:avLst/>
          </a:prstGeom>
        </p:spPr>
      </p:pic>
      <p:sp>
        <p:nvSpPr>
          <p:cNvPr id="16" name="cover simulation border"/>
          <p:cNvSpPr/>
          <p:nvPr/>
        </p:nvSpPr>
        <p:spPr>
          <a:xfrm>
            <a:off x="7178040" y="1371600"/>
            <a:ext cx="4572000" cy="2788920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17" name="loop sticker shadow"/>
          <p:cNvSpPr/>
          <p:nvPr/>
        </p:nvSpPr>
        <p:spPr>
          <a:xfrm>
            <a:off x="6912864" y="1078992"/>
            <a:ext cx="17373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loop sticker body"/>
          <p:cNvSpPr/>
          <p:nvPr/>
        </p:nvSpPr>
        <p:spPr>
          <a:xfrm>
            <a:off x="6858000" y="1024128"/>
            <a:ext cx="1737360" cy="36576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loop sticker text"/>
          <p:cNvSpPr txBox="1"/>
          <p:nvPr/>
        </p:nvSpPr>
        <p:spPr>
          <a:xfrm>
            <a:off x="6858000" y="1024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LOOP</a:t>
            </a:r>
            <a:endParaRPr lang="en-US" sz="1300" dirty="0"/>
          </a:p>
        </p:txBody>
      </p:sp>
      <p:sp>
        <p:nvSpPr>
          <p:cNvPr id="20" name="a2:verb 1 shadow"/>
          <p:cNvSpPr/>
          <p:nvPr/>
        </p:nvSpPr>
        <p:spPr>
          <a:xfrm>
            <a:off x="7232904" y="4672584"/>
            <a:ext cx="14173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2:verb 1 body"/>
          <p:cNvSpPr/>
          <p:nvPr/>
        </p:nvSpPr>
        <p:spPr>
          <a:xfrm>
            <a:off x="7178040" y="4617720"/>
            <a:ext cx="1417320" cy="457200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a2:verb 1 text"/>
          <p:cNvSpPr txBox="1"/>
          <p:nvPr/>
        </p:nvSpPr>
        <p:spPr>
          <a:xfrm>
            <a:off x="717804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OR WRITE</a:t>
            </a:r>
            <a:endParaRPr lang="en-US" sz="1200" dirty="0"/>
          </a:p>
        </p:txBody>
      </p:sp>
      <p:sp>
        <p:nvSpPr>
          <p:cNvPr id="23" name="a2:verb 2 shadow"/>
          <p:cNvSpPr/>
          <p:nvPr/>
        </p:nvSpPr>
        <p:spPr>
          <a:xfrm>
            <a:off x="8787384" y="4672584"/>
            <a:ext cx="12344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2:verb 2 body"/>
          <p:cNvSpPr/>
          <p:nvPr/>
        </p:nvSpPr>
        <p:spPr>
          <a:xfrm>
            <a:off x="8732520" y="4617720"/>
            <a:ext cx="1234440" cy="4572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a2:verb 2 text"/>
          <p:cNvSpPr txBox="1"/>
          <p:nvPr/>
        </p:nvSpPr>
        <p:spPr>
          <a:xfrm>
            <a:off x="8732520" y="4617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200" dirty="0"/>
          </a:p>
        </p:txBody>
      </p:sp>
      <p:sp>
        <p:nvSpPr>
          <p:cNvPr id="26" name="a2:verb 3 shadow"/>
          <p:cNvSpPr/>
          <p:nvPr/>
        </p:nvSpPr>
        <p:spPr>
          <a:xfrm>
            <a:off x="10158984" y="4672584"/>
            <a:ext cx="1645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a2:verb 3 body"/>
          <p:cNvSpPr/>
          <p:nvPr/>
        </p:nvSpPr>
        <p:spPr>
          <a:xfrm>
            <a:off x="10104120" y="4617720"/>
            <a:ext cx="1645920" cy="457200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a2:verb 3 text"/>
          <p:cNvSpPr txBox="1"/>
          <p:nvPr/>
        </p:nvSpPr>
        <p:spPr>
          <a:xfrm>
            <a:off x="1010412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200" dirty="0"/>
          </a:p>
        </p:txBody>
      </p:sp>
      <p:sp>
        <p:nvSpPr>
          <p:cNvPr id="29" name="a2:language star shadow"/>
          <p:cNvSpPr/>
          <p:nvPr/>
        </p:nvSpPr>
        <p:spPr>
          <a:xfrm>
            <a:off x="10799064" y="146304"/>
            <a:ext cx="1280160" cy="128016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2:language star body"/>
          <p:cNvSpPr/>
          <p:nvPr/>
        </p:nvSpPr>
        <p:spPr>
          <a:xfrm>
            <a:off x="10744200" y="91440"/>
            <a:ext cx="1280160" cy="128016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1" name="a2:language star text"/>
          <p:cNvSpPr txBox="1"/>
          <p:nvPr/>
        </p:nvSpPr>
        <p:spPr>
          <a:xfrm>
            <a:off x="10744200" y="4754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C++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717804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CLICK TO REVEAL  ▸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4" name="nav 1">
            <a:hlinkClick r:id="rId3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5" name="nav 2">
            <a:hlinkClick r:id="rId4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36" name="nav 3">
            <a:hlinkClick r:id="rId5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37" name="nav 4">
            <a:hlinkClick r:id="rId6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8" name="nav 5">
            <a:hlinkClick r:id="rId7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9" name="nav 6">
            <a:hlinkClick r:id="rId8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0" name="nav 7">
            <a:hlinkClick r:id="rId9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1" name="nav 8">
            <a:hlinkClick r:id="rId10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0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descr="Graph paper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33101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THE PROBLEM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5000" dirty="0"/>
          </a:p>
        </p:txBody>
      </p:sp>
      <p:sp>
        <p:nvSpPr>
          <p:cNvPr id="5" name="card shadow"/>
          <p:cNvSpPr/>
          <p:nvPr/>
        </p:nvSpPr>
        <p:spPr>
          <a:xfrm>
            <a:off x="640080" y="2697480"/>
            <a:ext cx="566928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card body"/>
          <p:cNvSpPr/>
          <p:nvPr/>
        </p:nvSpPr>
        <p:spPr>
          <a:xfrm>
            <a:off x="548640" y="2606040"/>
            <a:ext cx="5669280" cy="18288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7432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on a board. Checking the example means leaving the lesson for a separate IDE.</a:t>
            </a:r>
            <a:endParaRPr lang="en-US" sz="2000" dirty="0"/>
          </a:p>
        </p:txBody>
      </p:sp>
      <p:sp>
        <p:nvSpPr>
          <p:cNvPr id="8" name="premise sticker shadow"/>
          <p:cNvSpPr/>
          <p:nvPr/>
        </p:nvSpPr>
        <p:spPr>
          <a:xfrm>
            <a:off x="603504" y="4809744"/>
            <a:ext cx="356616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premise sticker body"/>
          <p:cNvSpPr/>
          <p:nvPr/>
        </p:nvSpPr>
        <p:spPr>
          <a:xfrm>
            <a:off x="548640" y="4754880"/>
            <a:ext cx="3566160" cy="420624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premise sticker text"/>
          <p:cNvSpPr txBox="1"/>
          <p:nvPr/>
        </p:nvSpPr>
        <p:spPr>
          <a:xfrm>
            <a:off x="548640" y="47548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</a:t>
            </a:r>
            <a:endParaRPr lang="en-US" sz="1200" dirty="0"/>
          </a:p>
        </p:txBody>
      </p:sp>
      <p:sp>
        <p:nvSpPr>
          <p:cNvPr id="11" name="user chip shadow"/>
          <p:cNvSpPr/>
          <p:nvPr/>
        </p:nvSpPr>
        <p:spPr>
          <a:xfrm>
            <a:off x="4352544" y="4809744"/>
            <a:ext cx="21031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user chip body"/>
          <p:cNvSpPr/>
          <p:nvPr/>
        </p:nvSpPr>
        <p:spPr>
          <a:xfrm>
            <a:off x="4297680" y="4754880"/>
            <a:ext cx="2103120" cy="420624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user chip text"/>
          <p:cNvSpPr txBox="1"/>
          <p:nvPr/>
        </p:nvSpPr>
        <p:spPr>
          <a:xfrm>
            <a:off x="4297680" y="47548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TEACHERS</a:t>
            </a:r>
            <a:endParaRPr lang="en-US" sz="1200" dirty="0"/>
          </a:p>
        </p:txBody>
      </p:sp>
      <p:sp>
        <p:nvSpPr>
          <p:cNvPr id="14" name="card shadow"/>
          <p:cNvSpPr/>
          <p:nvPr/>
        </p:nvSpPr>
        <p:spPr>
          <a:xfrm>
            <a:off x="7132320" y="1143000"/>
            <a:ext cx="4572000" cy="2240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card body"/>
          <p:cNvSpPr/>
          <p:nvPr/>
        </p:nvSpPr>
        <p:spPr>
          <a:xfrm>
            <a:off x="7040880" y="1051560"/>
            <a:ext cx="4572000" cy="2240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1051560"/>
            <a:ext cx="155448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160020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▾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▾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600" dirty="0"/>
          </a:p>
        </p:txBody>
      </p:sp>
      <p:sp>
        <p:nvSpPr>
          <p:cNvPr id="18" name="a1:after panel shadow"/>
          <p:cNvSpPr/>
          <p:nvPr/>
        </p:nvSpPr>
        <p:spPr>
          <a:xfrm>
            <a:off x="6848856" y="3739896"/>
            <a:ext cx="4892040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a1:after panel body"/>
          <p:cNvSpPr/>
          <p:nvPr/>
        </p:nvSpPr>
        <p:spPr>
          <a:xfrm>
            <a:off x="6720840" y="3611880"/>
            <a:ext cx="4892040" cy="24231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0" name="a1:after label"/>
          <p:cNvSpPr txBox="1"/>
          <p:nvPr/>
        </p:nvSpPr>
        <p:spPr>
          <a:xfrm>
            <a:off x="6720840" y="3611880"/>
            <a:ext cx="265176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400" dirty="0"/>
          </a:p>
        </p:txBody>
      </p:sp>
      <p:sp>
        <p:nvSpPr>
          <p:cNvPr id="21" name="a1:after steps"/>
          <p:cNvSpPr txBox="1"/>
          <p:nvPr/>
        </p:nvSpPr>
        <p:spPr>
          <a:xfrm>
            <a:off x="694944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 ▸  SELECT  ▸  RUN</a:t>
            </a:r>
            <a:endParaRPr lang="en-US" sz="2600" dirty="0"/>
          </a:p>
        </p:txBody>
      </p:sp>
      <p:sp>
        <p:nvSpPr>
          <p:cNvPr id="22" name="a1:after text"/>
          <p:cNvSpPr txBox="1"/>
          <p:nvPr/>
        </p:nvSpPr>
        <p:spPr>
          <a:xfrm>
            <a:off x="6949440" y="48463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are underlined in the code. The lesson never leaves the board.</a:t>
            </a:r>
            <a:endParaRPr lang="en-US" sz="1800" dirty="0"/>
          </a:p>
        </p:txBody>
      </p:sp>
      <p:sp>
        <p:nvSpPr>
          <p:cNvPr id="23" name="a1:after star shadow"/>
          <p:cNvSpPr/>
          <p:nvPr/>
        </p:nvSpPr>
        <p:spPr>
          <a:xfrm rot="-600000">
            <a:off x="10890504" y="3118104"/>
            <a:ext cx="1005840" cy="100584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1:after star body"/>
          <p:cNvSpPr/>
          <p:nvPr/>
        </p:nvSpPr>
        <p:spPr>
          <a:xfrm rot="-600000">
            <a:off x="10835640" y="3063240"/>
            <a:ext cx="1005840" cy="100584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26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27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28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29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0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1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32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33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STEPS FROM INK TO ANSWER.</a:t>
            </a:r>
            <a:endParaRPr lang="en-US" sz="3800" dirty="0"/>
          </a:p>
        </p:txBody>
      </p:sp>
      <p:sp>
        <p:nvSpPr>
          <p:cNvPr id="4" name="a1:step 1 badge shadow"/>
          <p:cNvSpPr/>
          <p:nvPr/>
        </p:nvSpPr>
        <p:spPr>
          <a:xfrm>
            <a:off x="612648" y="1847088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a1:step 1 badge body"/>
          <p:cNvSpPr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6" name="a1:step 1 number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a1:step 1 panel shadow"/>
          <p:cNvSpPr/>
          <p:nvPr/>
        </p:nvSpPr>
        <p:spPr>
          <a:xfrm>
            <a:off x="1481328" y="1847088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a1:step 1 panel body"/>
          <p:cNvSpPr/>
          <p:nvPr/>
        </p:nvSpPr>
        <p:spPr>
          <a:xfrm>
            <a:off x="1417320" y="1783080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9" name="a1:step 1 verb"/>
          <p:cNvSpPr txBox="1"/>
          <p:nvPr/>
        </p:nvSpPr>
        <p:spPr>
          <a:xfrm>
            <a:off x="1554480" y="181965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2000" dirty="0"/>
          </a:p>
        </p:txBody>
      </p:sp>
      <p:sp>
        <p:nvSpPr>
          <p:cNvPr id="10" name="a1:step 1 text"/>
          <p:cNvSpPr txBox="1"/>
          <p:nvPr/>
        </p:nvSpPr>
        <p:spPr>
          <a:xfrm>
            <a:off x="2788920" y="1819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keyboard. Black ink is code, blue ink is input.</a:t>
            </a:r>
            <a:endParaRPr lang="en-US" sz="1400" dirty="0"/>
          </a:p>
        </p:txBody>
      </p:sp>
      <p:sp>
        <p:nvSpPr>
          <p:cNvPr id="11" name="a2:step 2 badge shadow"/>
          <p:cNvSpPr/>
          <p:nvPr/>
        </p:nvSpPr>
        <p:spPr>
          <a:xfrm>
            <a:off x="841248" y="2752344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a2:step 2 badge body"/>
          <p:cNvSpPr/>
          <p:nvPr/>
        </p:nvSpPr>
        <p:spPr>
          <a:xfrm>
            <a:off x="777240" y="2688336"/>
            <a:ext cx="731520" cy="7315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a2:step 2 number"/>
          <p:cNvSpPr txBox="1"/>
          <p:nvPr/>
        </p:nvSpPr>
        <p:spPr>
          <a:xfrm>
            <a:off x="777240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a2:step 2 panel shadow"/>
          <p:cNvSpPr/>
          <p:nvPr/>
        </p:nvSpPr>
        <p:spPr>
          <a:xfrm>
            <a:off x="1709928" y="2752344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a2:step 2 panel body"/>
          <p:cNvSpPr/>
          <p:nvPr/>
        </p:nvSpPr>
        <p:spPr>
          <a:xfrm>
            <a:off x="1645920" y="2688336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a2:step 2 verb"/>
          <p:cNvSpPr txBox="1"/>
          <p:nvPr/>
        </p:nvSpPr>
        <p:spPr>
          <a:xfrm>
            <a:off x="1783080" y="27249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2000" dirty="0"/>
          </a:p>
        </p:txBody>
      </p:sp>
      <p:sp>
        <p:nvSpPr>
          <p:cNvPr id="17" name="a2:step 2 text"/>
          <p:cNvSpPr txBox="1"/>
          <p:nvPr/>
        </p:nvSpPr>
        <p:spPr>
          <a:xfrm>
            <a:off x="3017520" y="27249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box. That region becomes the program.</a:t>
            </a:r>
            <a:endParaRPr lang="en-US" sz="1400" dirty="0"/>
          </a:p>
        </p:txBody>
      </p:sp>
      <p:sp>
        <p:nvSpPr>
          <p:cNvPr id="18" name="a3:step 3 badge shadow"/>
          <p:cNvSpPr/>
          <p:nvPr/>
        </p:nvSpPr>
        <p:spPr>
          <a:xfrm>
            <a:off x="612648" y="3657600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a3:step 3 badge body"/>
          <p:cNvSpPr/>
          <p:nvPr/>
        </p:nvSpPr>
        <p:spPr>
          <a:xfrm>
            <a:off x="548640" y="3593592"/>
            <a:ext cx="731520" cy="7315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0" name="a3:step 3 number"/>
          <p:cNvSpPr txBox="1"/>
          <p:nvPr/>
        </p:nvSpPr>
        <p:spPr>
          <a:xfrm>
            <a:off x="548640" y="3593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a3:step 3 panel shadow"/>
          <p:cNvSpPr/>
          <p:nvPr/>
        </p:nvSpPr>
        <p:spPr>
          <a:xfrm>
            <a:off x="1481328" y="3657600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a3:step 3 panel body"/>
          <p:cNvSpPr/>
          <p:nvPr/>
        </p:nvSpPr>
        <p:spPr>
          <a:xfrm>
            <a:off x="1417320" y="3593592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3" name="a3:step 3 verb"/>
          <p:cNvSpPr txBox="1"/>
          <p:nvPr/>
        </p:nvSpPr>
        <p:spPr>
          <a:xfrm>
            <a:off x="1554480" y="36301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2000" dirty="0"/>
          </a:p>
        </p:txBody>
      </p:sp>
      <p:sp>
        <p:nvSpPr>
          <p:cNvPr id="24" name="a3:step 3 text"/>
          <p:cNvSpPr txBox="1"/>
          <p:nvPr/>
        </p:nvSpPr>
        <p:spPr>
          <a:xfrm>
            <a:off x="2788920" y="36301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ink. The teacher confirms every line.</a:t>
            </a:r>
            <a:endParaRPr lang="en-US" sz="1400" dirty="0"/>
          </a:p>
        </p:txBody>
      </p:sp>
      <p:sp>
        <p:nvSpPr>
          <p:cNvPr id="25" name="a4:step 4 badge shadow"/>
          <p:cNvSpPr/>
          <p:nvPr/>
        </p:nvSpPr>
        <p:spPr>
          <a:xfrm>
            <a:off x="841248" y="4562856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4:step 4 badge body"/>
          <p:cNvSpPr/>
          <p:nvPr/>
        </p:nvSpPr>
        <p:spPr>
          <a:xfrm>
            <a:off x="777240" y="4498848"/>
            <a:ext cx="731520" cy="7315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4:step 4 number"/>
          <p:cNvSpPr txBox="1"/>
          <p:nvPr/>
        </p:nvSpPr>
        <p:spPr>
          <a:xfrm>
            <a:off x="777240" y="4498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a4:step 4 panel shadow"/>
          <p:cNvSpPr/>
          <p:nvPr/>
        </p:nvSpPr>
        <p:spPr>
          <a:xfrm>
            <a:off x="1709928" y="4562856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a4:step 4 panel body"/>
          <p:cNvSpPr/>
          <p:nvPr/>
        </p:nvSpPr>
        <p:spPr>
          <a:xfrm>
            <a:off x="1645920" y="4498848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0" name="a4:step 4 verb"/>
          <p:cNvSpPr txBox="1"/>
          <p:nvPr/>
        </p:nvSpPr>
        <p:spPr>
          <a:xfrm>
            <a:off x="1783080" y="453542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2000" dirty="0"/>
          </a:p>
        </p:txBody>
      </p:sp>
      <p:sp>
        <p:nvSpPr>
          <p:cNvPr id="31" name="a4:step 4 text"/>
          <p:cNvSpPr txBox="1"/>
          <p:nvPr/>
        </p:nvSpPr>
        <p:spPr>
          <a:xfrm>
            <a:off x="3017520" y="45354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throwaway Docker container compiles and runs it.</a:t>
            </a:r>
            <a:endParaRPr lang="en-US" sz="1400" dirty="0"/>
          </a:p>
        </p:txBody>
      </p:sp>
      <p:sp>
        <p:nvSpPr>
          <p:cNvPr id="32" name="a5:step 5 badge shadow"/>
          <p:cNvSpPr/>
          <p:nvPr/>
        </p:nvSpPr>
        <p:spPr>
          <a:xfrm>
            <a:off x="612648" y="5468112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a5:step 5 badge body"/>
          <p:cNvSpPr/>
          <p:nvPr/>
        </p:nvSpPr>
        <p:spPr>
          <a:xfrm>
            <a:off x="548640" y="5404104"/>
            <a:ext cx="731520" cy="7315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4" name="a5:step 5 number"/>
          <p:cNvSpPr txBox="1"/>
          <p:nvPr/>
        </p:nvSpPr>
        <p:spPr>
          <a:xfrm>
            <a:off x="548640" y="54041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200" dirty="0"/>
          </a:p>
        </p:txBody>
      </p:sp>
      <p:sp>
        <p:nvSpPr>
          <p:cNvPr id="35" name="a5:step 5 panel shadow"/>
          <p:cNvSpPr/>
          <p:nvPr/>
        </p:nvSpPr>
        <p:spPr>
          <a:xfrm>
            <a:off x="1481328" y="5468112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5:step 5 panel body"/>
          <p:cNvSpPr/>
          <p:nvPr/>
        </p:nvSpPr>
        <p:spPr>
          <a:xfrm>
            <a:off x="1417320" y="5404104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7" name="a5:step 5 verb"/>
          <p:cNvSpPr txBox="1"/>
          <p:nvPr/>
        </p:nvSpPr>
        <p:spPr>
          <a:xfrm>
            <a:off x="1554480" y="54406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2000" dirty="0"/>
          </a:p>
        </p:txBody>
      </p:sp>
      <p:sp>
        <p:nvSpPr>
          <p:cNvPr id="38" name="a5:step 5 text"/>
          <p:cNvSpPr txBox="1"/>
          <p:nvPr/>
        </p:nvSpPr>
        <p:spPr>
          <a:xfrm>
            <a:off x="2788920" y="5440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appear in the code panel.</a:t>
            </a:r>
            <a:endParaRPr lang="en-US" sz="1400" dirty="0"/>
          </a:p>
        </p:txBody>
      </p:sp>
      <p:sp>
        <p:nvSpPr>
          <p:cNvPr id="39" name="review simulation shadow"/>
          <p:cNvSpPr/>
          <p:nvPr/>
        </p:nvSpPr>
        <p:spPr>
          <a:xfrm>
            <a:off x="7196328" y="1892808"/>
            <a:ext cx="4572000" cy="2788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0" name="review simulation" descr="Animation: scribbled handwriting is read into code, one line is flagged CHECK, the teacher ticks a confirmation box and only then can the code ru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4572000" cy="2788920"/>
          </a:xfrm>
          <a:prstGeom prst="rect">
            <a:avLst/>
          </a:prstGeom>
        </p:spPr>
      </p:pic>
      <p:sp>
        <p:nvSpPr>
          <p:cNvPr id="41" name="review simulation border"/>
          <p:cNvSpPr/>
          <p:nvPr/>
        </p:nvSpPr>
        <p:spPr>
          <a:xfrm>
            <a:off x="7086600" y="1783080"/>
            <a:ext cx="4572000" cy="2788920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42" name="sim sticker shadow"/>
          <p:cNvSpPr/>
          <p:nvPr/>
        </p:nvSpPr>
        <p:spPr>
          <a:xfrm>
            <a:off x="6867144" y="1536192"/>
            <a:ext cx="21945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im sticker body"/>
          <p:cNvSpPr/>
          <p:nvPr/>
        </p:nvSpPr>
        <p:spPr>
          <a:xfrm>
            <a:off x="6812280" y="1481328"/>
            <a:ext cx="2194560" cy="347472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4" name="sim sticker text"/>
          <p:cNvSpPr txBox="1"/>
          <p:nvPr/>
        </p:nvSpPr>
        <p:spPr>
          <a:xfrm>
            <a:off x="6812280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3, SIMULATED</a:t>
            </a:r>
            <a:endParaRPr lang="en-US" sz="1200" dirty="0"/>
          </a:p>
        </p:txBody>
      </p:sp>
      <p:sp>
        <p:nvSpPr>
          <p:cNvPr id="45" name="a5:error panel shadow"/>
          <p:cNvSpPr/>
          <p:nvPr/>
        </p:nvSpPr>
        <p:spPr>
          <a:xfrm>
            <a:off x="7178040" y="5029200"/>
            <a:ext cx="4572000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a5:error panel body"/>
          <p:cNvSpPr/>
          <p:nvPr/>
        </p:nvSpPr>
        <p:spPr>
          <a:xfrm>
            <a:off x="7086600" y="4937760"/>
            <a:ext cx="4572000" cy="13258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7" name="a5:error code"/>
          <p:cNvSpPr txBox="1"/>
          <p:nvPr/>
        </p:nvSpPr>
        <p:spPr>
          <a:xfrm>
            <a:off x="7269480" y="5029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 = 1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printf("%d", x);</a:t>
            </a:r>
            <a:endParaRPr lang="en-US" sz="1500" dirty="0"/>
          </a:p>
        </p:txBody>
      </p:sp>
      <p:sp>
        <p:nvSpPr>
          <p:cNvPr id="48" name="a5:squiggle"/>
          <p:cNvSpPr/>
          <p:nvPr/>
        </p:nvSpPr>
        <p:spPr>
          <a:xfrm>
            <a:off x="7498080" y="5303520"/>
            <a:ext cx="118872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a5:diagnostic chip shadow"/>
          <p:cNvSpPr/>
          <p:nvPr/>
        </p:nvSpPr>
        <p:spPr>
          <a:xfrm>
            <a:off x="7370064" y="5888736"/>
            <a:ext cx="20116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a5:diagnostic chip body"/>
          <p:cNvSpPr/>
          <p:nvPr/>
        </p:nvSpPr>
        <p:spPr>
          <a:xfrm>
            <a:off x="7315200" y="5833872"/>
            <a:ext cx="2011680" cy="347472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1" name="a5:diagnostic chip text"/>
          <p:cNvSpPr txBox="1"/>
          <p:nvPr/>
        </p:nvSpPr>
        <p:spPr>
          <a:xfrm>
            <a:off x="7315200" y="5833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L1 · expected ‘;’</a:t>
            </a:r>
            <a:endParaRPr lang="en-US" sz="1200" dirty="0"/>
          </a:p>
        </p:txBody>
      </p:sp>
      <p:sp>
        <p:nvSpPr>
          <p:cNvPr id="52" name="a5:clean note"/>
          <p:cNvSpPr txBox="1"/>
          <p:nvPr/>
        </p:nvSpPr>
        <p:spPr>
          <a:xfrm>
            <a:off x="9464040" y="5760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BOARD STAYS CLEAN.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54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55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56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57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58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59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60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61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THREE MODES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SLIDER.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WAYS TO RUN.</a:t>
            </a:r>
            <a:endParaRPr lang="en-US" sz="3800" dirty="0"/>
          </a:p>
        </p:txBody>
      </p:sp>
      <p:sp>
        <p:nvSpPr>
          <p:cNvPr id="4" name="slider track"/>
          <p:cNvSpPr/>
          <p:nvPr/>
        </p:nvSpPr>
        <p:spPr>
          <a:xfrm>
            <a:off x="548640" y="2148840"/>
            <a:ext cx="6217920" cy="38404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slider fill"/>
          <p:cNvSpPr/>
          <p:nvPr/>
        </p:nvSpPr>
        <p:spPr>
          <a:xfrm>
            <a:off x="548640" y="2148840"/>
            <a:ext cx="2606040" cy="38404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6" name="slider knob"/>
          <p:cNvSpPr/>
          <p:nvPr/>
        </p:nvSpPr>
        <p:spPr>
          <a:xfrm>
            <a:off x="2651760" y="2084832"/>
            <a:ext cx="1005840" cy="512064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a1:mode 1 shadow"/>
          <p:cNvSpPr/>
          <p:nvPr/>
        </p:nvSpPr>
        <p:spPr>
          <a:xfrm>
            <a:off x="640080" y="3108960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a1:mode 1 body"/>
          <p:cNvSpPr/>
          <p:nvPr/>
        </p:nvSpPr>
        <p:spPr>
          <a:xfrm>
            <a:off x="548640" y="3017520"/>
            <a:ext cx="6217920" cy="932688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2" name="a1:mode 1 name"/>
          <p:cNvSpPr txBox="1"/>
          <p:nvPr/>
        </p:nvSpPr>
        <p:spPr>
          <a:xfrm>
            <a:off x="731520" y="3072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800" dirty="0"/>
          </a:p>
        </p:txBody>
      </p:sp>
      <p:sp>
        <p:nvSpPr>
          <p:cNvPr id="13" name="a1:mode 1 tag"/>
          <p:cNvSpPr txBox="1"/>
          <p:nvPr/>
        </p:nvSpPr>
        <p:spPr>
          <a:xfrm>
            <a:off x="4526280" y="3090672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1200" dirty="0"/>
          </a:p>
        </p:txBody>
      </p:sp>
      <p:sp>
        <p:nvSpPr>
          <p:cNvPr id="14" name="a1:mode 1 text"/>
          <p:cNvSpPr txBox="1"/>
          <p:nvPr/>
        </p:nvSpPr>
        <p:spPr>
          <a:xfrm>
            <a:off x="731520" y="343814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 No corrections.</a:t>
            </a:r>
            <a:endParaRPr lang="en-US" sz="1400" dirty="0"/>
          </a:p>
        </p:txBody>
      </p:sp>
      <p:sp>
        <p:nvSpPr>
          <p:cNvPr id="15" name="a2:mode 2 shadow"/>
          <p:cNvSpPr/>
          <p:nvPr/>
        </p:nvSpPr>
        <p:spPr>
          <a:xfrm>
            <a:off x="868680" y="4187952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a2:mode 2 body"/>
          <p:cNvSpPr/>
          <p:nvPr/>
        </p:nvSpPr>
        <p:spPr>
          <a:xfrm>
            <a:off x="777240" y="4096512"/>
            <a:ext cx="6217920" cy="932688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7" name="a2:mode 2 name"/>
          <p:cNvSpPr txBox="1"/>
          <p:nvPr/>
        </p:nvSpPr>
        <p:spPr>
          <a:xfrm>
            <a:off x="960120" y="41513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800" dirty="0"/>
          </a:p>
        </p:txBody>
      </p:sp>
      <p:sp>
        <p:nvSpPr>
          <p:cNvPr id="18" name="a2:mode 2 tag"/>
          <p:cNvSpPr txBox="1"/>
          <p:nvPr/>
        </p:nvSpPr>
        <p:spPr>
          <a:xfrm>
            <a:off x="4754880" y="4169664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1200" dirty="0"/>
          </a:p>
        </p:txBody>
      </p:sp>
      <p:sp>
        <p:nvSpPr>
          <p:cNvPr id="19" name="a2:mode 2 text"/>
          <p:cNvSpPr txBox="1"/>
          <p:nvPr/>
        </p:nvSpPr>
        <p:spPr>
          <a:xfrm>
            <a:off x="960120" y="45171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a template of headers. Gemini only arranges helpers and main(). It never fixes code.</a:t>
            </a:r>
            <a:endParaRPr lang="en-US" sz="1400" dirty="0"/>
          </a:p>
        </p:txBody>
      </p:sp>
      <p:sp>
        <p:nvSpPr>
          <p:cNvPr id="20" name="a3:mode 3 shadow"/>
          <p:cNvSpPr/>
          <p:nvPr/>
        </p:nvSpPr>
        <p:spPr>
          <a:xfrm>
            <a:off x="640080" y="5266944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3:mode 3 body"/>
          <p:cNvSpPr/>
          <p:nvPr/>
        </p:nvSpPr>
        <p:spPr>
          <a:xfrm>
            <a:off x="548640" y="5175504"/>
            <a:ext cx="6217920" cy="93268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a3:mode 3 name"/>
          <p:cNvSpPr txBox="1"/>
          <p:nvPr/>
        </p:nvSpPr>
        <p:spPr>
          <a:xfrm>
            <a:off x="73152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23" name="a3:mode 3 tag"/>
          <p:cNvSpPr txBox="1"/>
          <p:nvPr/>
        </p:nvSpPr>
        <p:spPr>
          <a:xfrm>
            <a:off x="4526280" y="5248656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1200" dirty="0"/>
          </a:p>
        </p:txBody>
      </p:sp>
      <p:sp>
        <p:nvSpPr>
          <p:cNvPr id="24" name="a3:mode 3 text"/>
          <p:cNvSpPr txBox="1"/>
          <p:nvPr/>
        </p:nvSpPr>
        <p:spPr>
          <a:xfrm>
            <a:off x="731520" y="55961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the steps in plain words. Gemini writes the program, then it compiles.</a:t>
            </a:r>
            <a:endParaRPr lang="en-US" sz="1400" dirty="0"/>
          </a:p>
        </p:txBody>
      </p:sp>
      <p:sp>
        <p:nvSpPr>
          <p:cNvPr id="25" name="snippet simulation shadow"/>
          <p:cNvSpPr/>
          <p:nvPr/>
        </p:nvSpPr>
        <p:spPr>
          <a:xfrm>
            <a:off x="7516368" y="1207008"/>
            <a:ext cx="4251960" cy="2596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6" name="snippet simulation" descr="Animation: loose statements and a helper function are rearranged under a template, main() is added around the statement, and a checker confirms nothing else chan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97280"/>
            <a:ext cx="4251960" cy="2596896"/>
          </a:xfrm>
          <a:prstGeom prst="rect">
            <a:avLst/>
          </a:prstGeom>
        </p:spPr>
      </p:pic>
      <p:sp>
        <p:nvSpPr>
          <p:cNvPr id="27" name="snippet simulation border"/>
          <p:cNvSpPr/>
          <p:nvPr/>
        </p:nvSpPr>
        <p:spPr>
          <a:xfrm>
            <a:off x="7406640" y="1097280"/>
            <a:ext cx="4251960" cy="2596896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28" name="sim sticker shadow"/>
          <p:cNvSpPr/>
          <p:nvPr/>
        </p:nvSpPr>
        <p:spPr>
          <a:xfrm>
            <a:off x="7187184" y="841248"/>
            <a:ext cx="2926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im sticker body"/>
          <p:cNvSpPr/>
          <p:nvPr/>
        </p:nvSpPr>
        <p:spPr>
          <a:xfrm>
            <a:off x="7132320" y="786384"/>
            <a:ext cx="2926080" cy="347472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sim sticker text"/>
          <p:cNvSpPr txBox="1"/>
          <p:nvPr/>
        </p:nvSpPr>
        <p:spPr>
          <a:xfrm>
            <a:off x="7132320" y="786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MODE, SIMULATED</a:t>
            </a:r>
            <a:endParaRPr lang="en-US" sz="1200" dirty="0"/>
          </a:p>
        </p:txBody>
      </p:sp>
      <p:sp>
        <p:nvSpPr>
          <p:cNvPr id="31" name="a4:fix callout shadow"/>
          <p:cNvSpPr/>
          <p:nvPr/>
        </p:nvSpPr>
        <p:spPr>
          <a:xfrm>
            <a:off x="7516368" y="4224528"/>
            <a:ext cx="4251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a4:fix callout body"/>
          <p:cNvSpPr/>
          <p:nvPr/>
        </p:nvSpPr>
        <p:spPr>
          <a:xfrm>
            <a:off x="7406640" y="4114800"/>
            <a:ext cx="4251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3" name="a4:fix title"/>
          <p:cNvSpPr txBox="1"/>
          <p:nvPr/>
        </p:nvSpPr>
        <p:spPr>
          <a:xfrm>
            <a:off x="758952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OPTIONAL: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GEMINI TO FIX</a:t>
            </a:r>
            <a:endParaRPr lang="en-US" sz="2000" dirty="0"/>
          </a:p>
        </p:txBody>
      </p:sp>
      <p:sp>
        <p:nvSpPr>
          <p:cNvPr id="34" name="a4:fix text"/>
          <p:cNvSpPr txBox="1"/>
          <p:nvPr/>
        </p:nvSpPr>
        <p:spPr>
          <a:xfrm>
            <a:off x="7589520" y="49834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Shows up only after a failed run, in any mode. The teacher clicks it. No click, no API call.</a:t>
            </a:r>
            <a:endParaRPr lang="en-US" sz="1400" dirty="0"/>
          </a:p>
        </p:txBody>
      </p:sp>
      <p:sp>
        <p:nvSpPr>
          <p:cNvPr id="35" name="a4:fix star shadow"/>
          <p:cNvSpPr/>
          <p:nvPr/>
        </p:nvSpPr>
        <p:spPr>
          <a:xfrm rot="840000">
            <a:off x="10981944" y="3803904"/>
            <a:ext cx="914400" cy="91440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4:fix star body"/>
          <p:cNvSpPr/>
          <p:nvPr/>
        </p:nvSpPr>
        <p:spPr>
          <a:xfrm rot="840000">
            <a:off x="10927080" y="3749040"/>
            <a:ext cx="914400" cy="914400"/>
          </a:xfrm>
          <a:prstGeom prst="star5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8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9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0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1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2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3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4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5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ftone" descr="Halftone 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43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SAFE BY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TO BREAK IT.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DID.</a:t>
            </a:r>
            <a:endParaRPr lang="en-US" sz="3800" dirty="0"/>
          </a:p>
        </p:txBody>
      </p:sp>
      <p:sp>
        <p:nvSpPr>
          <p:cNvPr id="5" name="sandbox simulation shadow"/>
          <p:cNvSpPr/>
          <p:nvPr/>
        </p:nvSpPr>
        <p:spPr>
          <a:xfrm>
            <a:off x="658368" y="2167128"/>
            <a:ext cx="5943600" cy="3630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5943600" cy="3630168"/>
          </a:xfrm>
          <a:prstGeom prst="rect">
            <a:avLst/>
          </a:prstGeom>
        </p:spPr>
      </p:pic>
      <p:sp>
        <p:nvSpPr>
          <p:cNvPr id="7" name="sandbox simulation border"/>
          <p:cNvSpPr/>
          <p:nvPr/>
        </p:nvSpPr>
        <p:spPr>
          <a:xfrm>
            <a:off x="548640" y="2057400"/>
            <a:ext cx="5943600" cy="3630168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8" name="sim sticker shadow"/>
          <p:cNvSpPr/>
          <p:nvPr/>
        </p:nvSpPr>
        <p:spPr>
          <a:xfrm>
            <a:off x="603504" y="5998464"/>
            <a:ext cx="35661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im sticker body"/>
          <p:cNvSpPr/>
          <p:nvPr/>
        </p:nvSpPr>
        <p:spPr>
          <a:xfrm>
            <a:off x="548640" y="5943600"/>
            <a:ext cx="3566160" cy="365760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sim sticker text"/>
          <p:cNvSpPr txBox="1"/>
          <p:nvPr/>
        </p:nvSpPr>
        <p:spPr>
          <a:xfrm>
            <a:off x="548640" y="5943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4 REAL TEST RUNS</a:t>
            </a:r>
            <a:endParaRPr lang="en-US" sz="1200" dirty="0"/>
          </a:p>
        </p:txBody>
      </p:sp>
      <p:sp>
        <p:nvSpPr>
          <p:cNvPr id="11" name="scope sticker shadow"/>
          <p:cNvSpPr/>
          <p:nvPr/>
        </p:nvSpPr>
        <p:spPr>
          <a:xfrm>
            <a:off x="4352544" y="5998464"/>
            <a:ext cx="2651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cope sticker body"/>
          <p:cNvSpPr/>
          <p:nvPr/>
        </p:nvSpPr>
        <p:spPr>
          <a:xfrm>
            <a:off x="4297680" y="5943600"/>
            <a:ext cx="265176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scope sticker text"/>
          <p:cNvSpPr txBox="1"/>
          <p:nvPr/>
        </p:nvSpPr>
        <p:spPr>
          <a:xfrm>
            <a:off x="4297680" y="5943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LOCAL: DOCKER · HOSTED: WANDBOX</a:t>
            </a:r>
            <a:endParaRPr lang="en-US" sz="900" dirty="0"/>
          </a:p>
        </p:txBody>
      </p:sp>
      <p:sp>
        <p:nvSpPr>
          <p:cNvPr id="14" name="a1:result 1 shadow"/>
          <p:cNvSpPr/>
          <p:nvPr/>
        </p:nvSpPr>
        <p:spPr>
          <a:xfrm>
            <a:off x="7159752" y="11704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a1:result 1 body"/>
          <p:cNvSpPr/>
          <p:nvPr/>
        </p:nvSpPr>
        <p:spPr>
          <a:xfrm>
            <a:off x="7086600" y="1097280"/>
            <a:ext cx="4572000" cy="749808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a1:attack 1"/>
          <p:cNvSpPr txBox="1"/>
          <p:nvPr/>
        </p:nvSpPr>
        <p:spPr>
          <a:xfrm>
            <a:off x="7269480" y="11338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7" name="a1:arrow 1"/>
          <p:cNvSpPr txBox="1"/>
          <p:nvPr/>
        </p:nvSpPr>
        <p:spPr>
          <a:xfrm>
            <a:off x="9326880" y="11338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a1:result text 1"/>
          <p:cNvSpPr txBox="1"/>
          <p:nvPr/>
        </p:nvSpPr>
        <p:spPr>
          <a:xfrm>
            <a:off x="9646920" y="11338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1500" dirty="0"/>
          </a:p>
        </p:txBody>
      </p:sp>
      <p:sp>
        <p:nvSpPr>
          <p:cNvPr id="19" name="a2:result 2 shadow"/>
          <p:cNvSpPr/>
          <p:nvPr/>
        </p:nvSpPr>
        <p:spPr>
          <a:xfrm>
            <a:off x="7159752" y="20848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a2:result 2 body"/>
          <p:cNvSpPr/>
          <p:nvPr/>
        </p:nvSpPr>
        <p:spPr>
          <a:xfrm>
            <a:off x="7086600" y="2011680"/>
            <a:ext cx="4572000" cy="749808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1" name="a2:attack 2"/>
          <p:cNvSpPr txBox="1"/>
          <p:nvPr/>
        </p:nvSpPr>
        <p:spPr>
          <a:xfrm>
            <a:off x="7269480" y="20482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22" name="a2:arrow 2"/>
          <p:cNvSpPr txBox="1"/>
          <p:nvPr/>
        </p:nvSpPr>
        <p:spPr>
          <a:xfrm>
            <a:off x="9326880" y="20482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a2:result text 2"/>
          <p:cNvSpPr txBox="1"/>
          <p:nvPr/>
        </p:nvSpPr>
        <p:spPr>
          <a:xfrm>
            <a:off x="9646920" y="20482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1500" dirty="0"/>
          </a:p>
        </p:txBody>
      </p:sp>
      <p:sp>
        <p:nvSpPr>
          <p:cNvPr id="24" name="a3:result 3 shadow"/>
          <p:cNvSpPr/>
          <p:nvPr/>
        </p:nvSpPr>
        <p:spPr>
          <a:xfrm>
            <a:off x="7159752" y="29992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a3:result 3 body"/>
          <p:cNvSpPr/>
          <p:nvPr/>
        </p:nvSpPr>
        <p:spPr>
          <a:xfrm>
            <a:off x="7086600" y="2926080"/>
            <a:ext cx="4572000" cy="74980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6" name="a3:attack 3"/>
          <p:cNvSpPr txBox="1"/>
          <p:nvPr/>
        </p:nvSpPr>
        <p:spPr>
          <a:xfrm>
            <a:off x="7269480" y="29626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27" name="a3:arrow 3"/>
          <p:cNvSpPr txBox="1"/>
          <p:nvPr/>
        </p:nvSpPr>
        <p:spPr>
          <a:xfrm>
            <a:off x="9326880" y="29626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28" name="a3:result text 3"/>
          <p:cNvSpPr txBox="1"/>
          <p:nvPr/>
        </p:nvSpPr>
        <p:spPr>
          <a:xfrm>
            <a:off x="9646920" y="29626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ASAN CATCHES IT</a:t>
            </a:r>
            <a:endParaRPr lang="en-US" sz="1500" dirty="0"/>
          </a:p>
        </p:txBody>
      </p:sp>
      <p:sp>
        <p:nvSpPr>
          <p:cNvPr id="29" name="a4:result 4 shadow"/>
          <p:cNvSpPr/>
          <p:nvPr/>
        </p:nvSpPr>
        <p:spPr>
          <a:xfrm>
            <a:off x="7159752" y="39136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4:result 4 body"/>
          <p:cNvSpPr/>
          <p:nvPr/>
        </p:nvSpPr>
        <p:spPr>
          <a:xfrm>
            <a:off x="7086600" y="3840480"/>
            <a:ext cx="4572000" cy="74980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1" name="a4:attack 4"/>
          <p:cNvSpPr txBox="1"/>
          <p:nvPr/>
        </p:nvSpPr>
        <p:spPr>
          <a:xfrm>
            <a:off x="7269480" y="38770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32" name="a4:arrow 4"/>
          <p:cNvSpPr txBox="1"/>
          <p:nvPr/>
        </p:nvSpPr>
        <p:spPr>
          <a:xfrm>
            <a:off x="9326880" y="38770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33" name="a4:result text 4"/>
          <p:cNvSpPr txBox="1"/>
          <p:nvPr/>
        </p:nvSpPr>
        <p:spPr>
          <a:xfrm>
            <a:off x="964692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1500" dirty="0"/>
          </a:p>
        </p:txBody>
      </p:sp>
      <p:sp>
        <p:nvSpPr>
          <p:cNvPr id="34" name="a5:big number shadow"/>
          <p:cNvSpPr/>
          <p:nvPr/>
        </p:nvSpPr>
        <p:spPr>
          <a:xfrm>
            <a:off x="7214616" y="5020056"/>
            <a:ext cx="457200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a5:big number body"/>
          <p:cNvSpPr/>
          <p:nvPr/>
        </p:nvSpPr>
        <p:spPr>
          <a:xfrm>
            <a:off x="7086600" y="4892040"/>
            <a:ext cx="4572000" cy="14173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6" name="a5:number"/>
          <p:cNvSpPr txBox="1"/>
          <p:nvPr/>
        </p:nvSpPr>
        <p:spPr>
          <a:xfrm>
            <a:off x="7223760" y="49377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6600" dirty="0"/>
          </a:p>
        </p:txBody>
      </p:sp>
      <p:sp>
        <p:nvSpPr>
          <p:cNvPr id="37" name="a5:number text"/>
          <p:cNvSpPr txBox="1"/>
          <p:nvPr/>
        </p:nvSpPr>
        <p:spPr>
          <a:xfrm>
            <a:off x="873252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PROBE PROGRAMS RUN IN C++ AND PYTHON</a:t>
            </a:r>
            <a:endParaRPr lang="en-US" sz="1500" dirty="0"/>
          </a:p>
        </p:txBody>
      </p:sp>
      <p:sp>
        <p:nvSpPr>
          <p:cNvPr id="38" name="a5:source"/>
          <p:cNvSpPr txBox="1"/>
          <p:nvPr/>
        </p:nvSpPr>
        <p:spPr>
          <a:xfrm>
            <a:off x="873252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SOURCE: OUR OWN TEST RUN, 18 OCT 2026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40" name="nav 1">
            <a:hlinkClick r:id="rId3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1" name="nav 2">
            <a:hlinkClick r:id="rId4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2" name="nav 3">
            <a:hlinkClick r:id="rId5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3" name="nav 4">
            <a:hlinkClick r:id="rId6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4" name="nav 5">
            <a:hlinkClick r:id="rId7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5" name="nav 6">
            <a:hlinkClick r:id="rId8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6" name="nav 7">
            <a:hlinkClick r:id="rId9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7" name="nav 8">
            <a:hlinkClick r:id="rId10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0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FFD9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AI, USED CAREFULLY</a:t>
            </a:r>
            <a:endParaRPr lang="en-US" sz="1400" dirty="0"/>
          </a:p>
        </p:txBody>
      </p:sp>
      <p:sp>
        <p:nvSpPr>
          <p:cNvPr id="3" name="slide title"/>
          <p:cNvSpPr txBox="1"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D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READS. </a:t>
            </a:r>
            <a:pPr indent="0" marL="0">
              <a:buNone/>
            </a:pPr>
            <a:r>
              <a:rPr lang="en-US" sz="4200" b="1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COMPILER DECIDES.</a:t>
            </a:r>
            <a:endParaRPr lang="en-US" sz="4200" dirty="0"/>
          </a:p>
        </p:txBody>
      </p:sp>
      <p:sp>
        <p:nvSpPr>
          <p:cNvPr id="4" name="a1:col 1 shadow"/>
          <p:cNvSpPr/>
          <p:nvPr/>
        </p:nvSpPr>
        <p:spPr>
          <a:xfrm>
            <a:off x="658368" y="212140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5" name="a1:col 1 body"/>
          <p:cNvSpPr/>
          <p:nvPr/>
        </p:nvSpPr>
        <p:spPr>
          <a:xfrm>
            <a:off x="548640" y="2011680"/>
            <a:ext cx="3611880" cy="2971800"/>
          </a:xfrm>
          <a:prstGeom prst="rect">
            <a:avLst/>
          </a:prstGeom>
          <a:solidFill>
            <a:srgbClr val="FFD93D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6" name="a1:col 1 head"/>
          <p:cNvSpPr txBox="1"/>
          <p:nvPr/>
        </p:nvSpPr>
        <p:spPr>
          <a:xfrm>
            <a:off x="73152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GEMINI RUNS</a:t>
            </a:r>
            <a:endParaRPr lang="en-US" sz="1800" dirty="0"/>
          </a:p>
        </p:txBody>
      </p:sp>
      <p:sp>
        <p:nvSpPr>
          <p:cNvPr id="7" name="a1:col 1 list"/>
          <p:cNvSpPr txBox="1"/>
          <p:nvPr/>
        </p:nvSpPr>
        <p:spPr>
          <a:xfrm>
            <a:off x="731520" y="26517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 and blue-ink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 mode: steps become a program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mode: arranges structure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button: only when the teacher clicks</a:t>
            </a:r>
            <a:endParaRPr lang="en-US" sz="1400" dirty="0"/>
          </a:p>
        </p:txBody>
      </p:sp>
      <p:sp>
        <p:nvSpPr>
          <p:cNvPr id="8" name="a2:col 2 shadow"/>
          <p:cNvSpPr/>
          <p:nvPr/>
        </p:nvSpPr>
        <p:spPr>
          <a:xfrm>
            <a:off x="4498848" y="244144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9" name="a2:col 2 body"/>
          <p:cNvSpPr/>
          <p:nvPr/>
        </p:nvSpPr>
        <p:spPr>
          <a:xfrm>
            <a:off x="4389120" y="2331720"/>
            <a:ext cx="3611880" cy="2971800"/>
          </a:xfrm>
          <a:prstGeom prst="rect">
            <a:avLst/>
          </a:prstGeom>
          <a:solidFill>
            <a:srgbClr val="FF6B6B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10" name="a2:col 2 head"/>
          <p:cNvSpPr txBox="1"/>
          <p:nvPr/>
        </p:nvSpPr>
        <p:spPr>
          <a:xfrm>
            <a:off x="45720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1" name="a2:col 2 list"/>
          <p:cNvSpPr txBox="1"/>
          <p:nvPr/>
        </p:nvSpPr>
        <p:spPr>
          <a:xfrm>
            <a:off x="4572000" y="2971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confirms every line before it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structure result that changes more than layout is refused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keys stay on the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Requests ask Gemini not to store them</a:t>
            </a:r>
            <a:endParaRPr lang="en-US" sz="1400" dirty="0"/>
          </a:p>
        </p:txBody>
      </p:sp>
      <p:sp>
        <p:nvSpPr>
          <p:cNvPr id="12" name="a3:col 3 shadow"/>
          <p:cNvSpPr/>
          <p:nvPr/>
        </p:nvSpPr>
        <p:spPr>
          <a:xfrm>
            <a:off x="8339328" y="212140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13" name="a3:col 3 body"/>
          <p:cNvSpPr/>
          <p:nvPr/>
        </p:nvSpPr>
        <p:spPr>
          <a:xfrm>
            <a:off x="8229600" y="2011680"/>
            <a:ext cx="3611880" cy="2971800"/>
          </a:xfrm>
          <a:prstGeom prst="rect">
            <a:avLst/>
          </a:prstGeom>
          <a:solidFill>
            <a:srgbClr val="C4B5FD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14" name="a3:col 3 head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AI HERE</a:t>
            </a:r>
            <a:endParaRPr lang="en-US" sz="1800" dirty="0"/>
          </a:p>
        </p:txBody>
      </p:sp>
      <p:sp>
        <p:nvSpPr>
          <p:cNvPr id="15" name="a3:col 3 list"/>
          <p:cNvSpPr txBox="1"/>
          <p:nvPr/>
        </p:nvSpPr>
        <p:spPr>
          <a:xfrm>
            <a:off x="8412480" y="26517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Compiling, running, error 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in Full program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notes: fixed rules, not generated</a:t>
            </a:r>
            <a:endParaRPr lang="en-US" sz="1400" dirty="0"/>
          </a:p>
        </p:txBody>
      </p:sp>
      <p:sp>
        <p:nvSpPr>
          <p:cNvPr id="16" name="a4:built label"/>
          <p:cNvSpPr txBox="1"/>
          <p:nvPr/>
        </p:nvSpPr>
        <p:spPr>
          <a:xfrm>
            <a:off x="54864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17" name="a4:stack 1 shadow"/>
          <p:cNvSpPr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a4:stack 1 body"/>
          <p:cNvSpPr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a4:stack 1 text"/>
          <p:cNvSpPr txBox="1"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0" name="a4:stack 2 shadow"/>
          <p:cNvSpPr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4:stack 2 body"/>
          <p:cNvSpPr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a4:stack 2 text"/>
          <p:cNvSpPr txBox="1"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000" dirty="0"/>
          </a:p>
        </p:txBody>
      </p:sp>
      <p:sp>
        <p:nvSpPr>
          <p:cNvPr id="23" name="a4:stack 3 shadow"/>
          <p:cNvSpPr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4:stack 3 body"/>
          <p:cNvSpPr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a4:stack 3 text"/>
          <p:cNvSpPr txBox="1"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6" name="a4:stack 4 shadow"/>
          <p:cNvSpPr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a4:stack 4 body"/>
          <p:cNvSpPr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a4:stack 4 text"/>
          <p:cNvSpPr txBox="1"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000" dirty="0"/>
          </a:p>
        </p:txBody>
      </p:sp>
      <p:sp>
        <p:nvSpPr>
          <p:cNvPr id="29" name="a4:stack 5 shadow"/>
          <p:cNvSpPr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4:stack 5 body"/>
          <p:cNvSpPr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1" name="a4:stack 5 text"/>
          <p:cNvSpPr txBox="1"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000" dirty="0"/>
          </a:p>
        </p:txBody>
      </p:sp>
      <p:sp>
        <p:nvSpPr>
          <p:cNvPr id="32" name="a4:stack 6 shadow"/>
          <p:cNvSpPr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a4:stack 6 body"/>
          <p:cNvSpPr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4" name="a4:stack 6 text"/>
          <p:cNvSpPr txBox="1"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+ PYTHON</a:t>
            </a:r>
            <a:endParaRPr lang="en-US" sz="1000" dirty="0"/>
          </a:p>
        </p:txBody>
      </p:sp>
      <p:sp>
        <p:nvSpPr>
          <p:cNvPr id="35" name="a4:stack 7 shadow"/>
          <p:cNvSpPr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4:stack 7 body"/>
          <p:cNvSpPr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7" name="a4:stack 7 text"/>
          <p:cNvSpPr txBox="1"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000" dirty="0"/>
          </a:p>
        </p:txBody>
      </p:sp>
      <p:sp>
        <p:nvSpPr>
          <p:cNvPr id="38" name="a4:disclosure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DEVELOPED WITH AI CODING TOOLS: OPENAI CODEX, CLAUDE CODE.   NOT YET MEASURED: HANDWRITING ACCURACY ON REAL CLASSROOM SAMPLES.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40" name="nav 1">
            <a:hlinkClick r:id="rId1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1" name="nav 2">
            <a:hlinkClick r:id="rId2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2" name="nav 3">
            <a:hlinkClick r:id="rId3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3" name="nav 4">
            <a:hlinkClick r:id="rId4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4" name="nav 5">
            <a:hlinkClick r:id="rId5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5" name="nav 6">
            <a:hlinkClick r:id="rId6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6" name="nav 7">
            <a:hlinkClick r:id="rId7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7" name="nav 8">
            <a:hlinkClick r:id="rId8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descr="Graph paper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547872"/>
            <a:ext cx="5879592" cy="33101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WHAT ELSE IT DOES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A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LESSON NEEDS.</a:t>
            </a:r>
            <a:endParaRPr lang="en-US" sz="3800" dirty="0"/>
          </a:p>
        </p:txBody>
      </p:sp>
      <p:sp>
        <p:nvSpPr>
          <p:cNvPr id="5" name="a1:feature 1 shadow"/>
          <p:cNvSpPr/>
          <p:nvPr/>
        </p:nvSpPr>
        <p:spPr>
          <a:xfrm>
            <a:off x="64008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a1:feature 1 body"/>
          <p:cNvSpPr/>
          <p:nvPr/>
        </p:nvSpPr>
        <p:spPr>
          <a:xfrm>
            <a:off x="548640" y="2194560"/>
            <a:ext cx="3520440" cy="16916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a1:num 1"/>
          <p:cNvSpPr txBox="1"/>
          <p:nvPr/>
        </p:nvSpPr>
        <p:spPr>
          <a:xfrm>
            <a:off x="73152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a1:head 1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SNAPSHOTS</a:t>
            </a:r>
            <a:endParaRPr lang="en-US" sz="1900" dirty="0"/>
          </a:p>
        </p:txBody>
      </p:sp>
      <p:sp>
        <p:nvSpPr>
          <p:cNvPr id="9" name="a1:body 1"/>
          <p:cNvSpPr txBox="1"/>
          <p:nvPr/>
        </p:nvSpPr>
        <p:spPr>
          <a:xfrm>
            <a:off x="73152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is saved with the whole board, in Git history.</a:t>
            </a:r>
            <a:endParaRPr lang="en-US" sz="1400" dirty="0"/>
          </a:p>
        </p:txBody>
      </p:sp>
      <p:sp>
        <p:nvSpPr>
          <p:cNvPr id="10" name="a1:feature 2 shadow"/>
          <p:cNvSpPr/>
          <p:nvPr/>
        </p:nvSpPr>
        <p:spPr>
          <a:xfrm>
            <a:off x="443484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a1:feature 2 body"/>
          <p:cNvSpPr/>
          <p:nvPr/>
        </p:nvSpPr>
        <p:spPr>
          <a:xfrm>
            <a:off x="4343400" y="2194560"/>
            <a:ext cx="3520440" cy="16916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2" name="a1:num 2"/>
          <p:cNvSpPr txBox="1"/>
          <p:nvPr/>
        </p:nvSpPr>
        <p:spPr>
          <a:xfrm>
            <a:off x="452628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a1:head 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CASES</a:t>
            </a:r>
            <a:endParaRPr lang="en-US" sz="1900" dirty="0"/>
          </a:p>
        </p:txBody>
      </p:sp>
      <p:sp>
        <p:nvSpPr>
          <p:cNvPr id="14" name="a1:body 2"/>
          <p:cNvSpPr txBox="1"/>
          <p:nvPr/>
        </p:nvSpPr>
        <p:spPr>
          <a:xfrm>
            <a:off x="452628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up to five inputs. Compare output exactly. Save suites.</a:t>
            </a:r>
            <a:endParaRPr lang="en-US" sz="1400" dirty="0"/>
          </a:p>
        </p:txBody>
      </p:sp>
      <p:sp>
        <p:nvSpPr>
          <p:cNvPr id="15" name="a1:feature 3 shadow"/>
          <p:cNvSpPr/>
          <p:nvPr/>
        </p:nvSpPr>
        <p:spPr>
          <a:xfrm>
            <a:off x="822960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a1:feature 3 body"/>
          <p:cNvSpPr/>
          <p:nvPr/>
        </p:nvSpPr>
        <p:spPr>
          <a:xfrm>
            <a:off x="8138160" y="2194560"/>
            <a:ext cx="3520440" cy="169164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7" name="a1:num 3"/>
          <p:cNvSpPr txBox="1"/>
          <p:nvPr/>
        </p:nvSpPr>
        <p:spPr>
          <a:xfrm>
            <a:off x="832104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a1:head 3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1900" dirty="0"/>
          </a:p>
        </p:txBody>
      </p:sp>
      <p:sp>
        <p:nvSpPr>
          <p:cNvPr id="19" name="a1:body 3"/>
          <p:cNvSpPr txBox="1"/>
          <p:nvPr/>
        </p:nvSpPr>
        <p:spPr>
          <a:xfrm>
            <a:off x="832104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list, binary search, plus C++ STL examples.</a:t>
            </a:r>
            <a:endParaRPr lang="en-US" sz="1400" dirty="0"/>
          </a:p>
        </p:txBody>
      </p:sp>
      <p:sp>
        <p:nvSpPr>
          <p:cNvPr id="20" name="a2:feature 4 shadow"/>
          <p:cNvSpPr/>
          <p:nvPr/>
        </p:nvSpPr>
        <p:spPr>
          <a:xfrm>
            <a:off x="91440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2:feature 4 body"/>
          <p:cNvSpPr/>
          <p:nvPr/>
        </p:nvSpPr>
        <p:spPr>
          <a:xfrm>
            <a:off x="822960" y="4114800"/>
            <a:ext cx="3520440" cy="16916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a2:num 4"/>
          <p:cNvSpPr txBox="1"/>
          <p:nvPr/>
        </p:nvSpPr>
        <p:spPr>
          <a:xfrm>
            <a:off x="100584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a2:head 4"/>
          <p:cNvSpPr txBox="1"/>
          <p:nvPr/>
        </p:nvSpPr>
        <p:spPr>
          <a:xfrm>
            <a:off x="100584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A LIST</a:t>
            </a:r>
            <a:endParaRPr lang="en-US" sz="1900" dirty="0"/>
          </a:p>
        </p:txBody>
      </p:sp>
      <p:sp>
        <p:nvSpPr>
          <p:cNvPr id="24" name="a2:body 4"/>
          <p:cNvSpPr txBox="1"/>
          <p:nvPr/>
        </p:nvSpPr>
        <p:spPr>
          <a:xfrm>
            <a:off x="100584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or type 1-&gt;3-&gt;4-&gt;5. Boardroom builds real linked-list nodes.</a:t>
            </a:r>
            <a:endParaRPr lang="en-US" sz="1400" dirty="0"/>
          </a:p>
        </p:txBody>
      </p:sp>
      <p:sp>
        <p:nvSpPr>
          <p:cNvPr id="25" name="a2:feature 5 shadow"/>
          <p:cNvSpPr/>
          <p:nvPr/>
        </p:nvSpPr>
        <p:spPr>
          <a:xfrm>
            <a:off x="470916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2:feature 5 body"/>
          <p:cNvSpPr/>
          <p:nvPr/>
        </p:nvSpPr>
        <p:spPr>
          <a:xfrm>
            <a:off x="4617720" y="4114800"/>
            <a:ext cx="3520440" cy="16916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2:num 5"/>
          <p:cNvSpPr txBox="1"/>
          <p:nvPr/>
        </p:nvSpPr>
        <p:spPr>
          <a:xfrm>
            <a:off x="480060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a2:head 5"/>
          <p:cNvSpPr txBox="1"/>
          <p:nvPr/>
        </p:nvSpPr>
        <p:spPr>
          <a:xfrm>
            <a:off x="480060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</a:t>
            </a:r>
            <a:endParaRPr lang="en-US" sz="1900" dirty="0"/>
          </a:p>
        </p:txBody>
      </p:sp>
      <p:sp>
        <p:nvSpPr>
          <p:cNvPr id="29" name="a2:body 5"/>
          <p:cNvSpPr txBox="1"/>
          <p:nvPr/>
        </p:nvSpPr>
        <p:spPr>
          <a:xfrm>
            <a:off x="480060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Tabs, and a side-by-side view for comparing two boards.</a:t>
            </a:r>
            <a:endParaRPr lang="en-US" sz="1400" dirty="0"/>
          </a:p>
        </p:txBody>
      </p:sp>
      <p:sp>
        <p:nvSpPr>
          <p:cNvPr id="30" name="a2:feature 6 shadow"/>
          <p:cNvSpPr/>
          <p:nvPr/>
        </p:nvSpPr>
        <p:spPr>
          <a:xfrm>
            <a:off x="850392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a2:feature 6 body"/>
          <p:cNvSpPr/>
          <p:nvPr/>
        </p:nvSpPr>
        <p:spPr>
          <a:xfrm>
            <a:off x="8412480" y="4114800"/>
            <a:ext cx="3520440" cy="16916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2" name="a2:num 6"/>
          <p:cNvSpPr txBox="1"/>
          <p:nvPr/>
        </p:nvSpPr>
        <p:spPr>
          <a:xfrm>
            <a:off x="859536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a2:head 6"/>
          <p:cNvSpPr txBox="1"/>
          <p:nvPr/>
        </p:nvSpPr>
        <p:spPr>
          <a:xfrm>
            <a:off x="859536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TOOLS</a:t>
            </a:r>
            <a:endParaRPr lang="en-US" sz="1900" dirty="0"/>
          </a:p>
        </p:txBody>
      </p:sp>
      <p:sp>
        <p:nvSpPr>
          <p:cNvPr id="34" name="a2:body 6"/>
          <p:cNvSpPr txBox="1"/>
          <p:nvPr/>
        </p:nvSpPr>
        <p:spPr>
          <a:xfrm>
            <a:off x="859536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Pen, eraser, shapes, laser pointer, five stroke widths, dark mode.</a:t>
            </a:r>
            <a:endParaRPr lang="en-US" sz="1400" dirty="0"/>
          </a:p>
        </p:txBody>
      </p:sp>
      <p:sp>
        <p:nvSpPr>
          <p:cNvPr id="35" name="a3:evidence shadow"/>
          <p:cNvSpPr/>
          <p:nvPr/>
        </p:nvSpPr>
        <p:spPr>
          <a:xfrm>
            <a:off x="603504" y="6089904"/>
            <a:ext cx="61264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3:evidence body"/>
          <p:cNvSpPr/>
          <p:nvPr/>
        </p:nvSpPr>
        <p:spPr>
          <a:xfrm>
            <a:off x="548640" y="6035040"/>
            <a:ext cx="6126480" cy="384048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7" name="a3:evidence text"/>
          <p:cNvSpPr txBox="1"/>
          <p:nvPr/>
        </p:nvSpPr>
        <p:spPr>
          <a:xfrm>
            <a:off x="548640" y="6035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 / 39 NON-GEMINI BROWSER TESTS PASSED · 18 OCT 2026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9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0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1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2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3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4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5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6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WHAT’S NEXT</a:t>
            </a:r>
            <a:endParaRPr lang="en-US" sz="1400" dirty="0"/>
          </a:p>
        </p:txBody>
      </p:sp>
      <p:sp>
        <p:nvSpPr>
          <p:cNvPr id="3" name="card shadow"/>
          <p:cNvSpPr/>
          <p:nvPr/>
        </p:nvSpPr>
        <p:spPr>
          <a:xfrm>
            <a:off x="694944" y="1243584"/>
            <a:ext cx="6309360" cy="3017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ard body"/>
          <p:cNvSpPr/>
          <p:nvPr/>
        </p:nvSpPr>
        <p:spPr>
          <a:xfrm>
            <a:off x="548640" y="1097280"/>
            <a:ext cx="6309360" cy="3017520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BOARD</a:t>
            </a:r>
            <a:endParaRPr lang="en-US" sz="66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TALKS</a:t>
            </a:r>
            <a:endParaRPr lang="en-US" sz="66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BACK.</a:t>
            </a:r>
            <a:endParaRPr lang="en-US" sz="6600" dirty="0"/>
          </a:p>
        </p:txBody>
      </p:sp>
      <p:sp>
        <p:nvSpPr>
          <p:cNvPr id="6" name="star shadow"/>
          <p:cNvSpPr/>
          <p:nvPr/>
        </p:nvSpPr>
        <p:spPr>
          <a:xfrm rot="600000">
            <a:off x="6181344" y="740664"/>
            <a:ext cx="1051560" cy="105156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r body"/>
          <p:cNvSpPr/>
          <p:nvPr/>
        </p:nvSpPr>
        <p:spPr>
          <a:xfrm rot="600000">
            <a:off x="6126480" y="685800"/>
            <a:ext cx="1051560" cy="105156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097280"/>
            <a:ext cx="43434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HAD ANOTHER MONTH</a:t>
            </a:r>
            <a:endParaRPr lang="en-US" sz="1300" dirty="0"/>
          </a:p>
        </p:txBody>
      </p:sp>
      <p:sp>
        <p:nvSpPr>
          <p:cNvPr id="9" name="a1:next 1 shadow"/>
          <p:cNvSpPr/>
          <p:nvPr/>
        </p:nvSpPr>
        <p:spPr>
          <a:xfrm>
            <a:off x="7406640" y="17373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a1:next 1 body"/>
          <p:cNvSpPr/>
          <p:nvPr/>
        </p:nvSpPr>
        <p:spPr>
          <a:xfrm>
            <a:off x="7315200" y="1645920"/>
            <a:ext cx="4114800" cy="11887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a1:next head 1"/>
          <p:cNvSpPr txBox="1"/>
          <p:nvPr/>
        </p:nvSpPr>
        <p:spPr>
          <a:xfrm>
            <a:off x="74980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800" dirty="0"/>
          </a:p>
        </p:txBody>
      </p:sp>
      <p:sp>
        <p:nvSpPr>
          <p:cNvPr id="12" name="a1:next body 1"/>
          <p:cNvSpPr txBox="1"/>
          <p:nvPr/>
        </p:nvSpPr>
        <p:spPr>
          <a:xfrm>
            <a:off x="7498080" y="21214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 on real classroom samples.</a:t>
            </a:r>
            <a:endParaRPr lang="en-US" sz="1400" dirty="0"/>
          </a:p>
        </p:txBody>
      </p:sp>
      <p:sp>
        <p:nvSpPr>
          <p:cNvPr id="13" name="a2:next 2 shadow"/>
          <p:cNvSpPr/>
          <p:nvPr/>
        </p:nvSpPr>
        <p:spPr>
          <a:xfrm>
            <a:off x="7635240" y="31089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a2:next 2 body"/>
          <p:cNvSpPr/>
          <p:nvPr/>
        </p:nvSpPr>
        <p:spPr>
          <a:xfrm>
            <a:off x="7543800" y="3017520"/>
            <a:ext cx="4114800" cy="11887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a2:next head 2"/>
          <p:cNvSpPr txBox="1"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800" dirty="0"/>
          </a:p>
        </p:txBody>
      </p:sp>
      <p:sp>
        <p:nvSpPr>
          <p:cNvPr id="16" name="a2:next body 2"/>
          <p:cNvSpPr txBox="1"/>
          <p:nvPr/>
        </p:nvSpPr>
        <p:spPr>
          <a:xfrm>
            <a:off x="7726680" y="34930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VM, login and a security review before public hosting.</a:t>
            </a:r>
            <a:endParaRPr lang="en-US" sz="1400" dirty="0"/>
          </a:p>
        </p:txBody>
      </p:sp>
      <p:sp>
        <p:nvSpPr>
          <p:cNvPr id="17" name="a3:next 3 shadow"/>
          <p:cNvSpPr/>
          <p:nvPr/>
        </p:nvSpPr>
        <p:spPr>
          <a:xfrm>
            <a:off x="7406640" y="44805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a3:next 3 body"/>
          <p:cNvSpPr/>
          <p:nvPr/>
        </p:nvSpPr>
        <p:spPr>
          <a:xfrm>
            <a:off x="7315200" y="4389120"/>
            <a:ext cx="411480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a3:next head 3"/>
          <p:cNvSpPr txBox="1"/>
          <p:nvPr/>
        </p:nvSpPr>
        <p:spPr>
          <a:xfrm>
            <a:off x="749808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800" dirty="0"/>
          </a:p>
        </p:txBody>
      </p:sp>
      <p:sp>
        <p:nvSpPr>
          <p:cNvPr id="20" name="a3:next body 3"/>
          <p:cNvSpPr txBox="1"/>
          <p:nvPr/>
        </p:nvSpPr>
        <p:spPr>
          <a:xfrm>
            <a:off x="7498080" y="48646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and header versions inside every lesson snapshot.</a:t>
            </a:r>
            <a:endParaRPr lang="en-US" sz="1400" dirty="0"/>
          </a:p>
        </p:txBody>
      </p:sp>
      <p:sp>
        <p:nvSpPr>
          <p:cNvPr id="21" name="a4:gaps label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GAPS TODAY</a:t>
            </a:r>
            <a:endParaRPr lang="en-US" sz="1300" dirty="0"/>
          </a:p>
        </p:txBody>
      </p:sp>
      <p:sp>
        <p:nvSpPr>
          <p:cNvPr id="22" name="a4:gap 1 shadow"/>
          <p:cNvSpPr/>
          <p:nvPr/>
        </p:nvSpPr>
        <p:spPr>
          <a:xfrm>
            <a:off x="640080" y="5120640"/>
            <a:ext cx="329184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a4:gap 1 body"/>
          <p:cNvSpPr/>
          <p:nvPr/>
        </p:nvSpPr>
        <p:spPr>
          <a:xfrm>
            <a:off x="548640" y="5029200"/>
            <a:ext cx="3291840" cy="1234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4" name="a4:gap 1 text"/>
          <p:cNvSpPr txBox="1"/>
          <p:nvPr/>
        </p:nvSpPr>
        <p:spPr>
          <a:xfrm>
            <a:off x="713232" y="50749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Wandbox: rate limited, no sanitizer promise.</a:t>
            </a:r>
            <a:endParaRPr lang="en-US" sz="1400" dirty="0"/>
          </a:p>
        </p:txBody>
      </p:sp>
      <p:sp>
        <p:nvSpPr>
          <p:cNvPr id="25" name="a4:gap 2 shadow"/>
          <p:cNvSpPr/>
          <p:nvPr/>
        </p:nvSpPr>
        <p:spPr>
          <a:xfrm>
            <a:off x="4114800" y="5120640"/>
            <a:ext cx="31089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4:gap 2 body"/>
          <p:cNvSpPr/>
          <p:nvPr/>
        </p:nvSpPr>
        <p:spPr>
          <a:xfrm>
            <a:off x="4023360" y="5029200"/>
            <a:ext cx="3108960" cy="12344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4:gap 2 text"/>
          <p:cNvSpPr txBox="1"/>
          <p:nvPr/>
        </p:nvSpPr>
        <p:spPr>
          <a:xfrm>
            <a:off x="4187952" y="50749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is C++17 now. C code that is not valid C++ will not compile.</a:t>
            </a:r>
            <a:endParaRPr lang="en-US" sz="1400" dirty="0"/>
          </a:p>
        </p:txBody>
      </p:sp>
      <p:sp>
        <p:nvSpPr>
          <p:cNvPr id="28" name="a4:sign off shadow"/>
          <p:cNvSpPr/>
          <p:nvPr/>
        </p:nvSpPr>
        <p:spPr>
          <a:xfrm>
            <a:off x="7872984" y="5769864"/>
            <a:ext cx="38404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a4:sign off body"/>
          <p:cNvSpPr/>
          <p:nvPr/>
        </p:nvSpPr>
        <p:spPr>
          <a:xfrm>
            <a:off x="7818120" y="5715000"/>
            <a:ext cx="3840480" cy="5486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a4:sign off text"/>
          <p:cNvSpPr txBox="1"/>
          <p:nvPr/>
        </p:nvSpPr>
        <p:spPr>
          <a:xfrm>
            <a:off x="7818120" y="5715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2" name="nav 1">
            <a:hlinkClick r:id="rId1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3" name="nav 2">
            <a:hlinkClick r:id="rId2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34" name="nav 3">
            <a:hlinkClick r:id="rId3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35" name="nav 4">
            <a:hlinkClick r:id="rId4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6" name="nav 5">
            <a:hlinkClick r:id="rId5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7" name="nav 6">
            <a:hlinkClick r:id="rId6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38" name="nav 7">
            <a:hlinkClick r:id="rId7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39" name="nav 8">
            <a:hlinkClick r:id="rId8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room Neo-Brutalist">
  <a:themeElements>
    <a:clrScheme name="Boardroom Neo-Brutalist">
      <a:dk1>
        <a:srgbClr val="000000"/>
      </a:dk1>
      <a:lt1>
        <a:srgbClr val="FFFFFF"/>
      </a:lt1>
      <a:dk2>
        <a:srgbClr val="000000"/>
      </a:dk2>
      <a:lt2>
        <a:srgbClr val="FFFDF5"/>
      </a:lt2>
      <a:accent1>
        <a:srgbClr val="FF6B6B"/>
      </a:accent1>
      <a:accent2>
        <a:srgbClr val="FFD93D"/>
      </a:accent2>
      <a:accent3>
        <a:srgbClr val="C4B5FD"/>
      </a:accent3>
      <a:accent4>
        <a:srgbClr val="000000"/>
      </a:accent4>
      <a:accent5>
        <a:srgbClr val="FFFFFF"/>
      </a:accent5>
      <a:accent6>
        <a:srgbClr val="FFFDF5"/>
      </a:accent6>
      <a:hlink>
        <a:srgbClr val="000000"/>
      </a:hlink>
      <a:folHlink>
        <a:srgbClr val="000000"/>
      </a:folHlink>
    </a:clrScheme>
    <a:fontScheme name="Boardroom Neo-Brutalist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2026-10-18T14:37:47Z</dcterms:created>
  <dcterms:modified xsi:type="dcterms:W3CDTF">2026-10-18T14:37:47Z</dcterms:modified>
</cp:coreProperties>
</file>