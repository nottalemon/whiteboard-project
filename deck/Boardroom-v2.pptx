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PER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K">
    <p:bg>
      <p:bgPr>
        <a:solidFill>
          <a:srgbClr val="0E1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1-1.gif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3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4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" Type="http://schemas.openxmlformats.org/officeDocument/2006/relationships/image" Target="../media/image-5-1.gif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8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ksu-gitreaper807/Craft-N-Code-Karnataka" TargetMode="Externa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5.xml"/><Relationship Id="rId7" Type="http://schemas.openxmlformats.org/officeDocument/2006/relationships/slide" Target="slide6.xml"/><Relationship Id="rId8" Type="http://schemas.openxmlformats.org/officeDocument/2006/relationships/slide" Target="slide7.xml"/><Relationship Id="rId9" Type="http://schemas.openxmlformats.org/officeDocument/2006/relationships/slide" Target="slide8.xml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dge coral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CRAFT N CODE KARNATAKA 2026   ·   AI FOR EDUCATION</a:t>
            </a:r>
            <a:endParaRPr lang="en-US" sz="1200" dirty="0"/>
          </a:p>
        </p:txBody>
      </p:sp>
      <p:sp>
        <p:nvSpPr>
          <p:cNvPr id="4" name="cover title"/>
          <p:cNvSpPr txBox="1"/>
          <p:nvPr/>
        </p:nvSpPr>
        <p:spPr>
          <a:xfrm>
            <a:off x="822960" y="13716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-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</a:t>
            </a:r>
            <a:endParaRPr lang="en-US" sz="8000" dirty="0"/>
          </a:p>
        </p:txBody>
      </p:sp>
      <p:sp>
        <p:nvSpPr>
          <p:cNvPr id="5" name="cover subtitle"/>
          <p:cNvSpPr txBox="1"/>
          <p:nvPr/>
        </p:nvSpPr>
        <p:spPr>
          <a:xfrm>
            <a:off x="822960" y="283464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8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whiteboard that runs your code.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C++ or Python on a board. Select it. Run it.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lesson never leaves the board.</a:t>
            </a:r>
            <a:endParaRPr lang="en-US" sz="1600" dirty="0"/>
          </a:p>
        </p:txBody>
      </p:sp>
      <p:sp>
        <p:nvSpPr>
          <p:cNvPr id="7" name="a1:verb 1 bg"/>
          <p:cNvSpPr/>
          <p:nvPr/>
        </p:nvSpPr>
        <p:spPr>
          <a:xfrm>
            <a:off x="822960" y="4983480"/>
            <a:ext cx="1371600" cy="42062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8" name="a1:verb 1 text"/>
          <p:cNvSpPr txBox="1"/>
          <p:nvPr/>
        </p:nvSpPr>
        <p:spPr>
          <a:xfrm>
            <a:off x="82296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1200" dirty="0"/>
          </a:p>
        </p:txBody>
      </p:sp>
      <p:sp>
        <p:nvSpPr>
          <p:cNvPr id="9" name="a1:verb 2 bg"/>
          <p:cNvSpPr/>
          <p:nvPr/>
        </p:nvSpPr>
        <p:spPr>
          <a:xfrm>
            <a:off x="2286000" y="4983480"/>
            <a:ext cx="1371600" cy="420624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0" name="a1:verb 2 text"/>
          <p:cNvSpPr txBox="1"/>
          <p:nvPr/>
        </p:nvSpPr>
        <p:spPr>
          <a:xfrm>
            <a:off x="228600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200" dirty="0"/>
          </a:p>
        </p:txBody>
      </p:sp>
      <p:sp>
        <p:nvSpPr>
          <p:cNvPr id="11" name="a1:verb 3 bg"/>
          <p:cNvSpPr/>
          <p:nvPr/>
        </p:nvSpPr>
        <p:spPr>
          <a:xfrm>
            <a:off x="3749040" y="4983480"/>
            <a:ext cx="1371600" cy="42062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2" name="a1:verb 3 text"/>
          <p:cNvSpPr txBox="1"/>
          <p:nvPr/>
        </p:nvSpPr>
        <p:spPr>
          <a:xfrm>
            <a:off x="3749040" y="4983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89788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95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· Excalidraw · Node.js · Docker · g++ (C++17) · Python · Gemini</a:t>
            </a:r>
            <a:endParaRPr lang="en-US" sz="1100" dirty="0"/>
          </a:p>
        </p:txBody>
      </p:sp>
      <p:sp>
        <p:nvSpPr>
          <p:cNvPr id="14" name="cover simulation backdrop"/>
          <p:cNvSpPr/>
          <p:nvPr/>
        </p:nvSpPr>
        <p:spPr>
          <a:xfrm>
            <a:off x="7187184" y="1563624"/>
            <a:ext cx="4572000" cy="27889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pic>
        <p:nvPicPr>
          <p:cNvPr id="15" name="cover simulation" descr="Animation: code is typed on a board, blue ink input 3 5 is added, Run is pressed and 3 + 5 = 8 appear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1417320"/>
            <a:ext cx="4572000" cy="2788920"/>
          </a:xfrm>
          <a:prstGeom prst="rect">
            <a:avLst/>
          </a:prstGeom>
        </p:spPr>
      </p:pic>
      <p:sp>
        <p:nvSpPr>
          <p:cNvPr id="16" name="cover simulation frame"/>
          <p:cNvSpPr/>
          <p:nvPr/>
        </p:nvSpPr>
        <p:spPr>
          <a:xfrm>
            <a:off x="7040880" y="1417320"/>
            <a:ext cx="4572000" cy="2788920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17" name="loop tag bg"/>
          <p:cNvSpPr/>
          <p:nvPr/>
        </p:nvSpPr>
        <p:spPr>
          <a:xfrm>
            <a:off x="7040880" y="1051560"/>
            <a:ext cx="1371600" cy="2926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8" name="loop tag text"/>
          <p:cNvSpPr txBox="1"/>
          <p:nvPr/>
        </p:nvSpPr>
        <p:spPr>
          <a:xfrm>
            <a:off x="704088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LIVE LOOP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4572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8F95A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one lesson run. Click to reveal the three steps.</a:t>
            </a:r>
            <a:endParaRPr lang="en-US" sz="1200" dirty="0"/>
          </a:p>
        </p:txBody>
      </p:sp>
      <p:sp>
        <p:nvSpPr>
          <p:cNvPr id="20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22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23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24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25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26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27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28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29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   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4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whiteboard can’t compile.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212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Teachers explain C++ and Python at a board. Checking an example means leaving the lesson for a separate IDE, and the board never shows what actually happened.</a:t>
            </a:r>
            <a:endParaRPr lang="en-US" sz="1700" dirty="0"/>
          </a:p>
        </p:txBody>
      </p:sp>
      <p:sp>
        <p:nvSpPr>
          <p:cNvPr id="6" name="user tag bg"/>
          <p:cNvSpPr/>
          <p:nvPr/>
        </p:nvSpPr>
        <p:spPr>
          <a:xfrm>
            <a:off x="548640" y="3977640"/>
            <a:ext cx="3108960" cy="347472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7" name="user tag text"/>
          <p:cNvSpPr txBox="1"/>
          <p:nvPr/>
        </p:nvSpPr>
        <p:spPr>
          <a:xfrm>
            <a:off x="548640" y="39776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USER: TEACHERS AT A BOARD</a:t>
            </a:r>
            <a:endParaRPr lang="en-US" sz="1000" dirty="0"/>
          </a:p>
        </p:txBody>
      </p:sp>
      <p:sp>
        <p:nvSpPr>
          <p:cNvPr id="8" name="premise tag bg"/>
          <p:cNvSpPr/>
          <p:nvPr/>
        </p:nvSpPr>
        <p:spPr>
          <a:xfrm>
            <a:off x="3749040" y="3977640"/>
            <a:ext cx="2743200" cy="34747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premise tag text"/>
          <p:cNvSpPr txBox="1"/>
          <p:nvPr/>
        </p:nvSpPr>
        <p:spPr>
          <a:xfrm>
            <a:off x="3749040" y="3977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PREMISE, NOT A STATISTIC</a:t>
            </a:r>
            <a:endParaRPr lang="en-US" sz="1000" dirty="0"/>
          </a:p>
        </p:txBody>
      </p:sp>
      <p:sp>
        <p:nvSpPr>
          <p:cNvPr id="10" name="today panel"/>
          <p:cNvSpPr/>
          <p:nvPr/>
        </p:nvSpPr>
        <p:spPr>
          <a:xfrm>
            <a:off x="6949440" y="868680"/>
            <a:ext cx="4690872" cy="237744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1" name="today strip"/>
          <p:cNvSpPr/>
          <p:nvPr/>
        </p:nvSpPr>
        <p:spPr>
          <a:xfrm>
            <a:off x="6949440" y="868680"/>
            <a:ext cx="4690872" cy="109728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7804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TODAY</a:t>
            </a:r>
            <a:endParaRPr lang="en-US" sz="1200" dirty="0"/>
          </a:p>
        </p:txBody>
      </p:sp>
      <p:sp>
        <p:nvSpPr>
          <p:cNvPr id="13" name="today num 1"/>
          <p:cNvSpPr/>
          <p:nvPr/>
        </p:nvSpPr>
        <p:spPr>
          <a:xfrm>
            <a:off x="7178040" y="164592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1645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0" y="16459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on the board</a:t>
            </a:r>
            <a:endParaRPr lang="en-US" sz="1600" dirty="0"/>
          </a:p>
        </p:txBody>
      </p:sp>
      <p:sp>
        <p:nvSpPr>
          <p:cNvPr id="16" name="today num 2"/>
          <p:cNvSpPr/>
          <p:nvPr/>
        </p:nvSpPr>
        <p:spPr>
          <a:xfrm>
            <a:off x="7178040" y="214884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78040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214884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Switch to an IDE</a:t>
            </a:r>
            <a:endParaRPr lang="en-US" sz="1600" dirty="0"/>
          </a:p>
        </p:txBody>
      </p:sp>
      <p:sp>
        <p:nvSpPr>
          <p:cNvPr id="19" name="today num 3"/>
          <p:cNvSpPr/>
          <p:nvPr/>
        </p:nvSpPr>
        <p:spPr>
          <a:xfrm>
            <a:off x="7178040" y="2651760"/>
            <a:ext cx="329184" cy="32918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7804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2651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Paste, run, switch back</a:t>
            </a:r>
            <a:endParaRPr lang="en-US" sz="1600" dirty="0"/>
          </a:p>
        </p:txBody>
      </p:sp>
      <p:sp>
        <p:nvSpPr>
          <p:cNvPr id="22" name="a1:after panel"/>
          <p:cNvSpPr/>
          <p:nvPr/>
        </p:nvSpPr>
        <p:spPr>
          <a:xfrm>
            <a:off x="6949440" y="3520440"/>
            <a:ext cx="4690872" cy="251460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3" name="a1:after label"/>
          <p:cNvSpPr txBox="1"/>
          <p:nvPr/>
        </p:nvSpPr>
        <p:spPr>
          <a:xfrm>
            <a:off x="71780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WITH BOARDROOM</a:t>
            </a:r>
            <a:endParaRPr lang="en-US" sz="1200" dirty="0"/>
          </a:p>
        </p:txBody>
      </p:sp>
      <p:sp>
        <p:nvSpPr>
          <p:cNvPr id="24" name="a1:after steps"/>
          <p:cNvSpPr txBox="1"/>
          <p:nvPr/>
        </p:nvSpPr>
        <p:spPr>
          <a:xfrm>
            <a:off x="7178040" y="4206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Write.  Select.  Run.</a:t>
            </a:r>
            <a:endParaRPr lang="en-US" sz="3200" dirty="0"/>
          </a:p>
        </p:txBody>
      </p:sp>
      <p:sp>
        <p:nvSpPr>
          <p:cNvPr id="25" name="a1:after text"/>
          <p:cNvSpPr txBox="1"/>
          <p:nvPr/>
        </p:nvSpPr>
        <p:spPr>
          <a:xfrm>
            <a:off x="7178040" y="49377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Errors are underlined in the code. The board stays clean and the lesson keeps moving.</a:t>
            </a:r>
            <a:endParaRPr lang="en-US" sz="1500" dirty="0"/>
          </a:p>
        </p:txBody>
      </p:sp>
      <p:sp>
        <p:nvSpPr>
          <p:cNvPr id="26" name="a1:after marker"/>
          <p:cNvSpPr/>
          <p:nvPr/>
        </p:nvSpPr>
        <p:spPr>
          <a:xfrm>
            <a:off x="11155680" y="3246120"/>
            <a:ext cx="457200" cy="45720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7" name="why panel"/>
          <p:cNvSpPr/>
          <p:nvPr/>
        </p:nvSpPr>
        <p:spPr>
          <a:xfrm>
            <a:off x="548640" y="4892040"/>
            <a:ext cx="5943600" cy="1143000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53492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Students see the example run, or fail, right where it was written.</a:t>
            </a:r>
            <a:endParaRPr lang="en-US" sz="1600" dirty="0"/>
          </a:p>
        </p:txBody>
      </p:sp>
      <p:sp>
        <p:nvSpPr>
          <p:cNvPr id="30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2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3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4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5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6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7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38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39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   HOW IT WORKS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steps from ink to answer.</a:t>
            </a:r>
            <a:endParaRPr lang="en-US" sz="3600" dirty="0"/>
          </a:p>
        </p:txBody>
      </p:sp>
      <p:sp>
        <p:nvSpPr>
          <p:cNvPr id="5" name="a1:step 1 badge"/>
          <p:cNvSpPr/>
          <p:nvPr/>
        </p:nvSpPr>
        <p:spPr>
          <a:xfrm>
            <a:off x="548640" y="1691640"/>
            <a:ext cx="749808" cy="7498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6" name="a1:step 1 number"/>
          <p:cNvSpPr txBox="1"/>
          <p:nvPr/>
        </p:nvSpPr>
        <p:spPr>
          <a:xfrm>
            <a:off x="548640" y="169164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a1:step 1 panel"/>
          <p:cNvSpPr/>
          <p:nvPr/>
        </p:nvSpPr>
        <p:spPr>
          <a:xfrm>
            <a:off x="1298448" y="1691640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8" name="a1:step 1 verb"/>
          <p:cNvSpPr txBox="1"/>
          <p:nvPr/>
        </p:nvSpPr>
        <p:spPr>
          <a:xfrm>
            <a:off x="1481328" y="169164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</a:t>
            </a:r>
            <a:endParaRPr lang="en-US" sz="1900" dirty="0"/>
          </a:p>
        </p:txBody>
      </p:sp>
      <p:sp>
        <p:nvSpPr>
          <p:cNvPr id="9" name="a1:step 1 text"/>
          <p:cNvSpPr txBox="1"/>
          <p:nvPr/>
        </p:nvSpPr>
        <p:spPr>
          <a:xfrm>
            <a:off x="2697480" y="169164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 or keyboard. Black ink is code, blue ink is input.</a:t>
            </a:r>
            <a:endParaRPr lang="en-US" sz="1400" dirty="0"/>
          </a:p>
        </p:txBody>
      </p:sp>
      <p:sp>
        <p:nvSpPr>
          <p:cNvPr id="10" name="a2:step 2 badge"/>
          <p:cNvSpPr/>
          <p:nvPr/>
        </p:nvSpPr>
        <p:spPr>
          <a:xfrm>
            <a:off x="548640" y="2596896"/>
            <a:ext cx="749808" cy="7498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1" name="a2:step 2 number"/>
          <p:cNvSpPr txBox="1"/>
          <p:nvPr/>
        </p:nvSpPr>
        <p:spPr>
          <a:xfrm>
            <a:off x="548640" y="25968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a2:step 2 panel"/>
          <p:cNvSpPr/>
          <p:nvPr/>
        </p:nvSpPr>
        <p:spPr>
          <a:xfrm>
            <a:off x="1298448" y="2596896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2:step 2 verb"/>
          <p:cNvSpPr txBox="1"/>
          <p:nvPr/>
        </p:nvSpPr>
        <p:spPr>
          <a:xfrm>
            <a:off x="1481328" y="2596896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Select</a:t>
            </a:r>
            <a:endParaRPr lang="en-US" sz="1900" dirty="0"/>
          </a:p>
        </p:txBody>
      </p:sp>
      <p:sp>
        <p:nvSpPr>
          <p:cNvPr id="14" name="a2:step 2 text"/>
          <p:cNvSpPr txBox="1"/>
          <p:nvPr/>
        </p:nvSpPr>
        <p:spPr>
          <a:xfrm>
            <a:off x="2697480" y="259689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Drag a box. That region becomes the program.</a:t>
            </a:r>
            <a:endParaRPr lang="en-US" sz="1400" dirty="0"/>
          </a:p>
        </p:txBody>
      </p:sp>
      <p:sp>
        <p:nvSpPr>
          <p:cNvPr id="15" name="a3:step 3 badge"/>
          <p:cNvSpPr/>
          <p:nvPr/>
        </p:nvSpPr>
        <p:spPr>
          <a:xfrm>
            <a:off x="548640" y="3502152"/>
            <a:ext cx="749808" cy="7498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6" name="a3:step 3 number"/>
          <p:cNvSpPr txBox="1"/>
          <p:nvPr/>
        </p:nvSpPr>
        <p:spPr>
          <a:xfrm>
            <a:off x="548640" y="3502152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a3:step 3 panel"/>
          <p:cNvSpPr/>
          <p:nvPr/>
        </p:nvSpPr>
        <p:spPr>
          <a:xfrm>
            <a:off x="1298448" y="3502152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8" name="a3:step 3 verb"/>
          <p:cNvSpPr txBox="1"/>
          <p:nvPr/>
        </p:nvSpPr>
        <p:spPr>
          <a:xfrm>
            <a:off x="1481328" y="3502152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</a:t>
            </a:r>
            <a:endParaRPr lang="en-US" sz="1900" dirty="0"/>
          </a:p>
        </p:txBody>
      </p:sp>
      <p:sp>
        <p:nvSpPr>
          <p:cNvPr id="19" name="a3:step 3 text"/>
          <p:cNvSpPr txBox="1"/>
          <p:nvPr/>
        </p:nvSpPr>
        <p:spPr>
          <a:xfrm>
            <a:off x="2697480" y="350215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reads the ink. The teacher confirms every line.</a:t>
            </a:r>
            <a:endParaRPr lang="en-US" sz="1400" dirty="0"/>
          </a:p>
        </p:txBody>
      </p:sp>
      <p:sp>
        <p:nvSpPr>
          <p:cNvPr id="20" name="a4:step 4 badge"/>
          <p:cNvSpPr/>
          <p:nvPr/>
        </p:nvSpPr>
        <p:spPr>
          <a:xfrm>
            <a:off x="548640" y="4407408"/>
            <a:ext cx="749808" cy="74980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1" name="a4:step 4 number"/>
          <p:cNvSpPr txBox="1"/>
          <p:nvPr/>
        </p:nvSpPr>
        <p:spPr>
          <a:xfrm>
            <a:off x="548640" y="440740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a4:step 4 panel"/>
          <p:cNvSpPr/>
          <p:nvPr/>
        </p:nvSpPr>
        <p:spPr>
          <a:xfrm>
            <a:off x="1298448" y="4407408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3" name="a4:step 4 verb"/>
          <p:cNvSpPr txBox="1"/>
          <p:nvPr/>
        </p:nvSpPr>
        <p:spPr>
          <a:xfrm>
            <a:off x="1481328" y="44074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</a:t>
            </a:r>
            <a:endParaRPr lang="en-US" sz="1900" dirty="0"/>
          </a:p>
        </p:txBody>
      </p:sp>
      <p:sp>
        <p:nvSpPr>
          <p:cNvPr id="24" name="a4:step 4 text"/>
          <p:cNvSpPr txBox="1"/>
          <p:nvPr/>
        </p:nvSpPr>
        <p:spPr>
          <a:xfrm>
            <a:off x="2697480" y="440740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throwaway Docker container compiles and runs it.</a:t>
            </a:r>
            <a:endParaRPr lang="en-US" sz="1400" dirty="0"/>
          </a:p>
        </p:txBody>
      </p:sp>
      <p:sp>
        <p:nvSpPr>
          <p:cNvPr id="25" name="a5:step 5 badge"/>
          <p:cNvSpPr/>
          <p:nvPr/>
        </p:nvSpPr>
        <p:spPr>
          <a:xfrm>
            <a:off x="548640" y="5312664"/>
            <a:ext cx="749808" cy="74980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6" name="a5:step 5 number"/>
          <p:cNvSpPr txBox="1"/>
          <p:nvPr/>
        </p:nvSpPr>
        <p:spPr>
          <a:xfrm>
            <a:off x="548640" y="5312664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3000" dirty="0"/>
          </a:p>
        </p:txBody>
      </p:sp>
      <p:sp>
        <p:nvSpPr>
          <p:cNvPr id="27" name="a5:step 5 panel"/>
          <p:cNvSpPr/>
          <p:nvPr/>
        </p:nvSpPr>
        <p:spPr>
          <a:xfrm>
            <a:off x="1298448" y="5312664"/>
            <a:ext cx="5257800" cy="74980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8" name="a5:step 5 verb"/>
          <p:cNvSpPr txBox="1"/>
          <p:nvPr/>
        </p:nvSpPr>
        <p:spPr>
          <a:xfrm>
            <a:off x="1481328" y="5312664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See</a:t>
            </a:r>
            <a:endParaRPr lang="en-US" sz="1900" dirty="0"/>
          </a:p>
        </p:txBody>
      </p:sp>
      <p:sp>
        <p:nvSpPr>
          <p:cNvPr id="29" name="a5:step 5 text"/>
          <p:cNvSpPr txBox="1"/>
          <p:nvPr/>
        </p:nvSpPr>
        <p:spPr>
          <a:xfrm>
            <a:off x="2697480" y="5312664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 and errors appear in the code panel.</a:t>
            </a:r>
            <a:endParaRPr lang="en-US" sz="1400" dirty="0"/>
          </a:p>
        </p:txBody>
      </p:sp>
      <p:sp>
        <p:nvSpPr>
          <p:cNvPr id="30" name="review simulation backdrop"/>
          <p:cNvSpPr/>
          <p:nvPr/>
        </p:nvSpPr>
        <p:spPr>
          <a:xfrm>
            <a:off x="7095744" y="1837944"/>
            <a:ext cx="4572000" cy="27889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31" name="review simulation" descr="Animation: scribbled handwriting is read into code, one line is flagged CHECK, the teacher ticks a confirmation box and only then can the code ru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91640"/>
            <a:ext cx="4572000" cy="2788920"/>
          </a:xfrm>
          <a:prstGeom prst="rect">
            <a:avLst/>
          </a:prstGeom>
        </p:spPr>
      </p:pic>
      <p:sp>
        <p:nvSpPr>
          <p:cNvPr id="32" name="review simulation frame"/>
          <p:cNvSpPr/>
          <p:nvPr/>
        </p:nvSpPr>
        <p:spPr>
          <a:xfrm>
            <a:off x="6949440" y="1691640"/>
            <a:ext cx="4572000" cy="2788920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33" name="sim tag bg"/>
          <p:cNvSpPr/>
          <p:nvPr/>
        </p:nvSpPr>
        <p:spPr>
          <a:xfrm>
            <a:off x="6949440" y="1325880"/>
            <a:ext cx="1737360" cy="2926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34" name="sim tag text"/>
          <p:cNvSpPr txBox="1"/>
          <p:nvPr/>
        </p:nvSpPr>
        <p:spPr>
          <a:xfrm>
            <a:off x="6949440" y="13258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STEP 3, SIMULATED</a:t>
            </a:r>
            <a:endParaRPr lang="en-US" sz="1000" dirty="0"/>
          </a:p>
        </p:txBody>
      </p:sp>
      <p:sp>
        <p:nvSpPr>
          <p:cNvPr id="35" name="a5:error panel"/>
          <p:cNvSpPr/>
          <p:nvPr/>
        </p:nvSpPr>
        <p:spPr>
          <a:xfrm>
            <a:off x="6949440" y="4937760"/>
            <a:ext cx="4754880" cy="11887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36" name="a5:error code"/>
          <p:cNvSpPr txBox="1"/>
          <p:nvPr/>
        </p:nvSpPr>
        <p:spPr>
          <a:xfrm>
            <a:off x="7132320" y="5047488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1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x = 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0E13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printf("%d", x);</a:t>
            </a:r>
            <a:endParaRPr lang="en-US" sz="1400" dirty="0"/>
          </a:p>
        </p:txBody>
      </p:sp>
      <p:sp>
        <p:nvSpPr>
          <p:cNvPr id="37" name="a5:squiggle"/>
          <p:cNvSpPr/>
          <p:nvPr/>
        </p:nvSpPr>
        <p:spPr>
          <a:xfrm>
            <a:off x="7296912" y="5266944"/>
            <a:ext cx="1005840" cy="3657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8" name="a5:diag tag bg"/>
          <p:cNvSpPr/>
          <p:nvPr/>
        </p:nvSpPr>
        <p:spPr>
          <a:xfrm>
            <a:off x="9601200" y="5138928"/>
            <a:ext cx="1920240" cy="31089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9" name="a5:diag tag text"/>
          <p:cNvSpPr txBox="1"/>
          <p:nvPr/>
        </p:nvSpPr>
        <p:spPr>
          <a:xfrm>
            <a:off x="9601200" y="513892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L1 · EXPECTED ‘;’</a:t>
            </a:r>
            <a:endParaRPr lang="en-US" sz="1000" dirty="0"/>
          </a:p>
        </p:txBody>
      </p:sp>
      <p:sp>
        <p:nvSpPr>
          <p:cNvPr id="40" name="a5:diag note"/>
          <p:cNvSpPr txBox="1"/>
          <p:nvPr/>
        </p:nvSpPr>
        <p:spPr>
          <a:xfrm>
            <a:off x="9601200" y="55046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Error marked on the line, not on the board.</a:t>
            </a:r>
            <a:endParaRPr lang="en-US" sz="1100" dirty="0"/>
          </a:p>
        </p:txBody>
      </p:sp>
      <p:sp>
        <p:nvSpPr>
          <p:cNvPr id="41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3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4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5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6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7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8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9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50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   THREE MODES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6766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slider, three ways to run.</a:t>
            </a:r>
            <a:endParaRPr lang="en-US" sz="3600" dirty="0"/>
          </a:p>
        </p:txBody>
      </p:sp>
      <p:sp>
        <p:nvSpPr>
          <p:cNvPr id="5" name="slider track"/>
          <p:cNvSpPr/>
          <p:nvPr/>
        </p:nvSpPr>
        <p:spPr>
          <a:xfrm>
            <a:off x="548640" y="2194560"/>
            <a:ext cx="6309360" cy="128016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6" name="slider fill"/>
          <p:cNvSpPr/>
          <p:nvPr/>
        </p:nvSpPr>
        <p:spPr>
          <a:xfrm>
            <a:off x="548640" y="2194560"/>
            <a:ext cx="2651760" cy="128016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" name="slider knob"/>
          <p:cNvSpPr/>
          <p:nvPr/>
        </p:nvSpPr>
        <p:spPr>
          <a:xfrm>
            <a:off x="3017520" y="2084832"/>
            <a:ext cx="347472" cy="347472"/>
          </a:xfrm>
          <a:prstGeom prst="rect">
            <a:avLst/>
          </a:prstGeom>
          <a:solidFill>
            <a:srgbClr val="FFC531"/>
          </a:solidFill>
          <a:ln w="19050">
            <a:solidFill>
              <a:srgbClr val="0E133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25420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200" dirty="0"/>
          </a:p>
        </p:txBody>
      </p:sp>
      <p:sp>
        <p:nvSpPr>
          <p:cNvPr id="11" name="a1:mode 1 body"/>
          <p:cNvSpPr/>
          <p:nvPr/>
        </p:nvSpPr>
        <p:spPr>
          <a:xfrm>
            <a:off x="548640" y="3017520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2" name="a1:mode 1 bar"/>
          <p:cNvSpPr/>
          <p:nvPr/>
        </p:nvSpPr>
        <p:spPr>
          <a:xfrm>
            <a:off x="548640" y="3017520"/>
            <a:ext cx="128016" cy="93268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3" name="a1:mode 1 name"/>
          <p:cNvSpPr txBox="1"/>
          <p:nvPr/>
        </p:nvSpPr>
        <p:spPr>
          <a:xfrm>
            <a:off x="86868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Full program</a:t>
            </a:r>
            <a:endParaRPr lang="en-US" sz="1700" dirty="0"/>
          </a:p>
        </p:txBody>
      </p:sp>
      <p:sp>
        <p:nvSpPr>
          <p:cNvPr id="14" name="a1:mode 1 who bg"/>
          <p:cNvSpPr/>
          <p:nvPr/>
        </p:nvSpPr>
        <p:spPr>
          <a:xfrm>
            <a:off x="4526280" y="3127248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15" name="a1:mode 1 who text"/>
          <p:cNvSpPr txBox="1"/>
          <p:nvPr/>
        </p:nvSpPr>
        <p:spPr>
          <a:xfrm>
            <a:off x="4526280" y="31272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NEVER</a:t>
            </a:r>
            <a:endParaRPr lang="en-US" sz="900" dirty="0"/>
          </a:p>
        </p:txBody>
      </p:sp>
      <p:sp>
        <p:nvSpPr>
          <p:cNvPr id="16" name="a1:mode 1 text"/>
          <p:cNvSpPr txBox="1"/>
          <p:nvPr/>
        </p:nvSpPr>
        <p:spPr>
          <a:xfrm>
            <a:off x="868680" y="34747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Compiles exactly what you wrote. No corrections.</a:t>
            </a:r>
            <a:endParaRPr lang="en-US" sz="1300" dirty="0"/>
          </a:p>
        </p:txBody>
      </p:sp>
      <p:sp>
        <p:nvSpPr>
          <p:cNvPr id="17" name="a2:mode 2 body"/>
          <p:cNvSpPr/>
          <p:nvPr/>
        </p:nvSpPr>
        <p:spPr>
          <a:xfrm>
            <a:off x="548640" y="4087368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8" name="a2:mode 2 bar"/>
          <p:cNvSpPr/>
          <p:nvPr/>
        </p:nvSpPr>
        <p:spPr>
          <a:xfrm>
            <a:off x="548640" y="4087368"/>
            <a:ext cx="128016" cy="93268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9" name="a2:mode 2 name"/>
          <p:cNvSpPr txBox="1"/>
          <p:nvPr/>
        </p:nvSpPr>
        <p:spPr>
          <a:xfrm>
            <a:off x="868680" y="41788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</a:t>
            </a:r>
            <a:endParaRPr lang="en-US" sz="1700" dirty="0"/>
          </a:p>
        </p:txBody>
      </p:sp>
      <p:sp>
        <p:nvSpPr>
          <p:cNvPr id="20" name="a2:mode 2 who bg"/>
          <p:cNvSpPr/>
          <p:nvPr/>
        </p:nvSpPr>
        <p:spPr>
          <a:xfrm>
            <a:off x="4526280" y="4197096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1" name="a2:mode 2 who text"/>
          <p:cNvSpPr txBox="1"/>
          <p:nvPr/>
        </p:nvSpPr>
        <p:spPr>
          <a:xfrm>
            <a:off x="4526280" y="4197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ARRANGES</a:t>
            </a:r>
            <a:endParaRPr lang="en-US" sz="900" dirty="0"/>
          </a:p>
        </p:txBody>
      </p:sp>
      <p:sp>
        <p:nvSpPr>
          <p:cNvPr id="22" name="a2:mode 2 text"/>
          <p:cNvSpPr txBox="1"/>
          <p:nvPr/>
        </p:nvSpPr>
        <p:spPr>
          <a:xfrm>
            <a:off x="868680" y="4544568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Pick a template of headers. Gemini only arranges helpers and main(). It never fixes code.</a:t>
            </a:r>
            <a:endParaRPr lang="en-US" sz="1300" dirty="0"/>
          </a:p>
        </p:txBody>
      </p:sp>
      <p:sp>
        <p:nvSpPr>
          <p:cNvPr id="23" name="a3:mode 3 body"/>
          <p:cNvSpPr/>
          <p:nvPr/>
        </p:nvSpPr>
        <p:spPr>
          <a:xfrm>
            <a:off x="548640" y="5157216"/>
            <a:ext cx="6309360" cy="932688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4" name="a3:mode 3 bar"/>
          <p:cNvSpPr/>
          <p:nvPr/>
        </p:nvSpPr>
        <p:spPr>
          <a:xfrm>
            <a:off x="548640" y="5157216"/>
            <a:ext cx="128016" cy="93268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5" name="a3:mode 3 name"/>
          <p:cNvSpPr txBox="1"/>
          <p:nvPr/>
        </p:nvSpPr>
        <p:spPr>
          <a:xfrm>
            <a:off x="868680" y="52486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</a:t>
            </a:r>
            <a:endParaRPr lang="en-US" sz="1700" dirty="0"/>
          </a:p>
        </p:txBody>
      </p:sp>
      <p:sp>
        <p:nvSpPr>
          <p:cNvPr id="26" name="a3:mode 3 who bg"/>
          <p:cNvSpPr/>
          <p:nvPr/>
        </p:nvSpPr>
        <p:spPr>
          <a:xfrm>
            <a:off x="4526280" y="5266944"/>
            <a:ext cx="2148840" cy="2743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7" name="a3:mode 3 who text"/>
          <p:cNvSpPr txBox="1"/>
          <p:nvPr/>
        </p:nvSpPr>
        <p:spPr>
          <a:xfrm>
            <a:off x="4526280" y="52669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GEMINI: WRITES</a:t>
            </a:r>
            <a:endParaRPr lang="en-US" sz="900" dirty="0"/>
          </a:p>
        </p:txBody>
      </p:sp>
      <p:sp>
        <p:nvSpPr>
          <p:cNvPr id="28" name="a3:mode 3 text"/>
          <p:cNvSpPr txBox="1"/>
          <p:nvPr/>
        </p:nvSpPr>
        <p:spPr>
          <a:xfrm>
            <a:off x="868680" y="5614416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the steps in plain words. Gemini writes the program, then it compiles.</a:t>
            </a:r>
            <a:endParaRPr lang="en-US" sz="1300" dirty="0"/>
          </a:p>
        </p:txBody>
      </p:sp>
      <p:sp>
        <p:nvSpPr>
          <p:cNvPr id="29" name="snippet simulation backdrop"/>
          <p:cNvSpPr/>
          <p:nvPr/>
        </p:nvSpPr>
        <p:spPr>
          <a:xfrm>
            <a:off x="7507224" y="1380744"/>
            <a:ext cx="4160520" cy="2542032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pic>
        <p:nvPicPr>
          <p:cNvPr id="30" name="snippet simulation" descr="Animation: loose statements and a helper function are placed under a template, main() is added around the statement, and a checker confirms nothing else changed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234440"/>
            <a:ext cx="4160520" cy="2542032"/>
          </a:xfrm>
          <a:prstGeom prst="rect">
            <a:avLst/>
          </a:prstGeom>
        </p:spPr>
      </p:pic>
      <p:sp>
        <p:nvSpPr>
          <p:cNvPr id="31" name="snippet simulation frame"/>
          <p:cNvSpPr/>
          <p:nvPr/>
        </p:nvSpPr>
        <p:spPr>
          <a:xfrm>
            <a:off x="7360920" y="1234440"/>
            <a:ext cx="4160520" cy="2542032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32" name="sim tag bg"/>
          <p:cNvSpPr/>
          <p:nvPr/>
        </p:nvSpPr>
        <p:spPr>
          <a:xfrm>
            <a:off x="7360920" y="868680"/>
            <a:ext cx="2377440" cy="29260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33" name="sim tag text"/>
          <p:cNvSpPr txBox="1"/>
          <p:nvPr/>
        </p:nvSpPr>
        <p:spPr>
          <a:xfrm>
            <a:off x="7360920" y="868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MODE, SIMULATED</a:t>
            </a:r>
            <a:endParaRPr lang="en-US" sz="1000" dirty="0"/>
          </a:p>
        </p:txBody>
      </p:sp>
      <p:sp>
        <p:nvSpPr>
          <p:cNvPr id="34" name="a4:fix panel"/>
          <p:cNvSpPr/>
          <p:nvPr/>
        </p:nvSpPr>
        <p:spPr>
          <a:xfrm>
            <a:off x="7360920" y="4251960"/>
            <a:ext cx="4297680" cy="178308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5" name="a4:fix strip"/>
          <p:cNvSpPr/>
          <p:nvPr/>
        </p:nvSpPr>
        <p:spPr>
          <a:xfrm>
            <a:off x="7360920" y="4251960"/>
            <a:ext cx="4297680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6" name="a4:fix title"/>
          <p:cNvSpPr txBox="1"/>
          <p:nvPr/>
        </p:nvSpPr>
        <p:spPr>
          <a:xfrm>
            <a:off x="75895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Optional: ask Gemini to fix</a:t>
            </a:r>
            <a:endParaRPr lang="en-US" sz="1700" dirty="0"/>
          </a:p>
        </p:txBody>
      </p:sp>
      <p:sp>
        <p:nvSpPr>
          <p:cNvPr id="37" name="a4:fix text"/>
          <p:cNvSpPr txBox="1"/>
          <p:nvPr/>
        </p:nvSpPr>
        <p:spPr>
          <a:xfrm>
            <a:off x="7589520" y="502920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dirty="0">
                <a:solidFill>
                  <a:srgbClr val="D8DBE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Appears only after a failed run, in any mode. The teacher clicks it. No click, no API call.</a:t>
            </a:r>
            <a:endParaRPr lang="en-US" sz="1400" dirty="0"/>
          </a:p>
        </p:txBody>
      </p:sp>
      <p:sp>
        <p:nvSpPr>
          <p:cNvPr id="38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0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1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2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3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4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5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6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7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   SAFE BY DESIGN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 tried to break it.</a:t>
            </a:r>
            <a:endParaRPr lang="en-US" sz="3600" dirty="0"/>
          </a:p>
        </p:txBody>
      </p:sp>
      <p:sp>
        <p:nvSpPr>
          <p:cNvPr id="5" name="sandbox simulation backdrop"/>
          <p:cNvSpPr/>
          <p:nvPr/>
        </p:nvSpPr>
        <p:spPr>
          <a:xfrm>
            <a:off x="694944" y="1746504"/>
            <a:ext cx="6035040" cy="3685032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pic>
        <p:nvPicPr>
          <p:cNvPr id="6" name="sandbox simulation" descr="Animation: four hostile programs each run in a fresh container and are stopped: a sleep at five seconds, a flood of output cut at 16 KiB, a heap buffer overflow caught by AddressSanitizer, and a blocked network call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035040" cy="3685032"/>
          </a:xfrm>
          <a:prstGeom prst="rect">
            <a:avLst/>
          </a:prstGeom>
        </p:spPr>
      </p:pic>
      <p:sp>
        <p:nvSpPr>
          <p:cNvPr id="7" name="sandbox simulation frame"/>
          <p:cNvSpPr/>
          <p:nvPr/>
        </p:nvSpPr>
        <p:spPr>
          <a:xfrm>
            <a:off x="548640" y="1600200"/>
            <a:ext cx="6035040" cy="3685032"/>
          </a:xfrm>
          <a:prstGeom prst="rect">
            <a:avLst/>
          </a:prstGeom>
          <a:ln w="19050">
            <a:solidFill>
              <a:srgbClr val="0E1330"/>
            </a:solidFill>
            <a:prstDash val="solid"/>
          </a:ln>
        </p:spPr>
      </p:sp>
      <p:sp>
        <p:nvSpPr>
          <p:cNvPr id="8" name="sim tag bg"/>
          <p:cNvSpPr/>
          <p:nvPr/>
        </p:nvSpPr>
        <p:spPr>
          <a:xfrm>
            <a:off x="548640" y="5669280"/>
            <a:ext cx="3017520" cy="329184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9" name="sim tag text"/>
          <p:cNvSpPr txBox="1"/>
          <p:nvPr/>
        </p:nvSpPr>
        <p:spPr>
          <a:xfrm>
            <a:off x="548640" y="566928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SIMULATION OF 4 REAL TEST RUNS</a:t>
            </a:r>
            <a:endParaRPr lang="en-US" sz="1000" dirty="0"/>
          </a:p>
        </p:txBody>
      </p:sp>
      <p:sp>
        <p:nvSpPr>
          <p:cNvPr id="10" name="scope tag bg"/>
          <p:cNvSpPr/>
          <p:nvPr/>
        </p:nvSpPr>
        <p:spPr>
          <a:xfrm>
            <a:off x="3703320" y="5669280"/>
            <a:ext cx="2926080" cy="329184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11" name="scope tag text"/>
          <p:cNvSpPr txBox="1"/>
          <p:nvPr/>
        </p:nvSpPr>
        <p:spPr>
          <a:xfrm>
            <a:off x="3703320" y="566928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LOCAL: DOCKER   ·   HOSTED: WANDBOX</a:t>
            </a:r>
            <a:endParaRPr lang="en-US" sz="900" dirty="0"/>
          </a:p>
        </p:txBody>
      </p:sp>
      <p:sp>
        <p:nvSpPr>
          <p:cNvPr id="12" name="a1:result 1 body"/>
          <p:cNvSpPr/>
          <p:nvPr/>
        </p:nvSpPr>
        <p:spPr>
          <a:xfrm>
            <a:off x="7178040" y="91440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1:result 1 bar"/>
          <p:cNvSpPr/>
          <p:nvPr/>
        </p:nvSpPr>
        <p:spPr>
          <a:xfrm>
            <a:off x="7178040" y="914400"/>
            <a:ext cx="128016" cy="7315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1:attack 1"/>
          <p:cNvSpPr txBox="1"/>
          <p:nvPr/>
        </p:nvSpPr>
        <p:spPr>
          <a:xfrm>
            <a:off x="7498080" y="9144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sleep(10)</a:t>
            </a:r>
            <a:endParaRPr lang="en-US" sz="1300" dirty="0"/>
          </a:p>
        </p:txBody>
      </p:sp>
      <p:sp>
        <p:nvSpPr>
          <p:cNvPr id="15" name="a1:result 1"/>
          <p:cNvSpPr txBox="1"/>
          <p:nvPr/>
        </p:nvSpPr>
        <p:spPr>
          <a:xfrm>
            <a:off x="9464040" y="9144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Stopped at 5 seconds</a:t>
            </a:r>
            <a:endParaRPr lang="en-US" sz="1400" dirty="0"/>
          </a:p>
        </p:txBody>
      </p:sp>
      <p:sp>
        <p:nvSpPr>
          <p:cNvPr id="16" name="a2:result 2 body"/>
          <p:cNvSpPr/>
          <p:nvPr/>
        </p:nvSpPr>
        <p:spPr>
          <a:xfrm>
            <a:off x="7178040" y="178308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7" name="a2:result 2 bar"/>
          <p:cNvSpPr/>
          <p:nvPr/>
        </p:nvSpPr>
        <p:spPr>
          <a:xfrm>
            <a:off x="7178040" y="1783080"/>
            <a:ext cx="128016" cy="73152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8" name="a2:attack 2"/>
          <p:cNvSpPr txBox="1"/>
          <p:nvPr/>
        </p:nvSpPr>
        <p:spPr>
          <a:xfrm>
            <a:off x="74980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100,000 lines of output</a:t>
            </a:r>
            <a:endParaRPr lang="en-US" sz="1300" dirty="0"/>
          </a:p>
        </p:txBody>
      </p:sp>
      <p:sp>
        <p:nvSpPr>
          <p:cNvPr id="19" name="a2:result 2"/>
          <p:cNvSpPr txBox="1"/>
          <p:nvPr/>
        </p:nvSpPr>
        <p:spPr>
          <a:xfrm>
            <a:off x="9464040" y="17830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Cut at 16 KiB</a:t>
            </a:r>
            <a:endParaRPr lang="en-US" sz="1400" dirty="0"/>
          </a:p>
        </p:txBody>
      </p:sp>
      <p:sp>
        <p:nvSpPr>
          <p:cNvPr id="20" name="a3:result 3 body"/>
          <p:cNvSpPr/>
          <p:nvPr/>
        </p:nvSpPr>
        <p:spPr>
          <a:xfrm>
            <a:off x="7178040" y="265176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1" name="a3:result 3 bar"/>
          <p:cNvSpPr/>
          <p:nvPr/>
        </p:nvSpPr>
        <p:spPr>
          <a:xfrm>
            <a:off x="7178040" y="2651760"/>
            <a:ext cx="128016" cy="73152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2" name="a3:attack 3"/>
          <p:cNvSpPr txBox="1"/>
          <p:nvPr/>
        </p:nvSpPr>
        <p:spPr>
          <a:xfrm>
            <a:off x="7498080" y="26517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Write past a buffer</a:t>
            </a:r>
            <a:endParaRPr lang="en-US" sz="1300" dirty="0"/>
          </a:p>
        </p:txBody>
      </p:sp>
      <p:sp>
        <p:nvSpPr>
          <p:cNvPr id="23" name="a3:result 3"/>
          <p:cNvSpPr txBox="1"/>
          <p:nvPr/>
        </p:nvSpPr>
        <p:spPr>
          <a:xfrm>
            <a:off x="9464040" y="2651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AddressSanitizer catches it</a:t>
            </a:r>
            <a:endParaRPr lang="en-US" sz="1400" dirty="0"/>
          </a:p>
        </p:txBody>
      </p:sp>
      <p:sp>
        <p:nvSpPr>
          <p:cNvPr id="24" name="a4:result 4 body"/>
          <p:cNvSpPr/>
          <p:nvPr/>
        </p:nvSpPr>
        <p:spPr>
          <a:xfrm>
            <a:off x="7178040" y="3520440"/>
            <a:ext cx="4462272" cy="731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5" name="a4:result 4 bar"/>
          <p:cNvSpPr/>
          <p:nvPr/>
        </p:nvSpPr>
        <p:spPr>
          <a:xfrm>
            <a:off x="7178040" y="3520440"/>
            <a:ext cx="128016" cy="731520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4:attack 4"/>
          <p:cNvSpPr txBox="1"/>
          <p:nvPr/>
        </p:nvSpPr>
        <p:spPr>
          <a:xfrm>
            <a:off x="749808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3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Network call</a:t>
            </a:r>
            <a:endParaRPr lang="en-US" sz="1300" dirty="0"/>
          </a:p>
        </p:txBody>
      </p:sp>
      <p:sp>
        <p:nvSpPr>
          <p:cNvPr id="27" name="a4:result 4"/>
          <p:cNvSpPr txBox="1"/>
          <p:nvPr/>
        </p:nvSpPr>
        <p:spPr>
          <a:xfrm>
            <a:off x="9464040" y="3520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Blocked</a:t>
            </a:r>
            <a:endParaRPr lang="en-US" sz="1400" dirty="0"/>
          </a:p>
        </p:txBody>
      </p:sp>
      <p:sp>
        <p:nvSpPr>
          <p:cNvPr id="28" name="a5:stat panel"/>
          <p:cNvSpPr/>
          <p:nvPr/>
        </p:nvSpPr>
        <p:spPr>
          <a:xfrm>
            <a:off x="7178040" y="4526280"/>
            <a:ext cx="4462272" cy="150876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9" name="a5:stat number"/>
          <p:cNvSpPr txBox="1"/>
          <p:nvPr/>
        </p:nvSpPr>
        <p:spPr>
          <a:xfrm>
            <a:off x="7406640" y="461772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6400" dirty="0"/>
          </a:p>
        </p:txBody>
      </p:sp>
      <p:sp>
        <p:nvSpPr>
          <p:cNvPr id="30" name="a5:stat text"/>
          <p:cNvSpPr txBox="1"/>
          <p:nvPr/>
        </p:nvSpPr>
        <p:spPr>
          <a:xfrm>
            <a:off x="9006840" y="47091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probes, C++ and Python</a:t>
            </a:r>
            <a:endParaRPr lang="en-US" sz="1400" dirty="0"/>
          </a:p>
        </p:txBody>
      </p:sp>
      <p:sp>
        <p:nvSpPr>
          <p:cNvPr id="31" name="a5:stat source"/>
          <p:cNvSpPr txBox="1"/>
          <p:nvPr/>
        </p:nvSpPr>
        <p:spPr>
          <a:xfrm>
            <a:off x="9006840" y="55321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A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Source: our own test run, 18 Oct 2026</a:t>
            </a:r>
            <a:endParaRPr lang="en-US" sz="1000" dirty="0"/>
          </a:p>
        </p:txBody>
      </p:sp>
      <p:sp>
        <p:nvSpPr>
          <p:cNvPr id="32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4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5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6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7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8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39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0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1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   DATA AND AI USED</a:t>
            </a:r>
            <a:endParaRPr lang="en-US" sz="1200" dirty="0"/>
          </a:p>
        </p:txBody>
      </p:sp>
      <p:sp>
        <p:nvSpPr>
          <p:cNvPr id="4" name="slide title"/>
          <p:cNvSpPr txBox="1"/>
          <p:nvPr/>
        </p:nvSpPr>
        <p:spPr>
          <a:xfrm>
            <a:off x="548640" y="868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reads. </a:t>
            </a:r>
            <a:pPr indent="0" marL="0">
              <a:buNone/>
            </a:pPr>
            <a:r>
              <a:rPr lang="en-US" sz="3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compiler decides.</a:t>
            </a:r>
            <a:endParaRPr lang="en-US" sz="3600" dirty="0"/>
          </a:p>
        </p:txBody>
      </p:sp>
      <p:sp>
        <p:nvSpPr>
          <p:cNvPr id="5" name="a1:col 1 body"/>
          <p:cNvSpPr/>
          <p:nvPr/>
        </p:nvSpPr>
        <p:spPr>
          <a:xfrm>
            <a:off x="54864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6" name="a1:col 1 strip"/>
          <p:cNvSpPr/>
          <p:nvPr/>
        </p:nvSpPr>
        <p:spPr>
          <a:xfrm>
            <a:off x="548640" y="182880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7" name="a1:col 1 head"/>
          <p:cNvSpPr txBox="1"/>
          <p:nvPr/>
        </p:nvSpPr>
        <p:spPr>
          <a:xfrm>
            <a:off x="77724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GEMINI RUNS</a:t>
            </a:r>
            <a:endParaRPr lang="en-US" sz="1300" dirty="0"/>
          </a:p>
        </p:txBody>
      </p:sp>
      <p:sp>
        <p:nvSpPr>
          <p:cNvPr id="8" name="a1:col 1 list"/>
          <p:cNvSpPr txBox="1"/>
          <p:nvPr/>
        </p:nvSpPr>
        <p:spPr>
          <a:xfrm>
            <a:off x="77724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Reads handwriting and blue-ink input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Algorithm mode: steps become a program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Snippet mode: arranges structure only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Fix button: only when the teacher clicks</a:t>
            </a:r>
            <a:endParaRPr lang="en-US" sz="1400" dirty="0"/>
          </a:p>
        </p:txBody>
      </p:sp>
      <p:sp>
        <p:nvSpPr>
          <p:cNvPr id="9" name="a2:col 2 body"/>
          <p:cNvSpPr/>
          <p:nvPr/>
        </p:nvSpPr>
        <p:spPr>
          <a:xfrm>
            <a:off x="429768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0" name="a2:col 2 strip"/>
          <p:cNvSpPr/>
          <p:nvPr/>
        </p:nvSpPr>
        <p:spPr>
          <a:xfrm>
            <a:off x="4297680" y="182880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1" name="a2:col 2 head"/>
          <p:cNvSpPr txBox="1"/>
          <p:nvPr/>
        </p:nvSpPr>
        <p:spPr>
          <a:xfrm>
            <a:off x="452628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2" name="a2:col 2 list"/>
          <p:cNvSpPr txBox="1"/>
          <p:nvPr/>
        </p:nvSpPr>
        <p:spPr>
          <a:xfrm>
            <a:off x="452628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confirms every line before it runs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structure result that changes more than layout is refused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 keys stay on the server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Requests ask Gemini not to store them</a:t>
            </a:r>
            <a:endParaRPr lang="en-US" sz="1400" dirty="0"/>
          </a:p>
        </p:txBody>
      </p:sp>
      <p:sp>
        <p:nvSpPr>
          <p:cNvPr id="13" name="a3:col 3 body"/>
          <p:cNvSpPr/>
          <p:nvPr/>
        </p:nvSpPr>
        <p:spPr>
          <a:xfrm>
            <a:off x="8046720" y="1828800"/>
            <a:ext cx="3593592" cy="3017520"/>
          </a:xfrm>
          <a:prstGeom prst="rect">
            <a:avLst/>
          </a:prstGeom>
          <a:solidFill>
            <a:srgbClr val="1A2048"/>
          </a:solidFill>
          <a:ln w="12700">
            <a:solidFill>
              <a:srgbClr val="1A2048"/>
            </a:solidFill>
            <a:prstDash val="solid"/>
          </a:ln>
        </p:spPr>
      </p:sp>
      <p:sp>
        <p:nvSpPr>
          <p:cNvPr id="14" name="a3:col 3 strip"/>
          <p:cNvSpPr/>
          <p:nvPr/>
        </p:nvSpPr>
        <p:spPr>
          <a:xfrm>
            <a:off x="8046720" y="182880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5" name="a3:col 3 head"/>
          <p:cNvSpPr txBox="1"/>
          <p:nvPr/>
        </p:nvSpPr>
        <p:spPr>
          <a:xfrm>
            <a:off x="8275320" y="217627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 AI HERE</a:t>
            </a:r>
            <a:endParaRPr lang="en-US" sz="1300" dirty="0"/>
          </a:p>
        </p:txBody>
      </p:sp>
      <p:sp>
        <p:nvSpPr>
          <p:cNvPr id="16" name="a3:col 3 list"/>
          <p:cNvSpPr txBox="1"/>
          <p:nvPr/>
        </p:nvSpPr>
        <p:spPr>
          <a:xfrm>
            <a:off x="8275320" y="2651760"/>
            <a:ext cx="313639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Compiling, running, error lines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Typed code in Full program mode</a:t>
            </a:r>
            <a:endParaRPr lang="en-US" sz="14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notes: fixed rules, not generated</a:t>
            </a:r>
            <a:endParaRPr lang="en-US" sz="1400" dirty="0"/>
          </a:p>
        </p:txBody>
      </p:sp>
      <p:sp>
        <p:nvSpPr>
          <p:cNvPr id="17" name="a4:built label"/>
          <p:cNvSpPr txBox="1"/>
          <p:nvPr/>
        </p:nvSpPr>
        <p:spPr>
          <a:xfrm>
            <a:off x="548640" y="5138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8" name="a4:stack 1 bg"/>
          <p:cNvSpPr/>
          <p:nvPr/>
        </p:nvSpPr>
        <p:spPr>
          <a:xfrm>
            <a:off x="1874520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19" name="a4:stack 1 text"/>
          <p:cNvSpPr txBox="1"/>
          <p:nvPr/>
        </p:nvSpPr>
        <p:spPr>
          <a:xfrm>
            <a:off x="1874520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20" name="a4:stack 2 bg"/>
          <p:cNvSpPr/>
          <p:nvPr/>
        </p:nvSpPr>
        <p:spPr>
          <a:xfrm>
            <a:off x="3282696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1" name="a4:stack 2 text"/>
          <p:cNvSpPr txBox="1"/>
          <p:nvPr/>
        </p:nvSpPr>
        <p:spPr>
          <a:xfrm>
            <a:off x="3282696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Excalidraw</a:t>
            </a:r>
            <a:endParaRPr lang="en-US" sz="1000" dirty="0"/>
          </a:p>
        </p:txBody>
      </p:sp>
      <p:sp>
        <p:nvSpPr>
          <p:cNvPr id="22" name="a4:stack 3 bg"/>
          <p:cNvSpPr/>
          <p:nvPr/>
        </p:nvSpPr>
        <p:spPr>
          <a:xfrm>
            <a:off x="4690872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3" name="a4:stack 3 text"/>
          <p:cNvSpPr txBox="1"/>
          <p:nvPr/>
        </p:nvSpPr>
        <p:spPr>
          <a:xfrm>
            <a:off x="4690872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React + Vite</a:t>
            </a:r>
            <a:endParaRPr lang="en-US" sz="1000" dirty="0"/>
          </a:p>
        </p:txBody>
      </p:sp>
      <p:sp>
        <p:nvSpPr>
          <p:cNvPr id="24" name="a4:stack 4 bg"/>
          <p:cNvSpPr/>
          <p:nvPr/>
        </p:nvSpPr>
        <p:spPr>
          <a:xfrm>
            <a:off x="6099048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5" name="a4:stack 4 text"/>
          <p:cNvSpPr txBox="1"/>
          <p:nvPr/>
        </p:nvSpPr>
        <p:spPr>
          <a:xfrm>
            <a:off x="6099048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Node.js</a:t>
            </a:r>
            <a:endParaRPr lang="en-US" sz="1000" dirty="0"/>
          </a:p>
        </p:txBody>
      </p:sp>
      <p:sp>
        <p:nvSpPr>
          <p:cNvPr id="26" name="a4:stack 5 bg"/>
          <p:cNvSpPr/>
          <p:nvPr/>
        </p:nvSpPr>
        <p:spPr>
          <a:xfrm>
            <a:off x="7507224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7" name="a4:stack 5 text"/>
          <p:cNvSpPr txBox="1"/>
          <p:nvPr/>
        </p:nvSpPr>
        <p:spPr>
          <a:xfrm>
            <a:off x="7507224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Docker</a:t>
            </a:r>
            <a:endParaRPr lang="en-US" sz="1000" dirty="0"/>
          </a:p>
        </p:txBody>
      </p:sp>
      <p:sp>
        <p:nvSpPr>
          <p:cNvPr id="28" name="a4:stack 6 bg"/>
          <p:cNvSpPr/>
          <p:nvPr/>
        </p:nvSpPr>
        <p:spPr>
          <a:xfrm>
            <a:off x="8915400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29" name="a4:stack 6 text"/>
          <p:cNvSpPr txBox="1"/>
          <p:nvPr/>
        </p:nvSpPr>
        <p:spPr>
          <a:xfrm>
            <a:off x="8915400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g++ + Python</a:t>
            </a:r>
            <a:endParaRPr lang="en-US" sz="1000" dirty="0"/>
          </a:p>
        </p:txBody>
      </p:sp>
      <p:sp>
        <p:nvSpPr>
          <p:cNvPr id="30" name="a4:stack 7 bg"/>
          <p:cNvSpPr/>
          <p:nvPr/>
        </p:nvSpPr>
        <p:spPr>
          <a:xfrm>
            <a:off x="10323576" y="5138928"/>
            <a:ext cx="1316736" cy="310896"/>
          </a:xfrm>
          <a:prstGeom prst="rect">
            <a:avLst/>
          </a:prstGeom>
          <a:solidFill>
            <a:srgbClr val="0E1330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31" name="a4:stack 7 text"/>
          <p:cNvSpPr txBox="1"/>
          <p:nvPr/>
        </p:nvSpPr>
        <p:spPr>
          <a:xfrm>
            <a:off x="10323576" y="5138928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Wandbox</a:t>
            </a:r>
            <a:endParaRPr lang="en-US" sz="1000" dirty="0"/>
          </a:p>
        </p:txBody>
      </p:sp>
      <p:sp>
        <p:nvSpPr>
          <p:cNvPr id="32" name="a4:disclosure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B8BDD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tools and reuse: developed with OpenAI Codex and Claude Code.  Not yet measured: handwriting accuracy on real classroom samples.</a:t>
            </a:r>
            <a:endParaRPr lang="en-US" sz="1200" dirty="0"/>
          </a:p>
        </p:txBody>
      </p:sp>
      <p:sp>
        <p:nvSpPr>
          <p:cNvPr id="33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5B6075"/>
          </a:solidFill>
          <a:ln w="12700">
            <a:solidFill>
              <a:srgbClr val="5B6075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5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36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37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38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39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0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1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2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0E1330"/>
          </a:solidFill>
          <a:ln w="12700">
            <a:solidFill>
              <a:srgbClr val="F6F4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   WHAT ELSE IT DOES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6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Everything a lesson needs.</a:t>
            </a:r>
            <a:endParaRPr lang="en-US" sz="3600" dirty="0"/>
          </a:p>
        </p:txBody>
      </p:sp>
      <p:sp>
        <p:nvSpPr>
          <p:cNvPr id="5" name="a1:feature 1 body"/>
          <p:cNvSpPr/>
          <p:nvPr/>
        </p:nvSpPr>
        <p:spPr>
          <a:xfrm>
            <a:off x="54864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6" name="a1:feature 1 strip"/>
          <p:cNvSpPr/>
          <p:nvPr/>
        </p:nvSpPr>
        <p:spPr>
          <a:xfrm>
            <a:off x="548640" y="178308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7" name="a1:feature 1 num"/>
          <p:cNvSpPr txBox="1"/>
          <p:nvPr/>
        </p:nvSpPr>
        <p:spPr>
          <a:xfrm>
            <a:off x="74980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a1:feature 1 head"/>
          <p:cNvSpPr txBox="1"/>
          <p:nvPr/>
        </p:nvSpPr>
        <p:spPr>
          <a:xfrm>
            <a:off x="74980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Snapshots</a:t>
            </a:r>
            <a:endParaRPr lang="en-US" sz="1700" dirty="0"/>
          </a:p>
        </p:txBody>
      </p:sp>
      <p:sp>
        <p:nvSpPr>
          <p:cNvPr id="9" name="a1:feature 1 text"/>
          <p:cNvSpPr txBox="1"/>
          <p:nvPr/>
        </p:nvSpPr>
        <p:spPr>
          <a:xfrm>
            <a:off x="74980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Every run is saved with the whole board, in Git history.</a:t>
            </a:r>
            <a:endParaRPr lang="en-US" sz="1400" dirty="0"/>
          </a:p>
        </p:txBody>
      </p:sp>
      <p:sp>
        <p:nvSpPr>
          <p:cNvPr id="10" name="a1:feature 2 body"/>
          <p:cNvSpPr/>
          <p:nvPr/>
        </p:nvSpPr>
        <p:spPr>
          <a:xfrm>
            <a:off x="429768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1" name="a1:feature 2 strip"/>
          <p:cNvSpPr/>
          <p:nvPr/>
        </p:nvSpPr>
        <p:spPr>
          <a:xfrm>
            <a:off x="4297680" y="178308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12" name="a1:feature 2 num"/>
          <p:cNvSpPr txBox="1"/>
          <p:nvPr/>
        </p:nvSpPr>
        <p:spPr>
          <a:xfrm>
            <a:off x="449884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a1:feature 2 head"/>
          <p:cNvSpPr txBox="1"/>
          <p:nvPr/>
        </p:nvSpPr>
        <p:spPr>
          <a:xfrm>
            <a:off x="449884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Input cases</a:t>
            </a:r>
            <a:endParaRPr lang="en-US" sz="1700" dirty="0"/>
          </a:p>
        </p:txBody>
      </p:sp>
      <p:sp>
        <p:nvSpPr>
          <p:cNvPr id="14" name="a1:feature 2 text"/>
          <p:cNvSpPr txBox="1"/>
          <p:nvPr/>
        </p:nvSpPr>
        <p:spPr>
          <a:xfrm>
            <a:off x="449884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Run up to five inputs. Compare output exactly. Save suites.</a:t>
            </a:r>
            <a:endParaRPr lang="en-US" sz="1400" dirty="0"/>
          </a:p>
        </p:txBody>
      </p:sp>
      <p:sp>
        <p:nvSpPr>
          <p:cNvPr id="15" name="a1:feature 3 body"/>
          <p:cNvSpPr/>
          <p:nvPr/>
        </p:nvSpPr>
        <p:spPr>
          <a:xfrm>
            <a:off x="8046720" y="178308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6" name="a1:feature 3 strip"/>
          <p:cNvSpPr/>
          <p:nvPr/>
        </p:nvSpPr>
        <p:spPr>
          <a:xfrm>
            <a:off x="8046720" y="178308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17" name="a1:feature 3 num"/>
          <p:cNvSpPr txBox="1"/>
          <p:nvPr/>
        </p:nvSpPr>
        <p:spPr>
          <a:xfrm>
            <a:off x="8247888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a1:feature 3 head"/>
          <p:cNvSpPr txBox="1"/>
          <p:nvPr/>
        </p:nvSpPr>
        <p:spPr>
          <a:xfrm>
            <a:off x="8247888" y="231343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Teaching headers</a:t>
            </a:r>
            <a:endParaRPr lang="en-US" sz="1700" dirty="0"/>
          </a:p>
        </p:txBody>
      </p:sp>
      <p:sp>
        <p:nvSpPr>
          <p:cNvPr id="19" name="a1:feature 3 text"/>
          <p:cNvSpPr txBox="1"/>
          <p:nvPr/>
        </p:nvSpPr>
        <p:spPr>
          <a:xfrm>
            <a:off x="8247888" y="277063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Stack, queue, linked list and binary search, plus C++ STL examples.</a:t>
            </a:r>
            <a:endParaRPr lang="en-US" sz="1400" dirty="0"/>
          </a:p>
        </p:txBody>
      </p:sp>
      <p:sp>
        <p:nvSpPr>
          <p:cNvPr id="20" name="a2:feature 4 body"/>
          <p:cNvSpPr/>
          <p:nvPr/>
        </p:nvSpPr>
        <p:spPr>
          <a:xfrm>
            <a:off x="54864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1" name="a2:feature 4 strip"/>
          <p:cNvSpPr/>
          <p:nvPr/>
        </p:nvSpPr>
        <p:spPr>
          <a:xfrm>
            <a:off x="548640" y="3886200"/>
            <a:ext cx="3593592" cy="109728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2" name="a2:feature 4 num"/>
          <p:cNvSpPr txBox="1"/>
          <p:nvPr/>
        </p:nvSpPr>
        <p:spPr>
          <a:xfrm>
            <a:off x="74980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a2:feature 4 head"/>
          <p:cNvSpPr txBox="1"/>
          <p:nvPr/>
        </p:nvSpPr>
        <p:spPr>
          <a:xfrm>
            <a:off x="74980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a list</a:t>
            </a:r>
            <a:endParaRPr lang="en-US" sz="1700" dirty="0"/>
          </a:p>
        </p:txBody>
      </p:sp>
      <p:sp>
        <p:nvSpPr>
          <p:cNvPr id="24" name="a2:feature 4 text"/>
          <p:cNvSpPr txBox="1"/>
          <p:nvPr/>
        </p:nvSpPr>
        <p:spPr>
          <a:xfrm>
            <a:off x="74980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Draw or type 1-&gt;3-&gt;4-&gt;5 and Boardroom builds real linked-list nodes.</a:t>
            </a:r>
            <a:endParaRPr lang="en-US" sz="1400" dirty="0"/>
          </a:p>
        </p:txBody>
      </p:sp>
      <p:sp>
        <p:nvSpPr>
          <p:cNvPr id="25" name="a2:feature 5 body"/>
          <p:cNvSpPr/>
          <p:nvPr/>
        </p:nvSpPr>
        <p:spPr>
          <a:xfrm>
            <a:off x="429768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6" name="a2:feature 5 strip"/>
          <p:cNvSpPr/>
          <p:nvPr/>
        </p:nvSpPr>
        <p:spPr>
          <a:xfrm>
            <a:off x="4297680" y="3886200"/>
            <a:ext cx="3593592" cy="109728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27" name="a2:feature 5 num"/>
          <p:cNvSpPr txBox="1"/>
          <p:nvPr/>
        </p:nvSpPr>
        <p:spPr>
          <a:xfrm>
            <a:off x="449884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a2:feature 5 head"/>
          <p:cNvSpPr txBox="1"/>
          <p:nvPr/>
        </p:nvSpPr>
        <p:spPr>
          <a:xfrm>
            <a:off x="449884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Two boards</a:t>
            </a:r>
            <a:endParaRPr lang="en-US" sz="1700" dirty="0"/>
          </a:p>
        </p:txBody>
      </p:sp>
      <p:sp>
        <p:nvSpPr>
          <p:cNvPr id="29" name="a2:feature 5 text"/>
          <p:cNvSpPr txBox="1"/>
          <p:nvPr/>
        </p:nvSpPr>
        <p:spPr>
          <a:xfrm>
            <a:off x="449884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 tabs, and a side-by-side view for comparing two boards.</a:t>
            </a:r>
            <a:endParaRPr lang="en-US" sz="1400" dirty="0"/>
          </a:p>
        </p:txBody>
      </p:sp>
      <p:sp>
        <p:nvSpPr>
          <p:cNvPr id="30" name="a2:feature 6 body"/>
          <p:cNvSpPr/>
          <p:nvPr/>
        </p:nvSpPr>
        <p:spPr>
          <a:xfrm>
            <a:off x="8046720" y="3886200"/>
            <a:ext cx="3593592" cy="187452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31" name="a2:feature 6 strip"/>
          <p:cNvSpPr/>
          <p:nvPr/>
        </p:nvSpPr>
        <p:spPr>
          <a:xfrm>
            <a:off x="8046720" y="3886200"/>
            <a:ext cx="3593592" cy="109728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2" name="a2:feature 6 num"/>
          <p:cNvSpPr txBox="1"/>
          <p:nvPr/>
        </p:nvSpPr>
        <p:spPr>
          <a:xfrm>
            <a:off x="8247888" y="41422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a2:feature 6 head"/>
          <p:cNvSpPr txBox="1"/>
          <p:nvPr/>
        </p:nvSpPr>
        <p:spPr>
          <a:xfrm>
            <a:off x="8247888" y="4416552"/>
            <a:ext cx="3191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Teacher tools</a:t>
            </a:r>
            <a:endParaRPr lang="en-US" sz="1700" dirty="0"/>
          </a:p>
        </p:txBody>
      </p:sp>
      <p:sp>
        <p:nvSpPr>
          <p:cNvPr id="34" name="a2:feature 6 text"/>
          <p:cNvSpPr txBox="1"/>
          <p:nvPr/>
        </p:nvSpPr>
        <p:spPr>
          <a:xfrm>
            <a:off x="8247888" y="4873752"/>
            <a:ext cx="31912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Pen, eraser, shapes, laser pointer, five stroke widths and dark mode.</a:t>
            </a:r>
            <a:endParaRPr lang="en-US" sz="1400" dirty="0"/>
          </a:p>
        </p:txBody>
      </p:sp>
      <p:sp>
        <p:nvSpPr>
          <p:cNvPr id="35" name="a3:evidence bg"/>
          <p:cNvSpPr/>
          <p:nvPr/>
        </p:nvSpPr>
        <p:spPr>
          <a:xfrm>
            <a:off x="548640" y="5943600"/>
            <a:ext cx="6217920" cy="329184"/>
          </a:xfrm>
          <a:prstGeom prst="rect">
            <a:avLst/>
          </a:prstGeom>
          <a:solidFill>
            <a:srgbClr val="C9D5FF"/>
          </a:solidFill>
          <a:ln w="12700">
            <a:solidFill>
              <a:srgbClr val="C9D5FF"/>
            </a:solidFill>
            <a:prstDash val="solid"/>
          </a:ln>
        </p:spPr>
      </p:sp>
      <p:sp>
        <p:nvSpPr>
          <p:cNvPr id="36" name="a3:evidence text"/>
          <p:cNvSpPr txBox="1"/>
          <p:nvPr/>
        </p:nvSpPr>
        <p:spPr>
          <a:xfrm>
            <a:off x="548640" y="594360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 of 39 non-Gemini browser tests passed  ·  18 Oct 2026</a:t>
            </a:r>
            <a:endParaRPr lang="en-US" sz="1100" dirty="0"/>
          </a:p>
        </p:txBody>
      </p:sp>
      <p:sp>
        <p:nvSpPr>
          <p:cNvPr id="37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39" name="nav 1">
            <a:hlinkClick r:id="rId1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0" name="nav 2">
            <a:hlinkClick r:id="rId2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1" name="nav 3">
            <a:hlinkClick r:id="rId3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2" name="nav 4">
            <a:hlinkClick r:id="rId4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3" name="nav 5">
            <a:hlinkClick r:id="rId5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4" name="nav 6">
            <a:hlinkClick r:id="rId6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5" name="nav 7">
            <a:hlinkClick r:id="rId7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6" name="nav 8">
            <a:hlinkClick r:id="rId8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 mark"/>
          <p:cNvSpPr/>
          <p:nvPr/>
        </p:nvSpPr>
        <p:spPr>
          <a:xfrm>
            <a:off x="548640" y="457200"/>
            <a:ext cx="146304" cy="146304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04672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   LIMITS AND NEXT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686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3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it stands, and what comes next.</a:t>
            </a:r>
            <a:endParaRPr lang="en-US" sz="3400" dirty="0"/>
          </a:p>
        </p:txBody>
      </p:sp>
      <p:sp>
        <p:nvSpPr>
          <p:cNvPr id="5" name="a1:stat 1 bg"/>
          <p:cNvSpPr/>
          <p:nvPr/>
        </p:nvSpPr>
        <p:spPr>
          <a:xfrm>
            <a:off x="548640" y="1737360"/>
            <a:ext cx="3429000" cy="2011680"/>
          </a:xfrm>
          <a:prstGeom prst="rect">
            <a:avLst/>
          </a:prstGeom>
          <a:solidFill>
            <a:srgbClr val="3355FF"/>
          </a:solidFill>
          <a:ln w="12700">
            <a:solidFill>
              <a:srgbClr val="3355FF"/>
            </a:solidFill>
            <a:prstDash val="solid"/>
          </a:ln>
        </p:spPr>
      </p:sp>
      <p:sp>
        <p:nvSpPr>
          <p:cNvPr id="6" name="a1:stat 1 number"/>
          <p:cNvSpPr txBox="1"/>
          <p:nvPr/>
        </p:nvSpPr>
        <p:spPr>
          <a:xfrm>
            <a:off x="777240" y="1828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39/39</a:t>
            </a:r>
            <a:endParaRPr lang="en-US" sz="5400" dirty="0"/>
          </a:p>
        </p:txBody>
      </p:sp>
      <p:sp>
        <p:nvSpPr>
          <p:cNvPr id="7" name="a1:stat 1 text"/>
          <p:cNvSpPr txBox="1"/>
          <p:nvPr/>
        </p:nvSpPr>
        <p:spPr>
          <a:xfrm>
            <a:off x="777240" y="2926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non-Gemini browser tests passed, 18 Oct 2026</a:t>
            </a:r>
            <a:endParaRPr lang="en-US" sz="1400" dirty="0"/>
          </a:p>
        </p:txBody>
      </p:sp>
      <p:sp>
        <p:nvSpPr>
          <p:cNvPr id="8" name="a1:stat 2 bg"/>
          <p:cNvSpPr/>
          <p:nvPr/>
        </p:nvSpPr>
        <p:spPr>
          <a:xfrm>
            <a:off x="548640" y="4023360"/>
            <a:ext cx="3429000" cy="201168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9" name="a1:stat 2 number"/>
          <p:cNvSpPr txBox="1"/>
          <p:nvPr/>
        </p:nvSpPr>
        <p:spPr>
          <a:xfrm>
            <a:off x="777240" y="41148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55</a:t>
            </a:r>
            <a:endParaRPr lang="en-US" sz="5400" dirty="0"/>
          </a:p>
        </p:txBody>
      </p:sp>
      <p:sp>
        <p:nvSpPr>
          <p:cNvPr id="10" name="a1:stat 2 text"/>
          <p:cNvSpPr txBox="1"/>
          <p:nvPr/>
        </p:nvSpPr>
        <p:spPr>
          <a:xfrm>
            <a:off x="77724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compile and run probes in our sandbox test, C++ and Python</a:t>
            </a:r>
            <a:endParaRPr lang="en-US" sz="1400" dirty="0"/>
          </a:p>
        </p:txBody>
      </p:sp>
      <p:sp>
        <p:nvSpPr>
          <p:cNvPr id="11" name="a2:gaps label"/>
          <p:cNvSpPr txBox="1"/>
          <p:nvPr/>
        </p:nvSpPr>
        <p:spPr>
          <a:xfrm>
            <a:off x="43434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5A4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KNOWN GAPS</a:t>
            </a:r>
            <a:endParaRPr lang="en-US" sz="1200" dirty="0"/>
          </a:p>
        </p:txBody>
      </p:sp>
      <p:sp>
        <p:nvSpPr>
          <p:cNvPr id="12" name="a2:gap 1 body"/>
          <p:cNvSpPr/>
          <p:nvPr/>
        </p:nvSpPr>
        <p:spPr>
          <a:xfrm>
            <a:off x="4343400" y="2103120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3" name="a2:gap 1 bar"/>
          <p:cNvSpPr/>
          <p:nvPr/>
        </p:nvSpPr>
        <p:spPr>
          <a:xfrm>
            <a:off x="4343400" y="2103120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4" name="a2:gap 1 text"/>
          <p:cNvSpPr txBox="1"/>
          <p:nvPr/>
        </p:nvSpPr>
        <p:spPr>
          <a:xfrm>
            <a:off x="4617720" y="21031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Hosted site runs code on Wandbox: rate limited, no sanitizer promise.</a:t>
            </a:r>
            <a:endParaRPr lang="en-US" sz="1200" dirty="0"/>
          </a:p>
        </p:txBody>
      </p:sp>
      <p:sp>
        <p:nvSpPr>
          <p:cNvPr id="15" name="a2:gap 2 body"/>
          <p:cNvSpPr/>
          <p:nvPr/>
        </p:nvSpPr>
        <p:spPr>
          <a:xfrm>
            <a:off x="4343400" y="3081528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6" name="a2:gap 2 bar"/>
          <p:cNvSpPr/>
          <p:nvPr/>
        </p:nvSpPr>
        <p:spPr>
          <a:xfrm>
            <a:off x="4343400" y="3081528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17" name="a2:gap 2 text"/>
          <p:cNvSpPr txBox="1"/>
          <p:nvPr/>
        </p:nvSpPr>
        <p:spPr>
          <a:xfrm>
            <a:off x="4617720" y="3081528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Language is C++17. C that is not valid C++ will not compile.</a:t>
            </a:r>
            <a:endParaRPr lang="en-US" sz="1200" dirty="0"/>
          </a:p>
        </p:txBody>
      </p:sp>
      <p:sp>
        <p:nvSpPr>
          <p:cNvPr id="18" name="a2:gap 3 body"/>
          <p:cNvSpPr/>
          <p:nvPr/>
        </p:nvSpPr>
        <p:spPr>
          <a:xfrm>
            <a:off x="4343400" y="4059936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19" name="a2:gap 3 bar"/>
          <p:cNvSpPr/>
          <p:nvPr/>
        </p:nvSpPr>
        <p:spPr>
          <a:xfrm>
            <a:off x="4343400" y="4059936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0" name="a2:gap 3 text"/>
          <p:cNvSpPr txBox="1"/>
          <p:nvPr/>
        </p:nvSpPr>
        <p:spPr>
          <a:xfrm>
            <a:off x="4617720" y="405993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Gemini features are not covered by the automated tests above.</a:t>
            </a:r>
            <a:endParaRPr lang="en-US" sz="1200" dirty="0"/>
          </a:p>
        </p:txBody>
      </p:sp>
      <p:sp>
        <p:nvSpPr>
          <p:cNvPr id="21" name="a2:gap 4 body"/>
          <p:cNvSpPr/>
          <p:nvPr/>
        </p:nvSpPr>
        <p:spPr>
          <a:xfrm>
            <a:off x="4343400" y="5038344"/>
            <a:ext cx="356616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0E1330"/>
            </a:solidFill>
            <a:prstDash val="solid"/>
          </a:ln>
        </p:spPr>
      </p:sp>
      <p:sp>
        <p:nvSpPr>
          <p:cNvPr id="22" name="a2:gap 4 bar"/>
          <p:cNvSpPr/>
          <p:nvPr/>
        </p:nvSpPr>
        <p:spPr>
          <a:xfrm>
            <a:off x="4343400" y="5038344"/>
            <a:ext cx="109728" cy="86868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23" name="a2:gap 4 text"/>
          <p:cNvSpPr txBox="1"/>
          <p:nvPr/>
        </p:nvSpPr>
        <p:spPr>
          <a:xfrm>
            <a:off x="4617720" y="503834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Handwriting accuracy is not yet measured on real classroom samples.</a:t>
            </a:r>
            <a:endParaRPr lang="en-US" sz="1200" dirty="0"/>
          </a:p>
        </p:txBody>
      </p:sp>
      <p:sp>
        <p:nvSpPr>
          <p:cNvPr id="24" name="a3:next label"/>
          <p:cNvSpPr txBox="1"/>
          <p:nvPr/>
        </p:nvSpPr>
        <p:spPr>
          <a:xfrm>
            <a:off x="822960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55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IF WE HAD ANOTHER MONTH</a:t>
            </a:r>
            <a:endParaRPr lang="en-US" sz="1200" dirty="0"/>
          </a:p>
        </p:txBody>
      </p:sp>
      <p:sp>
        <p:nvSpPr>
          <p:cNvPr id="25" name="a3:next 1 body"/>
          <p:cNvSpPr/>
          <p:nvPr/>
        </p:nvSpPr>
        <p:spPr>
          <a:xfrm>
            <a:off x="8229600" y="2103120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26" name="a3:next 1 strip"/>
          <p:cNvSpPr/>
          <p:nvPr/>
        </p:nvSpPr>
        <p:spPr>
          <a:xfrm>
            <a:off x="8229600" y="2103120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27" name="a3:next 1 head"/>
          <p:cNvSpPr txBox="1"/>
          <p:nvPr/>
        </p:nvSpPr>
        <p:spPr>
          <a:xfrm>
            <a:off x="8412480" y="23042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Measure</a:t>
            </a:r>
            <a:endParaRPr lang="en-US" sz="1500" dirty="0"/>
          </a:p>
        </p:txBody>
      </p:sp>
      <p:sp>
        <p:nvSpPr>
          <p:cNvPr id="28" name="a3:next 1 text"/>
          <p:cNvSpPr txBox="1"/>
          <p:nvPr/>
        </p:nvSpPr>
        <p:spPr>
          <a:xfrm>
            <a:off x="8412480" y="263347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Benchmark handwriting accuracy on real classroom samples.</a:t>
            </a:r>
            <a:endParaRPr lang="en-US" sz="1200" dirty="0"/>
          </a:p>
        </p:txBody>
      </p:sp>
      <p:sp>
        <p:nvSpPr>
          <p:cNvPr id="29" name="a3:next 2 body"/>
          <p:cNvSpPr/>
          <p:nvPr/>
        </p:nvSpPr>
        <p:spPr>
          <a:xfrm>
            <a:off x="8229600" y="3401568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0" name="a3:next 2 strip"/>
          <p:cNvSpPr/>
          <p:nvPr/>
        </p:nvSpPr>
        <p:spPr>
          <a:xfrm>
            <a:off x="8229600" y="3401568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1" name="a3:next 2 head"/>
          <p:cNvSpPr txBox="1"/>
          <p:nvPr/>
        </p:nvSpPr>
        <p:spPr>
          <a:xfrm>
            <a:off x="8412480" y="3602736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Harden</a:t>
            </a:r>
            <a:endParaRPr lang="en-US" sz="1500" dirty="0"/>
          </a:p>
        </p:txBody>
      </p:sp>
      <p:sp>
        <p:nvSpPr>
          <p:cNvPr id="32" name="a3:next 2 text"/>
          <p:cNvSpPr txBox="1"/>
          <p:nvPr/>
        </p:nvSpPr>
        <p:spPr>
          <a:xfrm>
            <a:off x="8412480" y="39319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Separate execution VM, login and a security review before public hosting.</a:t>
            </a:r>
            <a:endParaRPr lang="en-US" sz="1200" dirty="0"/>
          </a:p>
        </p:txBody>
      </p:sp>
      <p:sp>
        <p:nvSpPr>
          <p:cNvPr id="33" name="a3:next 3 body"/>
          <p:cNvSpPr/>
          <p:nvPr/>
        </p:nvSpPr>
        <p:spPr>
          <a:xfrm>
            <a:off x="8229600" y="4700016"/>
            <a:ext cx="3410712" cy="1170432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34" name="a3:next 3 strip"/>
          <p:cNvSpPr/>
          <p:nvPr/>
        </p:nvSpPr>
        <p:spPr>
          <a:xfrm>
            <a:off x="8229600" y="4700016"/>
            <a:ext cx="3410712" cy="91440"/>
          </a:xfrm>
          <a:prstGeom prst="rect">
            <a:avLst/>
          </a:prstGeom>
          <a:solidFill>
            <a:srgbClr val="FFC531"/>
          </a:solidFill>
          <a:ln w="12700">
            <a:solidFill>
              <a:srgbClr val="FFC531"/>
            </a:solidFill>
            <a:prstDash val="solid"/>
          </a:ln>
        </p:spPr>
      </p:sp>
      <p:sp>
        <p:nvSpPr>
          <p:cNvPr id="35" name="a3:next 3 head"/>
          <p:cNvSpPr txBox="1"/>
          <p:nvPr/>
        </p:nvSpPr>
        <p:spPr>
          <a:xfrm>
            <a:off x="8412480" y="4901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C53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Pin</a:t>
            </a:r>
            <a:endParaRPr lang="en-US" sz="1500" dirty="0"/>
          </a:p>
        </p:txBody>
      </p:sp>
      <p:sp>
        <p:nvSpPr>
          <p:cNvPr id="36" name="a3:next 3 text"/>
          <p:cNvSpPr txBox="1"/>
          <p:nvPr/>
        </p:nvSpPr>
        <p:spPr>
          <a:xfrm>
            <a:off x="8412480" y="52303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Freeze compiler and header versions inside every lesson snapshot.</a:t>
            </a:r>
            <a:endParaRPr lang="en-US" sz="1200" dirty="0"/>
          </a:p>
        </p:txBody>
      </p:sp>
      <p:sp>
        <p:nvSpPr>
          <p:cNvPr id="37" name="a4:repo bg"/>
          <p:cNvSpPr/>
          <p:nvPr/>
        </p:nvSpPr>
        <p:spPr>
          <a:xfrm>
            <a:off x="8229600" y="6035040"/>
            <a:ext cx="3410712" cy="274320"/>
          </a:xfrm>
          <a:prstGeom prst="rect">
            <a:avLst/>
          </a:prstGeom>
          <a:solidFill>
            <a:srgbClr val="FF5A4E"/>
          </a:solidFill>
          <a:ln w="12700">
            <a:solidFill>
              <a:srgbClr val="FF5A4E"/>
            </a:solidFill>
            <a:prstDash val="solid"/>
          </a:ln>
        </p:spPr>
      </p:sp>
      <p:sp>
        <p:nvSpPr>
          <p:cNvPr id="38" name="a4:repo text">
            <a:hlinkClick r:id="rId1" tooltip="Open the repository"/>
          </p:cNvPr>
          <p:cNvSpPr txBox="1"/>
          <p:nvPr/>
        </p:nvSpPr>
        <p:spPr>
          <a:xfrm>
            <a:off x="8229600" y="6035040"/>
            <a:ext cx="3410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1" invalidUrl="" action="" tgtFrame="" tooltip="Open the repositor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github.com/ksu-gitreaper807/Craft-N-Code-Karnataka</a:t>
            </a:r>
            <a:endParaRPr lang="en-US" sz="900" dirty="0"/>
          </a:p>
        </p:txBody>
      </p:sp>
      <p:sp>
        <p:nvSpPr>
          <p:cNvPr id="39" name="footer rule"/>
          <p:cNvSpPr/>
          <p:nvPr/>
        </p:nvSpPr>
        <p:spPr>
          <a:xfrm>
            <a:off x="548640" y="6382512"/>
            <a:ext cx="11091672" cy="10973"/>
          </a:xfrm>
          <a:prstGeom prst="rect">
            <a:avLst/>
          </a:prstGeom>
          <a:solidFill>
            <a:srgbClr val="0E1330"/>
          </a:solidFill>
          <a:ln w="12700">
            <a:solidFill>
              <a:srgbClr val="0E133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8640" y="64556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0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Boardroom  ·  Craft N Code Karnataka 2026</a:t>
            </a:r>
            <a:endParaRPr lang="en-US" sz="1000" dirty="0"/>
          </a:p>
        </p:txBody>
      </p:sp>
      <p:sp>
        <p:nvSpPr>
          <p:cNvPr id="41" name="nav 1">
            <a:hlinkClick r:id="rId2" tooltip="Go to slide 1" action="ppaction://hlinksldjump"/>
          </p:cNvPr>
          <p:cNvSpPr txBox="1"/>
          <p:nvPr/>
        </p:nvSpPr>
        <p:spPr>
          <a:xfrm>
            <a:off x="900684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2" action="ppaction://hlinksldjump" tooltip="Go to slide 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</a:t>
            </a:r>
            <a:endParaRPr lang="en-US" sz="1000" dirty="0"/>
          </a:p>
        </p:txBody>
      </p:sp>
      <p:sp>
        <p:nvSpPr>
          <p:cNvPr id="42" name="nav 2">
            <a:hlinkClick r:id="rId3" tooltip="Go to slide 2" action="ppaction://hlinksldjump"/>
          </p:cNvPr>
          <p:cNvSpPr txBox="1"/>
          <p:nvPr/>
        </p:nvSpPr>
        <p:spPr>
          <a:xfrm>
            <a:off x="933602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3" action="ppaction://hlinksldjump" tooltip="Go to slide 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</a:t>
            </a:r>
            <a:endParaRPr lang="en-US" sz="1000" dirty="0"/>
          </a:p>
        </p:txBody>
      </p:sp>
      <p:sp>
        <p:nvSpPr>
          <p:cNvPr id="43" name="nav 3">
            <a:hlinkClick r:id="rId4" tooltip="Go to slide 3" action="ppaction://hlinksldjump"/>
          </p:cNvPr>
          <p:cNvSpPr txBox="1"/>
          <p:nvPr/>
        </p:nvSpPr>
        <p:spPr>
          <a:xfrm>
            <a:off x="9665208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4" action="ppaction://hlinksldjump" tooltip="Go to slide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</a:t>
            </a:r>
            <a:endParaRPr lang="en-US" sz="1000" dirty="0"/>
          </a:p>
        </p:txBody>
      </p:sp>
      <p:sp>
        <p:nvSpPr>
          <p:cNvPr id="44" name="nav 4">
            <a:hlinkClick r:id="rId5" tooltip="Go to slide 4" action="ppaction://hlinksldjump"/>
          </p:cNvPr>
          <p:cNvSpPr txBox="1"/>
          <p:nvPr/>
        </p:nvSpPr>
        <p:spPr>
          <a:xfrm>
            <a:off x="9994392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5" action="ppaction://hlinksldjump" tooltip="Go to slide 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4</a:t>
            </a:r>
            <a:endParaRPr lang="en-US" sz="1000" dirty="0"/>
          </a:p>
        </p:txBody>
      </p:sp>
      <p:sp>
        <p:nvSpPr>
          <p:cNvPr id="45" name="nav 5">
            <a:hlinkClick r:id="rId6" tooltip="Go to slide 5" action="ppaction://hlinksldjump"/>
          </p:cNvPr>
          <p:cNvSpPr txBox="1"/>
          <p:nvPr/>
        </p:nvSpPr>
        <p:spPr>
          <a:xfrm>
            <a:off x="10323576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6" action="ppaction://hlinksldjump" tooltip="Go to slide 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5</a:t>
            </a:r>
            <a:endParaRPr lang="en-US" sz="1000" dirty="0"/>
          </a:p>
        </p:txBody>
      </p:sp>
      <p:sp>
        <p:nvSpPr>
          <p:cNvPr id="46" name="nav 6">
            <a:hlinkClick r:id="rId7" tooltip="Go to slide 6" action="ppaction://hlinksldjump"/>
          </p:cNvPr>
          <p:cNvSpPr txBox="1"/>
          <p:nvPr/>
        </p:nvSpPr>
        <p:spPr>
          <a:xfrm>
            <a:off x="10652760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7" action="ppaction://hlinksldjump" tooltip="Go to slide 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6</a:t>
            </a:r>
            <a:endParaRPr lang="en-US" sz="1000" dirty="0"/>
          </a:p>
        </p:txBody>
      </p:sp>
      <p:sp>
        <p:nvSpPr>
          <p:cNvPr id="47" name="nav 7">
            <a:hlinkClick r:id="rId8" tooltip="Go to slide 7" action="ppaction://hlinksldjump"/>
          </p:cNvPr>
          <p:cNvSpPr txBox="1"/>
          <p:nvPr/>
        </p:nvSpPr>
        <p:spPr>
          <a:xfrm>
            <a:off x="10981944" y="6464808"/>
            <a:ext cx="274320" cy="237744"/>
          </a:xfrm>
          <a:prstGeom prst="rect">
            <a:avLst/>
          </a:prstGeom>
          <a:solidFill>
            <a:srgbClr val="F6F4E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0E13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8" action="ppaction://hlinksldjump" tooltip="Go to slide 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7</a:t>
            </a:r>
            <a:endParaRPr lang="en-US" sz="1000" dirty="0"/>
          </a:p>
        </p:txBody>
      </p:sp>
      <p:sp>
        <p:nvSpPr>
          <p:cNvPr id="48" name="nav 8">
            <a:hlinkClick r:id="rId9" tooltip="Go to slide 8" action="ppaction://hlinksldjump"/>
          </p:cNvPr>
          <p:cNvSpPr txBox="1"/>
          <p:nvPr/>
        </p:nvSpPr>
        <p:spPr>
          <a:xfrm>
            <a:off x="11311128" y="6464808"/>
            <a:ext cx="274320" cy="237744"/>
          </a:xfrm>
          <a:prstGeom prst="rect">
            <a:avLst/>
          </a:prstGeom>
          <a:solidFill>
            <a:srgbClr val="FF5A4E"/>
          </a:solidFill>
          <a:ln w="12700">
            <a:solidFill>
              <a:srgbClr val="0E133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u="sng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  <a:hlinkClick r:id="rId9" action="ppaction://hlinksldjump" tooltip="Go to slide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theme/theme1.xml><?xml version="1.0" encoding="utf-8"?>
<a:theme xmlns:a="http://schemas.openxmlformats.org/drawingml/2006/main" name="Boardroom">
  <a:themeElements>
    <a:clrScheme name="Boardroom">
      <a:dk1>
        <a:srgbClr val="0E1330"/>
      </a:dk1>
      <a:lt1>
        <a:srgbClr val="FFFFFF"/>
      </a:lt1>
      <a:dk2>
        <a:srgbClr val="0E1330"/>
      </a:dk2>
      <a:lt2>
        <a:srgbClr val="F6F4EE"/>
      </a:lt2>
      <a:accent1>
        <a:srgbClr val="FF5A4E"/>
      </a:accent1>
      <a:accent2>
        <a:srgbClr val="FFC531"/>
      </a:accent2>
      <a:accent3>
        <a:srgbClr val="3355FF"/>
      </a:accent3>
      <a:accent4>
        <a:srgbClr val="C9D5FF"/>
      </a:accent4>
      <a:accent5>
        <a:srgbClr val="5B6075"/>
      </a:accent5>
      <a:accent6>
        <a:srgbClr val="F6F4EE"/>
      </a:accent6>
      <a:hlink>
        <a:srgbClr val="3355FF"/>
      </a:hlink>
      <a:folHlink>
        <a:srgbClr val="3355FF"/>
      </a:folHlink>
    </a:clrScheme>
    <a:fontScheme name="Boardroo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ace Grotes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Boardroom: the whiteboard that runs your code</dc:title>
  <dc:subject>PptxGenJS Presentation</dc:subject>
  <dc:creator>Craft N Code Karnataka 2026 team</dc:creator>
  <cp:lastModifiedBy>Craft N Code Karnataka 2026 team</cp:lastModifiedBy>
  <cp:revision>1</cp:revision>
  <dcterms:created xsi:type="dcterms:W3CDTF">2026-10-18T15:21:20Z</dcterms:created>
  <dcterms:modified xsi:type="dcterms:W3CDTF">2026-10-18T15:21:20Z</dcterms:modified>
</cp:coreProperties>
</file>