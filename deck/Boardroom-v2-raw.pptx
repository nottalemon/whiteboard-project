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K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1-1.gif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3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4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5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su-gitreaper807/Craft-N-Code-Karnataka" TargetMode="Externa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 coral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CRAFT N CODE KARNATAKA 2026   ·   AI FOR EDUCATION</a:t>
            </a:r>
            <a:endParaRPr lang="en-US" sz="1200" dirty="0"/>
          </a:p>
        </p:txBody>
      </p:sp>
      <p:sp>
        <p:nvSpPr>
          <p:cNvPr id="4" name="cover title"/>
          <p:cNvSpPr txBox="1"/>
          <p:nvPr/>
        </p:nvSpPr>
        <p:spPr>
          <a:xfrm>
            <a:off x="822960" y="1371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</a:t>
            </a:r>
            <a:endParaRPr lang="en-US" sz="8000" dirty="0"/>
          </a:p>
        </p:txBody>
      </p:sp>
      <p:sp>
        <p:nvSpPr>
          <p:cNvPr id="5" name="cover subtitle"/>
          <p:cNvSpPr txBox="1"/>
          <p:nvPr/>
        </p:nvSpPr>
        <p:spPr>
          <a:xfrm>
            <a:off x="822960" y="28346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whiteboard that runs your code.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C++ or Python on a board. Select it. Run it.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lesson never leaves the board.</a:t>
            </a:r>
            <a:endParaRPr lang="en-US" sz="1600" dirty="0"/>
          </a:p>
        </p:txBody>
      </p:sp>
      <p:sp>
        <p:nvSpPr>
          <p:cNvPr id="7" name="a1:verb 1 bg"/>
          <p:cNvSpPr/>
          <p:nvPr/>
        </p:nvSpPr>
        <p:spPr>
          <a:xfrm>
            <a:off x="822960" y="4983480"/>
            <a:ext cx="1371600" cy="42062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8" name="a1:verb 1 text"/>
          <p:cNvSpPr txBox="1"/>
          <p:nvPr/>
        </p:nvSpPr>
        <p:spPr>
          <a:xfrm>
            <a:off x="822960" y="49834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</a:t>
            </a:r>
            <a:endParaRPr lang="en-US" sz="1200" dirty="0"/>
          </a:p>
        </p:txBody>
      </p:sp>
      <p:sp>
        <p:nvSpPr>
          <p:cNvPr id="9" name="a1:verb 2 bg"/>
          <p:cNvSpPr/>
          <p:nvPr/>
        </p:nvSpPr>
        <p:spPr>
          <a:xfrm>
            <a:off x="2286000" y="4983480"/>
            <a:ext cx="1371600" cy="420624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0" name="a1:verb 2 text"/>
          <p:cNvSpPr txBox="1"/>
          <p:nvPr/>
        </p:nvSpPr>
        <p:spPr>
          <a:xfrm>
            <a:off x="2286000" y="49834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</a:t>
            </a:r>
            <a:endParaRPr lang="en-US" sz="1200" dirty="0"/>
          </a:p>
        </p:txBody>
      </p:sp>
      <p:sp>
        <p:nvSpPr>
          <p:cNvPr id="11" name="a1:verb 3 bg"/>
          <p:cNvSpPr/>
          <p:nvPr/>
        </p:nvSpPr>
        <p:spPr>
          <a:xfrm>
            <a:off x="3749040" y="4983480"/>
            <a:ext cx="1371600" cy="42062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2" name="a1:verb 3 text"/>
          <p:cNvSpPr txBox="1"/>
          <p:nvPr/>
        </p:nvSpPr>
        <p:spPr>
          <a:xfrm>
            <a:off x="3749040" y="49834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897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95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· Excalidraw · Node.js · Docker · g++ (C++17) · Python · Gemini</a:t>
            </a:r>
            <a:endParaRPr lang="en-US" sz="1100" dirty="0"/>
          </a:p>
        </p:txBody>
      </p:sp>
      <p:sp>
        <p:nvSpPr>
          <p:cNvPr id="14" name="cover simulation backdrop"/>
          <p:cNvSpPr/>
          <p:nvPr/>
        </p:nvSpPr>
        <p:spPr>
          <a:xfrm>
            <a:off x="7187184" y="1563624"/>
            <a:ext cx="4572000" cy="27889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pic>
        <p:nvPicPr>
          <p:cNvPr id="15" name="cover simulation" descr="Animation: code is typed on a board, blue ink input 3 5 is added, Run is pressed and 3 + 5 = 8 appear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417320"/>
            <a:ext cx="4572000" cy="2788920"/>
          </a:xfrm>
          <a:prstGeom prst="rect">
            <a:avLst/>
          </a:prstGeom>
        </p:spPr>
      </p:pic>
      <p:sp>
        <p:nvSpPr>
          <p:cNvPr id="16" name="cover simulation frame"/>
          <p:cNvSpPr/>
          <p:nvPr/>
        </p:nvSpPr>
        <p:spPr>
          <a:xfrm>
            <a:off x="7040880" y="1417320"/>
            <a:ext cx="4572000" cy="2788920"/>
          </a:xfrm>
          <a:prstGeom prst="rect">
            <a:avLst/>
          </a:prstGeom>
          <a:ln w="19050">
            <a:solidFill>
              <a:srgbClr val="0E1330"/>
            </a:solidFill>
            <a:prstDash val="solid"/>
          </a:ln>
        </p:spPr>
      </p:sp>
      <p:sp>
        <p:nvSpPr>
          <p:cNvPr id="17" name="loop tag bg"/>
          <p:cNvSpPr/>
          <p:nvPr/>
        </p:nvSpPr>
        <p:spPr>
          <a:xfrm>
            <a:off x="7040880" y="1051560"/>
            <a:ext cx="1371600" cy="29260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8" name="loop tag text"/>
          <p:cNvSpPr txBox="1"/>
          <p:nvPr/>
        </p:nvSpPr>
        <p:spPr>
          <a:xfrm>
            <a:off x="7040880" y="1051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LOOP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F95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Simulation of one lesson run. Click to reveal the three steps.</a:t>
            </a:r>
            <a:endParaRPr lang="en-US" sz="1200" dirty="0"/>
          </a:p>
        </p:txBody>
      </p:sp>
      <p:sp>
        <p:nvSpPr>
          <p:cNvPr id="20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5B6075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22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23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24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25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26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27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28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29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  THE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4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whiteboard can’t compile.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Teachers explain C++ and Python at a board. Checking an example means leaving the lesson for a separate IDE, and the board never shows what actually happened.</a:t>
            </a:r>
            <a:endParaRPr lang="en-US" sz="1700" dirty="0"/>
          </a:p>
        </p:txBody>
      </p:sp>
      <p:sp>
        <p:nvSpPr>
          <p:cNvPr id="6" name="user tag bg"/>
          <p:cNvSpPr/>
          <p:nvPr/>
        </p:nvSpPr>
        <p:spPr>
          <a:xfrm>
            <a:off x="548640" y="3977640"/>
            <a:ext cx="3108960" cy="347472"/>
          </a:xfrm>
          <a:prstGeom prst="rect">
            <a:avLst/>
          </a:prstGeom>
          <a:solidFill>
            <a:srgbClr val="C9D5FF"/>
          </a:solidFill>
          <a:ln w="12700">
            <a:solidFill>
              <a:srgbClr val="C9D5FF"/>
            </a:solidFill>
            <a:prstDash val="solid"/>
          </a:ln>
        </p:spPr>
      </p:sp>
      <p:sp>
        <p:nvSpPr>
          <p:cNvPr id="7" name="user tag text"/>
          <p:cNvSpPr txBox="1"/>
          <p:nvPr/>
        </p:nvSpPr>
        <p:spPr>
          <a:xfrm>
            <a:off x="548640" y="3977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USER: TEACHERS AT A BOARD</a:t>
            </a:r>
            <a:endParaRPr lang="en-US" sz="1000" dirty="0"/>
          </a:p>
        </p:txBody>
      </p:sp>
      <p:sp>
        <p:nvSpPr>
          <p:cNvPr id="8" name="premise tag bg"/>
          <p:cNvSpPr/>
          <p:nvPr/>
        </p:nvSpPr>
        <p:spPr>
          <a:xfrm>
            <a:off x="3749040" y="3977640"/>
            <a:ext cx="2743200" cy="34747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9" name="premise tag text"/>
          <p:cNvSpPr txBox="1"/>
          <p:nvPr/>
        </p:nvSpPr>
        <p:spPr>
          <a:xfrm>
            <a:off x="3749040" y="3977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PREMISE, NOT A STATISTIC</a:t>
            </a:r>
            <a:endParaRPr lang="en-US" sz="1000" dirty="0"/>
          </a:p>
        </p:txBody>
      </p:sp>
      <p:sp>
        <p:nvSpPr>
          <p:cNvPr id="10" name="today panel"/>
          <p:cNvSpPr/>
          <p:nvPr/>
        </p:nvSpPr>
        <p:spPr>
          <a:xfrm>
            <a:off x="6949440" y="868680"/>
            <a:ext cx="4690872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1" name="today strip"/>
          <p:cNvSpPr/>
          <p:nvPr/>
        </p:nvSpPr>
        <p:spPr>
          <a:xfrm>
            <a:off x="6949440" y="868680"/>
            <a:ext cx="4690872" cy="109728"/>
          </a:xfrm>
          <a:prstGeom prst="rect">
            <a:avLst/>
          </a:prstGeom>
          <a:solidFill>
            <a:srgbClr val="5B6075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</a:t>
            </a:r>
            <a:endParaRPr lang="en-US" sz="1200" dirty="0"/>
          </a:p>
        </p:txBody>
      </p:sp>
      <p:sp>
        <p:nvSpPr>
          <p:cNvPr id="13" name="today num 1"/>
          <p:cNvSpPr/>
          <p:nvPr/>
        </p:nvSpPr>
        <p:spPr>
          <a:xfrm>
            <a:off x="7178040" y="1645920"/>
            <a:ext cx="329184" cy="32918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7804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1645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on the board</a:t>
            </a:r>
            <a:endParaRPr lang="en-US" sz="1600" dirty="0"/>
          </a:p>
        </p:txBody>
      </p:sp>
      <p:sp>
        <p:nvSpPr>
          <p:cNvPr id="16" name="today num 2"/>
          <p:cNvSpPr/>
          <p:nvPr/>
        </p:nvSpPr>
        <p:spPr>
          <a:xfrm>
            <a:off x="7178040" y="2148840"/>
            <a:ext cx="329184" cy="32918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148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Switch to an IDE</a:t>
            </a:r>
            <a:endParaRPr lang="en-US" sz="1600" dirty="0"/>
          </a:p>
        </p:txBody>
      </p:sp>
      <p:sp>
        <p:nvSpPr>
          <p:cNvPr id="19" name="today num 3"/>
          <p:cNvSpPr/>
          <p:nvPr/>
        </p:nvSpPr>
        <p:spPr>
          <a:xfrm>
            <a:off x="7178040" y="2651760"/>
            <a:ext cx="329184" cy="32918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651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Paste, run, switch back</a:t>
            </a:r>
            <a:endParaRPr lang="en-US" sz="1600" dirty="0"/>
          </a:p>
        </p:txBody>
      </p:sp>
      <p:sp>
        <p:nvSpPr>
          <p:cNvPr id="22" name="a1:after panel"/>
          <p:cNvSpPr/>
          <p:nvPr/>
        </p:nvSpPr>
        <p:spPr>
          <a:xfrm>
            <a:off x="6949440" y="3520440"/>
            <a:ext cx="4690872" cy="251460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3" name="a1:after label"/>
          <p:cNvSpPr txBox="1"/>
          <p:nvPr/>
        </p:nvSpPr>
        <p:spPr>
          <a:xfrm>
            <a:off x="71780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BOARDROOM</a:t>
            </a:r>
            <a:endParaRPr lang="en-US" sz="1200" dirty="0"/>
          </a:p>
        </p:txBody>
      </p:sp>
      <p:sp>
        <p:nvSpPr>
          <p:cNvPr id="24" name="a1:after steps"/>
          <p:cNvSpPr txBox="1"/>
          <p:nvPr/>
        </p:nvSpPr>
        <p:spPr>
          <a:xfrm>
            <a:off x="7178040" y="4206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Write.  Select.  Run.</a:t>
            </a:r>
            <a:endParaRPr lang="en-US" sz="3200" dirty="0"/>
          </a:p>
        </p:txBody>
      </p:sp>
      <p:sp>
        <p:nvSpPr>
          <p:cNvPr id="25" name="a1:after text"/>
          <p:cNvSpPr txBox="1"/>
          <p:nvPr/>
        </p:nvSpPr>
        <p:spPr>
          <a:xfrm>
            <a:off x="7178040" y="4937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Errors are underlined in the code. The board stays clean and the lesson keeps moving.</a:t>
            </a:r>
            <a:endParaRPr lang="en-US" sz="1500" dirty="0"/>
          </a:p>
        </p:txBody>
      </p:sp>
      <p:sp>
        <p:nvSpPr>
          <p:cNvPr id="26" name="a1:after marker"/>
          <p:cNvSpPr/>
          <p:nvPr/>
        </p:nvSpPr>
        <p:spPr>
          <a:xfrm>
            <a:off x="11155680" y="3246120"/>
            <a:ext cx="457200" cy="45720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27" name="why panel"/>
          <p:cNvSpPr/>
          <p:nvPr/>
        </p:nvSpPr>
        <p:spPr>
          <a:xfrm>
            <a:off x="548640" y="4892040"/>
            <a:ext cx="5943600" cy="1143000"/>
          </a:xfrm>
          <a:prstGeom prst="rect">
            <a:avLst/>
          </a:prstGeom>
          <a:solidFill>
            <a:srgbClr val="C9D5FF"/>
          </a:solidFill>
          <a:ln w="12700">
            <a:solidFill>
              <a:srgbClr val="C9D5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349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Students see the example run, or fail, right where it was written.</a:t>
            </a:r>
            <a:endParaRPr lang="en-US" sz="1600" dirty="0"/>
          </a:p>
        </p:txBody>
      </p:sp>
      <p:sp>
        <p:nvSpPr>
          <p:cNvPr id="30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2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3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4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5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6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7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8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39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  HOW IT WORKS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steps from ink to answer.</a:t>
            </a:r>
            <a:endParaRPr lang="en-US" sz="3600" dirty="0"/>
          </a:p>
        </p:txBody>
      </p:sp>
      <p:sp>
        <p:nvSpPr>
          <p:cNvPr id="5" name="a1:step 1 badge"/>
          <p:cNvSpPr/>
          <p:nvPr/>
        </p:nvSpPr>
        <p:spPr>
          <a:xfrm>
            <a:off x="548640" y="1691640"/>
            <a:ext cx="749808" cy="74980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6" name="a1:step 1 number"/>
          <p:cNvSpPr txBox="1"/>
          <p:nvPr/>
        </p:nvSpPr>
        <p:spPr>
          <a:xfrm>
            <a:off x="548640" y="16916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a1:step 1 panel"/>
          <p:cNvSpPr/>
          <p:nvPr/>
        </p:nvSpPr>
        <p:spPr>
          <a:xfrm>
            <a:off x="1298448" y="1691640"/>
            <a:ext cx="52578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8" name="a1:step 1 verb"/>
          <p:cNvSpPr txBox="1"/>
          <p:nvPr/>
        </p:nvSpPr>
        <p:spPr>
          <a:xfrm>
            <a:off x="1481328" y="169164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</a:t>
            </a:r>
            <a:endParaRPr lang="en-US" sz="1900" dirty="0"/>
          </a:p>
        </p:txBody>
      </p:sp>
      <p:sp>
        <p:nvSpPr>
          <p:cNvPr id="9" name="a1:step 1 text"/>
          <p:cNvSpPr txBox="1"/>
          <p:nvPr/>
        </p:nvSpPr>
        <p:spPr>
          <a:xfrm>
            <a:off x="2697480" y="16916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 or keyboard. Black ink is code, blue ink is input.</a:t>
            </a:r>
            <a:endParaRPr lang="en-US" sz="1400" dirty="0"/>
          </a:p>
        </p:txBody>
      </p:sp>
      <p:sp>
        <p:nvSpPr>
          <p:cNvPr id="10" name="a2:step 2 badge"/>
          <p:cNvSpPr/>
          <p:nvPr/>
        </p:nvSpPr>
        <p:spPr>
          <a:xfrm>
            <a:off x="548640" y="2596896"/>
            <a:ext cx="749808" cy="74980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1" name="a2:step 2 number"/>
          <p:cNvSpPr txBox="1"/>
          <p:nvPr/>
        </p:nvSpPr>
        <p:spPr>
          <a:xfrm>
            <a:off x="548640" y="25968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a2:step 2 panel"/>
          <p:cNvSpPr/>
          <p:nvPr/>
        </p:nvSpPr>
        <p:spPr>
          <a:xfrm>
            <a:off x="1298448" y="2596896"/>
            <a:ext cx="52578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3" name="a2:step 2 verb"/>
          <p:cNvSpPr txBox="1"/>
          <p:nvPr/>
        </p:nvSpPr>
        <p:spPr>
          <a:xfrm>
            <a:off x="1481328" y="25968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</a:t>
            </a:r>
            <a:endParaRPr lang="en-US" sz="1900" dirty="0"/>
          </a:p>
        </p:txBody>
      </p:sp>
      <p:sp>
        <p:nvSpPr>
          <p:cNvPr id="14" name="a2:step 2 text"/>
          <p:cNvSpPr txBox="1"/>
          <p:nvPr/>
        </p:nvSpPr>
        <p:spPr>
          <a:xfrm>
            <a:off x="2697480" y="259689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Drag a box. That region becomes the program.</a:t>
            </a:r>
            <a:endParaRPr lang="en-US" sz="1400" dirty="0"/>
          </a:p>
        </p:txBody>
      </p:sp>
      <p:sp>
        <p:nvSpPr>
          <p:cNvPr id="15" name="a3:step 3 badge"/>
          <p:cNvSpPr/>
          <p:nvPr/>
        </p:nvSpPr>
        <p:spPr>
          <a:xfrm>
            <a:off x="548640" y="3502152"/>
            <a:ext cx="749808" cy="74980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6" name="a3:step 3 number"/>
          <p:cNvSpPr txBox="1"/>
          <p:nvPr/>
        </p:nvSpPr>
        <p:spPr>
          <a:xfrm>
            <a:off x="548640" y="350215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a3:step 3 panel"/>
          <p:cNvSpPr/>
          <p:nvPr/>
        </p:nvSpPr>
        <p:spPr>
          <a:xfrm>
            <a:off x="1298448" y="3502152"/>
            <a:ext cx="52578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8" name="a3:step 3 verb"/>
          <p:cNvSpPr txBox="1"/>
          <p:nvPr/>
        </p:nvSpPr>
        <p:spPr>
          <a:xfrm>
            <a:off x="1481328" y="350215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</a:t>
            </a:r>
            <a:endParaRPr lang="en-US" sz="1900" dirty="0"/>
          </a:p>
        </p:txBody>
      </p:sp>
      <p:sp>
        <p:nvSpPr>
          <p:cNvPr id="19" name="a3:step 3 text"/>
          <p:cNvSpPr txBox="1"/>
          <p:nvPr/>
        </p:nvSpPr>
        <p:spPr>
          <a:xfrm>
            <a:off x="2697480" y="35021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reads the ink. The teacher confirms every line.</a:t>
            </a:r>
            <a:endParaRPr lang="en-US" sz="1400" dirty="0"/>
          </a:p>
        </p:txBody>
      </p:sp>
      <p:sp>
        <p:nvSpPr>
          <p:cNvPr id="20" name="a4:step 4 badge"/>
          <p:cNvSpPr/>
          <p:nvPr/>
        </p:nvSpPr>
        <p:spPr>
          <a:xfrm>
            <a:off x="548640" y="4407408"/>
            <a:ext cx="749808" cy="74980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1" name="a4:step 4 number"/>
          <p:cNvSpPr txBox="1"/>
          <p:nvPr/>
        </p:nvSpPr>
        <p:spPr>
          <a:xfrm>
            <a:off x="548640" y="440740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a4:step 4 panel"/>
          <p:cNvSpPr/>
          <p:nvPr/>
        </p:nvSpPr>
        <p:spPr>
          <a:xfrm>
            <a:off x="1298448" y="4407408"/>
            <a:ext cx="52578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3" name="a4:step 4 verb"/>
          <p:cNvSpPr txBox="1"/>
          <p:nvPr/>
        </p:nvSpPr>
        <p:spPr>
          <a:xfrm>
            <a:off x="1481328" y="44074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1900" dirty="0"/>
          </a:p>
        </p:txBody>
      </p:sp>
      <p:sp>
        <p:nvSpPr>
          <p:cNvPr id="24" name="a4:step 4 text"/>
          <p:cNvSpPr txBox="1"/>
          <p:nvPr/>
        </p:nvSpPr>
        <p:spPr>
          <a:xfrm>
            <a:off x="2697480" y="440740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throwaway Docker container compiles and runs it.</a:t>
            </a:r>
            <a:endParaRPr lang="en-US" sz="1400" dirty="0"/>
          </a:p>
        </p:txBody>
      </p:sp>
      <p:sp>
        <p:nvSpPr>
          <p:cNvPr id="25" name="a5:step 5 badge"/>
          <p:cNvSpPr/>
          <p:nvPr/>
        </p:nvSpPr>
        <p:spPr>
          <a:xfrm>
            <a:off x="548640" y="5312664"/>
            <a:ext cx="749808" cy="74980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26" name="a5:step 5 number"/>
          <p:cNvSpPr txBox="1"/>
          <p:nvPr/>
        </p:nvSpPr>
        <p:spPr>
          <a:xfrm>
            <a:off x="548640" y="531266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a5:step 5 panel"/>
          <p:cNvSpPr/>
          <p:nvPr/>
        </p:nvSpPr>
        <p:spPr>
          <a:xfrm>
            <a:off x="1298448" y="5312664"/>
            <a:ext cx="52578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8" name="a5:step 5 verb"/>
          <p:cNvSpPr txBox="1"/>
          <p:nvPr/>
        </p:nvSpPr>
        <p:spPr>
          <a:xfrm>
            <a:off x="1481328" y="531266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</a:t>
            </a:r>
            <a:endParaRPr lang="en-US" sz="1900" dirty="0"/>
          </a:p>
        </p:txBody>
      </p:sp>
      <p:sp>
        <p:nvSpPr>
          <p:cNvPr id="29" name="a5:step 5 text"/>
          <p:cNvSpPr txBox="1"/>
          <p:nvPr/>
        </p:nvSpPr>
        <p:spPr>
          <a:xfrm>
            <a:off x="2697480" y="531266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and errors appear in the code panel.</a:t>
            </a:r>
            <a:endParaRPr lang="en-US" sz="1400" dirty="0"/>
          </a:p>
        </p:txBody>
      </p:sp>
      <p:sp>
        <p:nvSpPr>
          <p:cNvPr id="30" name="review simulation backdrop"/>
          <p:cNvSpPr/>
          <p:nvPr/>
        </p:nvSpPr>
        <p:spPr>
          <a:xfrm>
            <a:off x="7095744" y="1837944"/>
            <a:ext cx="4572000" cy="278892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pic>
        <p:nvPicPr>
          <p:cNvPr id="31" name="review simulation" descr="Animation: scribbled handwriting is read into code, one line is flagged CHECK, the teacher ticks a confirmation box and only then can the code ru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691640"/>
            <a:ext cx="4572000" cy="2788920"/>
          </a:xfrm>
          <a:prstGeom prst="rect">
            <a:avLst/>
          </a:prstGeom>
        </p:spPr>
      </p:pic>
      <p:sp>
        <p:nvSpPr>
          <p:cNvPr id="32" name="review simulation frame"/>
          <p:cNvSpPr/>
          <p:nvPr/>
        </p:nvSpPr>
        <p:spPr>
          <a:xfrm>
            <a:off x="6949440" y="1691640"/>
            <a:ext cx="4572000" cy="2788920"/>
          </a:xfrm>
          <a:prstGeom prst="rect">
            <a:avLst/>
          </a:prstGeom>
          <a:ln w="19050">
            <a:solidFill>
              <a:srgbClr val="0E1330"/>
            </a:solidFill>
            <a:prstDash val="solid"/>
          </a:ln>
        </p:spPr>
      </p:sp>
      <p:sp>
        <p:nvSpPr>
          <p:cNvPr id="33" name="sim tag bg"/>
          <p:cNvSpPr/>
          <p:nvPr/>
        </p:nvSpPr>
        <p:spPr>
          <a:xfrm>
            <a:off x="6949440" y="1325880"/>
            <a:ext cx="1737360" cy="29260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34" name="sim tag text"/>
          <p:cNvSpPr txBox="1"/>
          <p:nvPr/>
        </p:nvSpPr>
        <p:spPr>
          <a:xfrm>
            <a:off x="6949440" y="1325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3, SIMULATED</a:t>
            </a:r>
            <a:endParaRPr lang="en-US" sz="1000" dirty="0"/>
          </a:p>
        </p:txBody>
      </p:sp>
      <p:sp>
        <p:nvSpPr>
          <p:cNvPr id="35" name="a5:error panel"/>
          <p:cNvSpPr/>
          <p:nvPr/>
        </p:nvSpPr>
        <p:spPr>
          <a:xfrm>
            <a:off x="6949440" y="4937760"/>
            <a:ext cx="4754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36" name="a5:error code"/>
          <p:cNvSpPr txBox="1"/>
          <p:nvPr/>
        </p:nvSpPr>
        <p:spPr>
          <a:xfrm>
            <a:off x="7132320" y="5047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E1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x = 1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E1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printf("%d", x);</a:t>
            </a:r>
            <a:endParaRPr lang="en-US" sz="1400" dirty="0"/>
          </a:p>
        </p:txBody>
      </p:sp>
      <p:sp>
        <p:nvSpPr>
          <p:cNvPr id="37" name="a5:squiggle"/>
          <p:cNvSpPr/>
          <p:nvPr/>
        </p:nvSpPr>
        <p:spPr>
          <a:xfrm>
            <a:off x="7296912" y="5266944"/>
            <a:ext cx="1005840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8" name="a5:diag tag bg"/>
          <p:cNvSpPr/>
          <p:nvPr/>
        </p:nvSpPr>
        <p:spPr>
          <a:xfrm>
            <a:off x="9601200" y="5138928"/>
            <a:ext cx="1920240" cy="31089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9" name="a5:diag tag text"/>
          <p:cNvSpPr txBox="1"/>
          <p:nvPr/>
        </p:nvSpPr>
        <p:spPr>
          <a:xfrm>
            <a:off x="9601200" y="51389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L1 · EXPECTED ‘;’</a:t>
            </a:r>
            <a:endParaRPr lang="en-US" sz="1000" dirty="0"/>
          </a:p>
        </p:txBody>
      </p:sp>
      <p:sp>
        <p:nvSpPr>
          <p:cNvPr id="40" name="a5:diag note"/>
          <p:cNvSpPr txBox="1"/>
          <p:nvPr/>
        </p:nvSpPr>
        <p:spPr>
          <a:xfrm>
            <a:off x="9601200" y="55046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 marked on the line, not on the board.</a:t>
            </a:r>
            <a:endParaRPr lang="en-US" sz="1100" dirty="0"/>
          </a:p>
        </p:txBody>
      </p:sp>
      <p:sp>
        <p:nvSpPr>
          <p:cNvPr id="41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43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44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45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46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47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8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9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50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  THREE MODES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slider, three ways to run.</a:t>
            </a:r>
            <a:endParaRPr lang="en-US" sz="3600" dirty="0"/>
          </a:p>
        </p:txBody>
      </p:sp>
      <p:sp>
        <p:nvSpPr>
          <p:cNvPr id="5" name="slider track"/>
          <p:cNvSpPr/>
          <p:nvPr/>
        </p:nvSpPr>
        <p:spPr>
          <a:xfrm>
            <a:off x="548640" y="2194560"/>
            <a:ext cx="6309360" cy="128016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6" name="slider fill"/>
          <p:cNvSpPr/>
          <p:nvPr/>
        </p:nvSpPr>
        <p:spPr>
          <a:xfrm>
            <a:off x="548640" y="2194560"/>
            <a:ext cx="2651760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7" name="slider knob"/>
          <p:cNvSpPr/>
          <p:nvPr/>
        </p:nvSpPr>
        <p:spPr>
          <a:xfrm>
            <a:off x="3017520" y="2084832"/>
            <a:ext cx="347472" cy="347472"/>
          </a:xfrm>
          <a:prstGeom prst="rect">
            <a:avLst/>
          </a:prstGeom>
          <a:solidFill>
            <a:srgbClr val="FFC531"/>
          </a:solidFill>
          <a:ln w="19050">
            <a:solidFill>
              <a:srgbClr val="0E13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42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program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542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542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1" name="a1:mode 1 body"/>
          <p:cNvSpPr/>
          <p:nvPr/>
        </p:nvSpPr>
        <p:spPr>
          <a:xfrm>
            <a:off x="548640" y="3017520"/>
            <a:ext cx="6309360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2" name="a1:mode 1 bar"/>
          <p:cNvSpPr/>
          <p:nvPr/>
        </p:nvSpPr>
        <p:spPr>
          <a:xfrm>
            <a:off x="548640" y="3017520"/>
            <a:ext cx="128016" cy="93268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3" name="a1:mode 1 name"/>
          <p:cNvSpPr txBox="1"/>
          <p:nvPr/>
        </p:nvSpPr>
        <p:spPr>
          <a:xfrm>
            <a:off x="86868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program</a:t>
            </a:r>
            <a:endParaRPr lang="en-US" sz="1700" dirty="0"/>
          </a:p>
        </p:txBody>
      </p:sp>
      <p:sp>
        <p:nvSpPr>
          <p:cNvPr id="14" name="a1:mode 1 who bg"/>
          <p:cNvSpPr/>
          <p:nvPr/>
        </p:nvSpPr>
        <p:spPr>
          <a:xfrm>
            <a:off x="4526280" y="3127248"/>
            <a:ext cx="2148840" cy="27432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5" name="a1:mode 1 who text"/>
          <p:cNvSpPr txBox="1"/>
          <p:nvPr/>
        </p:nvSpPr>
        <p:spPr>
          <a:xfrm>
            <a:off x="4526280" y="31272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NEVER</a:t>
            </a:r>
            <a:endParaRPr lang="en-US" sz="900" dirty="0"/>
          </a:p>
        </p:txBody>
      </p:sp>
      <p:sp>
        <p:nvSpPr>
          <p:cNvPr id="16" name="a1:mode 1 text"/>
          <p:cNvSpPr txBox="1"/>
          <p:nvPr/>
        </p:nvSpPr>
        <p:spPr>
          <a:xfrm>
            <a:off x="868680" y="3474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Compiles exactly what you wrote. No corrections.</a:t>
            </a:r>
            <a:endParaRPr lang="en-US" sz="1300" dirty="0"/>
          </a:p>
        </p:txBody>
      </p:sp>
      <p:sp>
        <p:nvSpPr>
          <p:cNvPr id="17" name="a2:mode 2 body"/>
          <p:cNvSpPr/>
          <p:nvPr/>
        </p:nvSpPr>
        <p:spPr>
          <a:xfrm>
            <a:off x="548640" y="4087368"/>
            <a:ext cx="6309360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8" name="a2:mode 2 bar"/>
          <p:cNvSpPr/>
          <p:nvPr/>
        </p:nvSpPr>
        <p:spPr>
          <a:xfrm>
            <a:off x="548640" y="4087368"/>
            <a:ext cx="128016" cy="93268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9" name="a2:mode 2 name"/>
          <p:cNvSpPr txBox="1"/>
          <p:nvPr/>
        </p:nvSpPr>
        <p:spPr>
          <a:xfrm>
            <a:off x="868680" y="4178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</a:t>
            </a:r>
            <a:endParaRPr lang="en-US" sz="1700" dirty="0"/>
          </a:p>
        </p:txBody>
      </p:sp>
      <p:sp>
        <p:nvSpPr>
          <p:cNvPr id="20" name="a2:mode 2 who bg"/>
          <p:cNvSpPr/>
          <p:nvPr/>
        </p:nvSpPr>
        <p:spPr>
          <a:xfrm>
            <a:off x="4526280" y="4197096"/>
            <a:ext cx="2148840" cy="27432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21" name="a2:mode 2 who text"/>
          <p:cNvSpPr txBox="1"/>
          <p:nvPr/>
        </p:nvSpPr>
        <p:spPr>
          <a:xfrm>
            <a:off x="4526280" y="41970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ARRANGES</a:t>
            </a:r>
            <a:endParaRPr lang="en-US" sz="900" dirty="0"/>
          </a:p>
        </p:txBody>
      </p:sp>
      <p:sp>
        <p:nvSpPr>
          <p:cNvPr id="22" name="a2:mode 2 text"/>
          <p:cNvSpPr txBox="1"/>
          <p:nvPr/>
        </p:nvSpPr>
        <p:spPr>
          <a:xfrm>
            <a:off x="868680" y="45445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a template of headers. Gemini only arranges helpers and main(). It never fixes code.</a:t>
            </a:r>
            <a:endParaRPr lang="en-US" sz="1300" dirty="0"/>
          </a:p>
        </p:txBody>
      </p:sp>
      <p:sp>
        <p:nvSpPr>
          <p:cNvPr id="23" name="a3:mode 3 body"/>
          <p:cNvSpPr/>
          <p:nvPr/>
        </p:nvSpPr>
        <p:spPr>
          <a:xfrm>
            <a:off x="548640" y="5157216"/>
            <a:ext cx="6309360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4" name="a3:mode 3 bar"/>
          <p:cNvSpPr/>
          <p:nvPr/>
        </p:nvSpPr>
        <p:spPr>
          <a:xfrm>
            <a:off x="548640" y="5157216"/>
            <a:ext cx="128016" cy="93268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5" name="a3:mode 3 name"/>
          <p:cNvSpPr txBox="1"/>
          <p:nvPr/>
        </p:nvSpPr>
        <p:spPr>
          <a:xfrm>
            <a:off x="868680" y="52486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</a:t>
            </a:r>
            <a:endParaRPr lang="en-US" sz="1700" dirty="0"/>
          </a:p>
        </p:txBody>
      </p:sp>
      <p:sp>
        <p:nvSpPr>
          <p:cNvPr id="26" name="a3:mode 3 who bg"/>
          <p:cNvSpPr/>
          <p:nvPr/>
        </p:nvSpPr>
        <p:spPr>
          <a:xfrm>
            <a:off x="4526280" y="5266944"/>
            <a:ext cx="2148840" cy="27432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27" name="a3:mode 3 who text"/>
          <p:cNvSpPr txBox="1"/>
          <p:nvPr/>
        </p:nvSpPr>
        <p:spPr>
          <a:xfrm>
            <a:off x="4526280" y="52669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WRITES</a:t>
            </a:r>
            <a:endParaRPr lang="en-US" sz="900" dirty="0"/>
          </a:p>
        </p:txBody>
      </p:sp>
      <p:sp>
        <p:nvSpPr>
          <p:cNvPr id="28" name="a3:mode 3 text"/>
          <p:cNvSpPr txBox="1"/>
          <p:nvPr/>
        </p:nvSpPr>
        <p:spPr>
          <a:xfrm>
            <a:off x="868680" y="561441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the steps in plain words. Gemini writes the program, then it compiles.</a:t>
            </a:r>
            <a:endParaRPr lang="en-US" sz="1300" dirty="0"/>
          </a:p>
        </p:txBody>
      </p:sp>
      <p:sp>
        <p:nvSpPr>
          <p:cNvPr id="29" name="snippet simulation backdrop"/>
          <p:cNvSpPr/>
          <p:nvPr/>
        </p:nvSpPr>
        <p:spPr>
          <a:xfrm>
            <a:off x="7507224" y="1380744"/>
            <a:ext cx="4160520" cy="254203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pic>
        <p:nvPicPr>
          <p:cNvPr id="30" name="snippet simulation" descr="Animation: loose statements and a helper function are placed under a template, main() is added around the statement, and a checker confirms nothing else chang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234440"/>
            <a:ext cx="4160520" cy="2542032"/>
          </a:xfrm>
          <a:prstGeom prst="rect">
            <a:avLst/>
          </a:prstGeom>
        </p:spPr>
      </p:pic>
      <p:sp>
        <p:nvSpPr>
          <p:cNvPr id="31" name="snippet simulation frame"/>
          <p:cNvSpPr/>
          <p:nvPr/>
        </p:nvSpPr>
        <p:spPr>
          <a:xfrm>
            <a:off x="7360920" y="1234440"/>
            <a:ext cx="4160520" cy="2542032"/>
          </a:xfrm>
          <a:prstGeom prst="rect">
            <a:avLst/>
          </a:prstGeom>
          <a:ln w="19050">
            <a:solidFill>
              <a:srgbClr val="0E1330"/>
            </a:solidFill>
            <a:prstDash val="solid"/>
          </a:ln>
        </p:spPr>
      </p:sp>
      <p:sp>
        <p:nvSpPr>
          <p:cNvPr id="32" name="sim tag bg"/>
          <p:cNvSpPr/>
          <p:nvPr/>
        </p:nvSpPr>
        <p:spPr>
          <a:xfrm>
            <a:off x="7360920" y="868680"/>
            <a:ext cx="2377440" cy="29260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33" name="sim tag text"/>
          <p:cNvSpPr txBox="1"/>
          <p:nvPr/>
        </p:nvSpPr>
        <p:spPr>
          <a:xfrm>
            <a:off x="7360920" y="868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 MODE, SIMULATED</a:t>
            </a:r>
            <a:endParaRPr lang="en-US" sz="1000" dirty="0"/>
          </a:p>
        </p:txBody>
      </p:sp>
      <p:sp>
        <p:nvSpPr>
          <p:cNvPr id="34" name="a4:fix panel"/>
          <p:cNvSpPr/>
          <p:nvPr/>
        </p:nvSpPr>
        <p:spPr>
          <a:xfrm>
            <a:off x="7360920" y="4251960"/>
            <a:ext cx="4297680" cy="178308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5" name="a4:fix strip"/>
          <p:cNvSpPr/>
          <p:nvPr/>
        </p:nvSpPr>
        <p:spPr>
          <a:xfrm>
            <a:off x="7360920" y="4251960"/>
            <a:ext cx="4297680" cy="10972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36" name="a4:fix title"/>
          <p:cNvSpPr txBox="1"/>
          <p:nvPr/>
        </p:nvSpPr>
        <p:spPr>
          <a:xfrm>
            <a:off x="758952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Optional: ask Gemini to fix</a:t>
            </a:r>
            <a:endParaRPr lang="en-US" sz="1700" dirty="0"/>
          </a:p>
        </p:txBody>
      </p:sp>
      <p:sp>
        <p:nvSpPr>
          <p:cNvPr id="37" name="a4:fix text"/>
          <p:cNvSpPr txBox="1"/>
          <p:nvPr/>
        </p:nvSpPr>
        <p:spPr>
          <a:xfrm>
            <a:off x="7589520" y="5029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Appears only after a failed run, in any mode. The teacher clicks it. No click, no API call.</a:t>
            </a:r>
            <a:endParaRPr lang="en-US" sz="1400" dirty="0"/>
          </a:p>
        </p:txBody>
      </p:sp>
      <p:sp>
        <p:nvSpPr>
          <p:cNvPr id="38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40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41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42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43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44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5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6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7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  SAFE BY DESIGN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tried to break it.</a:t>
            </a:r>
            <a:endParaRPr lang="en-US" sz="3600" dirty="0"/>
          </a:p>
        </p:txBody>
      </p:sp>
      <p:sp>
        <p:nvSpPr>
          <p:cNvPr id="5" name="sandbox simulation backdrop"/>
          <p:cNvSpPr/>
          <p:nvPr/>
        </p:nvSpPr>
        <p:spPr>
          <a:xfrm>
            <a:off x="694944" y="1746504"/>
            <a:ext cx="6035040" cy="368503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pic>
        <p:nvPicPr>
          <p:cNvPr id="6" name="sandbox simulation" descr="Animation: four hostile programs each run in a fresh container and are stopped: a sleep at five seconds, a flood of output cut at 16 KiB, a heap buffer overflow caught by AddressSanitizer, and a blocked network cal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035040" cy="3685032"/>
          </a:xfrm>
          <a:prstGeom prst="rect">
            <a:avLst/>
          </a:prstGeom>
        </p:spPr>
      </p:pic>
      <p:sp>
        <p:nvSpPr>
          <p:cNvPr id="7" name="sandbox simulation frame"/>
          <p:cNvSpPr/>
          <p:nvPr/>
        </p:nvSpPr>
        <p:spPr>
          <a:xfrm>
            <a:off x="548640" y="1600200"/>
            <a:ext cx="6035040" cy="3685032"/>
          </a:xfrm>
          <a:prstGeom prst="rect">
            <a:avLst/>
          </a:prstGeom>
          <a:ln w="19050">
            <a:solidFill>
              <a:srgbClr val="0E1330"/>
            </a:solidFill>
            <a:prstDash val="solid"/>
          </a:ln>
        </p:spPr>
      </p:sp>
      <p:sp>
        <p:nvSpPr>
          <p:cNvPr id="8" name="sim tag bg"/>
          <p:cNvSpPr/>
          <p:nvPr/>
        </p:nvSpPr>
        <p:spPr>
          <a:xfrm>
            <a:off x="548640" y="5669280"/>
            <a:ext cx="3017520" cy="32918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9" name="sim tag text"/>
          <p:cNvSpPr txBox="1"/>
          <p:nvPr/>
        </p:nvSpPr>
        <p:spPr>
          <a:xfrm>
            <a:off x="548640" y="5669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SIMULATION OF 4 REAL TEST RUNS</a:t>
            </a:r>
            <a:endParaRPr lang="en-US" sz="1000" dirty="0"/>
          </a:p>
        </p:txBody>
      </p:sp>
      <p:sp>
        <p:nvSpPr>
          <p:cNvPr id="10" name="scope tag bg"/>
          <p:cNvSpPr/>
          <p:nvPr/>
        </p:nvSpPr>
        <p:spPr>
          <a:xfrm>
            <a:off x="3703320" y="5669280"/>
            <a:ext cx="2926080" cy="329184"/>
          </a:xfrm>
          <a:prstGeom prst="rect">
            <a:avLst/>
          </a:prstGeom>
          <a:solidFill>
            <a:srgbClr val="C9D5FF"/>
          </a:solidFill>
          <a:ln w="12700">
            <a:solidFill>
              <a:srgbClr val="C9D5FF"/>
            </a:solidFill>
            <a:prstDash val="solid"/>
          </a:ln>
        </p:spPr>
      </p:sp>
      <p:sp>
        <p:nvSpPr>
          <p:cNvPr id="11" name="scope tag text"/>
          <p:cNvSpPr txBox="1"/>
          <p:nvPr/>
        </p:nvSpPr>
        <p:spPr>
          <a:xfrm>
            <a:off x="3703320" y="56692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LOCAL: DOCKER   ·   HOSTED: WANDBOX</a:t>
            </a:r>
            <a:endParaRPr lang="en-US" sz="900" dirty="0"/>
          </a:p>
        </p:txBody>
      </p:sp>
      <p:sp>
        <p:nvSpPr>
          <p:cNvPr id="12" name="a1:result 1 body"/>
          <p:cNvSpPr/>
          <p:nvPr/>
        </p:nvSpPr>
        <p:spPr>
          <a:xfrm>
            <a:off x="7178040" y="914400"/>
            <a:ext cx="4462272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3" name="a1:result 1 bar"/>
          <p:cNvSpPr/>
          <p:nvPr/>
        </p:nvSpPr>
        <p:spPr>
          <a:xfrm>
            <a:off x="7178040" y="914400"/>
            <a:ext cx="128016" cy="7315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4" name="a1:attack 1"/>
          <p:cNvSpPr txBox="1"/>
          <p:nvPr/>
        </p:nvSpPr>
        <p:spPr>
          <a:xfrm>
            <a:off x="7498080" y="914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sleep(10)</a:t>
            </a:r>
            <a:endParaRPr lang="en-US" sz="1300" dirty="0"/>
          </a:p>
        </p:txBody>
      </p:sp>
      <p:sp>
        <p:nvSpPr>
          <p:cNvPr id="15" name="a1:result 1"/>
          <p:cNvSpPr txBox="1"/>
          <p:nvPr/>
        </p:nvSpPr>
        <p:spPr>
          <a:xfrm>
            <a:off x="9464040" y="914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Stopped at 5 seconds</a:t>
            </a:r>
            <a:endParaRPr lang="en-US" sz="1400" dirty="0"/>
          </a:p>
        </p:txBody>
      </p:sp>
      <p:sp>
        <p:nvSpPr>
          <p:cNvPr id="16" name="a2:result 2 body"/>
          <p:cNvSpPr/>
          <p:nvPr/>
        </p:nvSpPr>
        <p:spPr>
          <a:xfrm>
            <a:off x="7178040" y="1783080"/>
            <a:ext cx="4462272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7" name="a2:result 2 bar"/>
          <p:cNvSpPr/>
          <p:nvPr/>
        </p:nvSpPr>
        <p:spPr>
          <a:xfrm>
            <a:off x="7178040" y="1783080"/>
            <a:ext cx="128016" cy="73152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8" name="a2:attack 2"/>
          <p:cNvSpPr txBox="1"/>
          <p:nvPr/>
        </p:nvSpPr>
        <p:spPr>
          <a:xfrm>
            <a:off x="7498080" y="1783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100,000 lines of output</a:t>
            </a:r>
            <a:endParaRPr lang="en-US" sz="1300" dirty="0"/>
          </a:p>
        </p:txBody>
      </p:sp>
      <p:sp>
        <p:nvSpPr>
          <p:cNvPr id="19" name="a2:result 2"/>
          <p:cNvSpPr txBox="1"/>
          <p:nvPr/>
        </p:nvSpPr>
        <p:spPr>
          <a:xfrm>
            <a:off x="946404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Cut at 16 KiB</a:t>
            </a:r>
            <a:endParaRPr lang="en-US" sz="1400" dirty="0"/>
          </a:p>
        </p:txBody>
      </p:sp>
      <p:sp>
        <p:nvSpPr>
          <p:cNvPr id="20" name="a3:result 3 body"/>
          <p:cNvSpPr/>
          <p:nvPr/>
        </p:nvSpPr>
        <p:spPr>
          <a:xfrm>
            <a:off x="7178040" y="2651760"/>
            <a:ext cx="4462272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1" name="a3:result 3 bar"/>
          <p:cNvSpPr/>
          <p:nvPr/>
        </p:nvSpPr>
        <p:spPr>
          <a:xfrm>
            <a:off x="7178040" y="2651760"/>
            <a:ext cx="128016" cy="7315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2" name="a3:attack 3"/>
          <p:cNvSpPr txBox="1"/>
          <p:nvPr/>
        </p:nvSpPr>
        <p:spPr>
          <a:xfrm>
            <a:off x="7498080" y="2651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past a buffer</a:t>
            </a:r>
            <a:endParaRPr lang="en-US" sz="1300" dirty="0"/>
          </a:p>
        </p:txBody>
      </p:sp>
      <p:sp>
        <p:nvSpPr>
          <p:cNvPr id="23" name="a3:result 3"/>
          <p:cNvSpPr txBox="1"/>
          <p:nvPr/>
        </p:nvSpPr>
        <p:spPr>
          <a:xfrm>
            <a:off x="9464040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AddressSanitizer catches it</a:t>
            </a:r>
            <a:endParaRPr lang="en-US" sz="1400" dirty="0"/>
          </a:p>
        </p:txBody>
      </p:sp>
      <p:sp>
        <p:nvSpPr>
          <p:cNvPr id="24" name="a4:result 4 body"/>
          <p:cNvSpPr/>
          <p:nvPr/>
        </p:nvSpPr>
        <p:spPr>
          <a:xfrm>
            <a:off x="7178040" y="3520440"/>
            <a:ext cx="4462272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5" name="a4:result 4 bar"/>
          <p:cNvSpPr/>
          <p:nvPr/>
        </p:nvSpPr>
        <p:spPr>
          <a:xfrm>
            <a:off x="7178040" y="3520440"/>
            <a:ext cx="128016" cy="73152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26" name="a4:attack 4"/>
          <p:cNvSpPr txBox="1"/>
          <p:nvPr/>
        </p:nvSpPr>
        <p:spPr>
          <a:xfrm>
            <a:off x="7498080" y="3520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 call</a:t>
            </a:r>
            <a:endParaRPr lang="en-US" sz="1300" dirty="0"/>
          </a:p>
        </p:txBody>
      </p:sp>
      <p:sp>
        <p:nvSpPr>
          <p:cNvPr id="27" name="a4:result 4"/>
          <p:cNvSpPr txBox="1"/>
          <p:nvPr/>
        </p:nvSpPr>
        <p:spPr>
          <a:xfrm>
            <a:off x="9464040" y="3520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Blocked</a:t>
            </a:r>
            <a:endParaRPr lang="en-US" sz="1400" dirty="0"/>
          </a:p>
        </p:txBody>
      </p:sp>
      <p:sp>
        <p:nvSpPr>
          <p:cNvPr id="28" name="a5:stat panel"/>
          <p:cNvSpPr/>
          <p:nvPr/>
        </p:nvSpPr>
        <p:spPr>
          <a:xfrm>
            <a:off x="7178040" y="4526280"/>
            <a:ext cx="4462272" cy="150876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9" name="a5:stat number"/>
          <p:cNvSpPr txBox="1"/>
          <p:nvPr/>
        </p:nvSpPr>
        <p:spPr>
          <a:xfrm>
            <a:off x="7406640" y="461772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</a:t>
            </a:r>
            <a:endParaRPr lang="en-US" sz="6400" dirty="0"/>
          </a:p>
        </p:txBody>
      </p:sp>
      <p:sp>
        <p:nvSpPr>
          <p:cNvPr id="30" name="a5:stat text"/>
          <p:cNvSpPr txBox="1"/>
          <p:nvPr/>
        </p:nvSpPr>
        <p:spPr>
          <a:xfrm>
            <a:off x="9006840" y="47091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 and run probes, C++ and Python</a:t>
            </a:r>
            <a:endParaRPr lang="en-US" sz="1400" dirty="0"/>
          </a:p>
        </p:txBody>
      </p:sp>
      <p:sp>
        <p:nvSpPr>
          <p:cNvPr id="31" name="a5:stat source"/>
          <p:cNvSpPr txBox="1"/>
          <p:nvPr/>
        </p:nvSpPr>
        <p:spPr>
          <a:xfrm>
            <a:off x="9006840" y="5532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Source: our own test run, 18 Oct 2026</a:t>
            </a:r>
            <a:endParaRPr lang="en-US" sz="1000" dirty="0"/>
          </a:p>
        </p:txBody>
      </p:sp>
      <p:sp>
        <p:nvSpPr>
          <p:cNvPr id="32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4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5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6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7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8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9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0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1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  DATA AND AI USED</a:t>
            </a:r>
            <a:endParaRPr lang="en-US" sz="1200" dirty="0"/>
          </a:p>
        </p:txBody>
      </p:sp>
      <p:sp>
        <p:nvSpPr>
          <p:cNvPr id="4" name="slide title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reads. </a:t>
            </a:r>
            <a:pPr indent="0" marL="0">
              <a:buNone/>
            </a:pPr>
            <a:r>
              <a:rPr lang="en-US" sz="3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compiler decides.</a:t>
            </a:r>
            <a:endParaRPr lang="en-US" sz="3600" dirty="0"/>
          </a:p>
        </p:txBody>
      </p:sp>
      <p:sp>
        <p:nvSpPr>
          <p:cNvPr id="5" name="a1:col 1 body"/>
          <p:cNvSpPr/>
          <p:nvPr/>
        </p:nvSpPr>
        <p:spPr>
          <a:xfrm>
            <a:off x="548640" y="1828800"/>
            <a:ext cx="3593592" cy="3017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6" name="a1:col 1 strip"/>
          <p:cNvSpPr/>
          <p:nvPr/>
        </p:nvSpPr>
        <p:spPr>
          <a:xfrm>
            <a:off x="548640" y="1828800"/>
            <a:ext cx="3593592" cy="10972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7" name="a1:col 1 head"/>
          <p:cNvSpPr txBox="1"/>
          <p:nvPr/>
        </p:nvSpPr>
        <p:spPr>
          <a:xfrm>
            <a:off x="777240" y="217627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GEMINI RUNS</a:t>
            </a:r>
            <a:endParaRPr lang="en-US" sz="1300" dirty="0"/>
          </a:p>
        </p:txBody>
      </p:sp>
      <p:sp>
        <p:nvSpPr>
          <p:cNvPr id="8" name="a1:col 1 list"/>
          <p:cNvSpPr txBox="1"/>
          <p:nvPr/>
        </p:nvSpPr>
        <p:spPr>
          <a:xfrm>
            <a:off x="777240" y="2651760"/>
            <a:ext cx="3136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Reads handwriting and blue-ink input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 mode: steps become a program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 mode: arranges structure only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 button: only when the teacher clicks</a:t>
            </a:r>
            <a:endParaRPr lang="en-US" sz="1400" dirty="0"/>
          </a:p>
        </p:txBody>
      </p:sp>
      <p:sp>
        <p:nvSpPr>
          <p:cNvPr id="9" name="a2:col 2 body"/>
          <p:cNvSpPr/>
          <p:nvPr/>
        </p:nvSpPr>
        <p:spPr>
          <a:xfrm>
            <a:off x="4297680" y="1828800"/>
            <a:ext cx="3593592" cy="3017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0" name="a2:col 2 strip"/>
          <p:cNvSpPr/>
          <p:nvPr/>
        </p:nvSpPr>
        <p:spPr>
          <a:xfrm>
            <a:off x="4297680" y="1828800"/>
            <a:ext cx="3593592" cy="10972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1" name="a2:col 2 head"/>
          <p:cNvSpPr txBox="1"/>
          <p:nvPr/>
        </p:nvSpPr>
        <p:spPr>
          <a:xfrm>
            <a:off x="4526280" y="217627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2" name="a2:col 2 list"/>
          <p:cNvSpPr txBox="1"/>
          <p:nvPr/>
        </p:nvSpPr>
        <p:spPr>
          <a:xfrm>
            <a:off x="4526280" y="2651760"/>
            <a:ext cx="3136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 confirms every line before it runs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structure result that changes more than layout is refused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keys stay on the server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Requests ask Gemini not to store them</a:t>
            </a:r>
            <a:endParaRPr lang="en-US" sz="1400" dirty="0"/>
          </a:p>
        </p:txBody>
      </p:sp>
      <p:sp>
        <p:nvSpPr>
          <p:cNvPr id="13" name="a3:col 3 body"/>
          <p:cNvSpPr/>
          <p:nvPr/>
        </p:nvSpPr>
        <p:spPr>
          <a:xfrm>
            <a:off x="8046720" y="1828800"/>
            <a:ext cx="3593592" cy="3017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4" name="a3:col 3 strip"/>
          <p:cNvSpPr/>
          <p:nvPr/>
        </p:nvSpPr>
        <p:spPr>
          <a:xfrm>
            <a:off x="8046720" y="1828800"/>
            <a:ext cx="3593592" cy="10972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5" name="a3:col 3 head"/>
          <p:cNvSpPr txBox="1"/>
          <p:nvPr/>
        </p:nvSpPr>
        <p:spPr>
          <a:xfrm>
            <a:off x="8275320" y="217627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AI HERE</a:t>
            </a:r>
            <a:endParaRPr lang="en-US" sz="1300" dirty="0"/>
          </a:p>
        </p:txBody>
      </p:sp>
      <p:sp>
        <p:nvSpPr>
          <p:cNvPr id="16" name="a3:col 3 list"/>
          <p:cNvSpPr txBox="1"/>
          <p:nvPr/>
        </p:nvSpPr>
        <p:spPr>
          <a:xfrm>
            <a:off x="8275320" y="2651760"/>
            <a:ext cx="3136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Compiling, running, error lines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Typed code in Full program mode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Teaching notes: fixed rules, not generated</a:t>
            </a:r>
            <a:endParaRPr lang="en-US" sz="1400" dirty="0"/>
          </a:p>
        </p:txBody>
      </p:sp>
      <p:sp>
        <p:nvSpPr>
          <p:cNvPr id="17" name="a4:built label"/>
          <p:cNvSpPr txBox="1"/>
          <p:nvPr/>
        </p:nvSpPr>
        <p:spPr>
          <a:xfrm>
            <a:off x="548640" y="51389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18" name="a4:stack 1 bg"/>
          <p:cNvSpPr/>
          <p:nvPr/>
        </p:nvSpPr>
        <p:spPr>
          <a:xfrm>
            <a:off x="1874520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19" name="a4:stack 1 text"/>
          <p:cNvSpPr txBox="1"/>
          <p:nvPr/>
        </p:nvSpPr>
        <p:spPr>
          <a:xfrm>
            <a:off x="1874520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20" name="a4:stack 2 bg"/>
          <p:cNvSpPr/>
          <p:nvPr/>
        </p:nvSpPr>
        <p:spPr>
          <a:xfrm>
            <a:off x="3282696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21" name="a4:stack 2 text"/>
          <p:cNvSpPr txBox="1"/>
          <p:nvPr/>
        </p:nvSpPr>
        <p:spPr>
          <a:xfrm>
            <a:off x="3282696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Excalidraw</a:t>
            </a:r>
            <a:endParaRPr lang="en-US" sz="1000" dirty="0"/>
          </a:p>
        </p:txBody>
      </p:sp>
      <p:sp>
        <p:nvSpPr>
          <p:cNvPr id="22" name="a4:stack 3 bg"/>
          <p:cNvSpPr/>
          <p:nvPr/>
        </p:nvSpPr>
        <p:spPr>
          <a:xfrm>
            <a:off x="4690872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23" name="a4:stack 3 text"/>
          <p:cNvSpPr txBox="1"/>
          <p:nvPr/>
        </p:nvSpPr>
        <p:spPr>
          <a:xfrm>
            <a:off x="4690872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24" name="a4:stack 4 bg"/>
          <p:cNvSpPr/>
          <p:nvPr/>
        </p:nvSpPr>
        <p:spPr>
          <a:xfrm>
            <a:off x="6099048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25" name="a4:stack 4 text"/>
          <p:cNvSpPr txBox="1"/>
          <p:nvPr/>
        </p:nvSpPr>
        <p:spPr>
          <a:xfrm>
            <a:off x="6099048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Node.js</a:t>
            </a:r>
            <a:endParaRPr lang="en-US" sz="1000" dirty="0"/>
          </a:p>
        </p:txBody>
      </p:sp>
      <p:sp>
        <p:nvSpPr>
          <p:cNvPr id="26" name="a4:stack 5 bg"/>
          <p:cNvSpPr/>
          <p:nvPr/>
        </p:nvSpPr>
        <p:spPr>
          <a:xfrm>
            <a:off x="7507224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27" name="a4:stack 5 text"/>
          <p:cNvSpPr txBox="1"/>
          <p:nvPr/>
        </p:nvSpPr>
        <p:spPr>
          <a:xfrm>
            <a:off x="7507224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</a:t>
            </a:r>
            <a:endParaRPr lang="en-US" sz="1000" dirty="0"/>
          </a:p>
        </p:txBody>
      </p:sp>
      <p:sp>
        <p:nvSpPr>
          <p:cNvPr id="28" name="a4:stack 6 bg"/>
          <p:cNvSpPr/>
          <p:nvPr/>
        </p:nvSpPr>
        <p:spPr>
          <a:xfrm>
            <a:off x="8915400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29" name="a4:stack 6 text"/>
          <p:cNvSpPr txBox="1"/>
          <p:nvPr/>
        </p:nvSpPr>
        <p:spPr>
          <a:xfrm>
            <a:off x="8915400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g++ + Python</a:t>
            </a:r>
            <a:endParaRPr lang="en-US" sz="1000" dirty="0"/>
          </a:p>
        </p:txBody>
      </p:sp>
      <p:sp>
        <p:nvSpPr>
          <p:cNvPr id="30" name="a4:stack 7 bg"/>
          <p:cNvSpPr/>
          <p:nvPr/>
        </p:nvSpPr>
        <p:spPr>
          <a:xfrm>
            <a:off x="10323576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31" name="a4:stack 7 text"/>
          <p:cNvSpPr txBox="1"/>
          <p:nvPr/>
        </p:nvSpPr>
        <p:spPr>
          <a:xfrm>
            <a:off x="10323576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Wandbox</a:t>
            </a:r>
            <a:endParaRPr lang="en-US" sz="1000" dirty="0"/>
          </a:p>
        </p:txBody>
      </p:sp>
      <p:sp>
        <p:nvSpPr>
          <p:cNvPr id="32" name="a4:disclosure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tools and reuse: developed with OpenAI Codex and Claude Code.  Not yet measured: handwriting accuracy on real classroom samples.</a:t>
            </a:r>
            <a:endParaRPr lang="en-US" sz="1200" dirty="0"/>
          </a:p>
        </p:txBody>
      </p:sp>
      <p:sp>
        <p:nvSpPr>
          <p:cNvPr id="33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5B6075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5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6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7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8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9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0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1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2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  WHAT ELSE IT DOES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Everything a lesson needs.</a:t>
            </a:r>
            <a:endParaRPr lang="en-US" sz="3600" dirty="0"/>
          </a:p>
        </p:txBody>
      </p:sp>
      <p:sp>
        <p:nvSpPr>
          <p:cNvPr id="5" name="a1:feature 1 body"/>
          <p:cNvSpPr/>
          <p:nvPr/>
        </p:nvSpPr>
        <p:spPr>
          <a:xfrm>
            <a:off x="548640" y="1783080"/>
            <a:ext cx="359359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6" name="a1:feature 1 strip"/>
          <p:cNvSpPr/>
          <p:nvPr/>
        </p:nvSpPr>
        <p:spPr>
          <a:xfrm>
            <a:off x="548640" y="1783080"/>
            <a:ext cx="3593592" cy="10972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7" name="a1:feature 1 num"/>
          <p:cNvSpPr txBox="1"/>
          <p:nvPr/>
        </p:nvSpPr>
        <p:spPr>
          <a:xfrm>
            <a:off x="749808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a1:feature 1 head"/>
          <p:cNvSpPr txBox="1"/>
          <p:nvPr/>
        </p:nvSpPr>
        <p:spPr>
          <a:xfrm>
            <a:off x="749808" y="231343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Snapshots</a:t>
            </a:r>
            <a:endParaRPr lang="en-US" sz="1700" dirty="0"/>
          </a:p>
        </p:txBody>
      </p:sp>
      <p:sp>
        <p:nvSpPr>
          <p:cNvPr id="9" name="a1:feature 1 text"/>
          <p:cNvSpPr txBox="1"/>
          <p:nvPr/>
        </p:nvSpPr>
        <p:spPr>
          <a:xfrm>
            <a:off x="749808" y="277063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run is saved with the whole board, in Git history.</a:t>
            </a:r>
            <a:endParaRPr lang="en-US" sz="1400" dirty="0"/>
          </a:p>
        </p:txBody>
      </p:sp>
      <p:sp>
        <p:nvSpPr>
          <p:cNvPr id="10" name="a1:feature 2 body"/>
          <p:cNvSpPr/>
          <p:nvPr/>
        </p:nvSpPr>
        <p:spPr>
          <a:xfrm>
            <a:off x="4297680" y="1783080"/>
            <a:ext cx="359359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1" name="a1:feature 2 strip"/>
          <p:cNvSpPr/>
          <p:nvPr/>
        </p:nvSpPr>
        <p:spPr>
          <a:xfrm>
            <a:off x="4297680" y="1783080"/>
            <a:ext cx="3593592" cy="10972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2" name="a1:feature 2 num"/>
          <p:cNvSpPr txBox="1"/>
          <p:nvPr/>
        </p:nvSpPr>
        <p:spPr>
          <a:xfrm>
            <a:off x="4498848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a1:feature 2 head"/>
          <p:cNvSpPr txBox="1"/>
          <p:nvPr/>
        </p:nvSpPr>
        <p:spPr>
          <a:xfrm>
            <a:off x="4498848" y="231343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 cases</a:t>
            </a:r>
            <a:endParaRPr lang="en-US" sz="1700" dirty="0"/>
          </a:p>
        </p:txBody>
      </p:sp>
      <p:sp>
        <p:nvSpPr>
          <p:cNvPr id="14" name="a1:feature 2 text"/>
          <p:cNvSpPr txBox="1"/>
          <p:nvPr/>
        </p:nvSpPr>
        <p:spPr>
          <a:xfrm>
            <a:off x="4498848" y="277063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up to five inputs. Compare output exactly. Save suites.</a:t>
            </a:r>
            <a:endParaRPr lang="en-US" sz="1400" dirty="0"/>
          </a:p>
        </p:txBody>
      </p:sp>
      <p:sp>
        <p:nvSpPr>
          <p:cNvPr id="15" name="a1:feature 3 body"/>
          <p:cNvSpPr/>
          <p:nvPr/>
        </p:nvSpPr>
        <p:spPr>
          <a:xfrm>
            <a:off x="8046720" y="1783080"/>
            <a:ext cx="359359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6" name="a1:feature 3 strip"/>
          <p:cNvSpPr/>
          <p:nvPr/>
        </p:nvSpPr>
        <p:spPr>
          <a:xfrm>
            <a:off x="8046720" y="1783080"/>
            <a:ext cx="3593592" cy="10972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7" name="a1:feature 3 num"/>
          <p:cNvSpPr txBox="1"/>
          <p:nvPr/>
        </p:nvSpPr>
        <p:spPr>
          <a:xfrm>
            <a:off x="8247888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a1:feature 3 head"/>
          <p:cNvSpPr txBox="1"/>
          <p:nvPr/>
        </p:nvSpPr>
        <p:spPr>
          <a:xfrm>
            <a:off x="8247888" y="231343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Teaching headers</a:t>
            </a:r>
            <a:endParaRPr lang="en-US" sz="1700" dirty="0"/>
          </a:p>
        </p:txBody>
      </p:sp>
      <p:sp>
        <p:nvSpPr>
          <p:cNvPr id="19" name="a1:feature 3 text"/>
          <p:cNvSpPr txBox="1"/>
          <p:nvPr/>
        </p:nvSpPr>
        <p:spPr>
          <a:xfrm>
            <a:off x="8247888" y="277063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Stack, queue, linked list and binary search, plus C++ STL examples.</a:t>
            </a:r>
            <a:endParaRPr lang="en-US" sz="1400" dirty="0"/>
          </a:p>
        </p:txBody>
      </p:sp>
      <p:sp>
        <p:nvSpPr>
          <p:cNvPr id="20" name="a2:feature 4 body"/>
          <p:cNvSpPr/>
          <p:nvPr/>
        </p:nvSpPr>
        <p:spPr>
          <a:xfrm>
            <a:off x="548640" y="3886200"/>
            <a:ext cx="359359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1" name="a2:feature 4 strip"/>
          <p:cNvSpPr/>
          <p:nvPr/>
        </p:nvSpPr>
        <p:spPr>
          <a:xfrm>
            <a:off x="548640" y="3886200"/>
            <a:ext cx="3593592" cy="10972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22" name="a2:feature 4 num"/>
          <p:cNvSpPr txBox="1"/>
          <p:nvPr/>
        </p:nvSpPr>
        <p:spPr>
          <a:xfrm>
            <a:off x="749808" y="4142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a2:feature 4 head"/>
          <p:cNvSpPr txBox="1"/>
          <p:nvPr/>
        </p:nvSpPr>
        <p:spPr>
          <a:xfrm>
            <a:off x="749808" y="441655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Draw a list</a:t>
            </a:r>
            <a:endParaRPr lang="en-US" sz="1700" dirty="0"/>
          </a:p>
        </p:txBody>
      </p:sp>
      <p:sp>
        <p:nvSpPr>
          <p:cNvPr id="24" name="a2:feature 4 text"/>
          <p:cNvSpPr txBox="1"/>
          <p:nvPr/>
        </p:nvSpPr>
        <p:spPr>
          <a:xfrm>
            <a:off x="749808" y="487375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Draw or type 1-&gt;3-&gt;4-&gt;5 and Boardroom builds real linked-list nodes.</a:t>
            </a:r>
            <a:endParaRPr lang="en-US" sz="1400" dirty="0"/>
          </a:p>
        </p:txBody>
      </p:sp>
      <p:sp>
        <p:nvSpPr>
          <p:cNvPr id="25" name="a2:feature 5 body"/>
          <p:cNvSpPr/>
          <p:nvPr/>
        </p:nvSpPr>
        <p:spPr>
          <a:xfrm>
            <a:off x="4297680" y="3886200"/>
            <a:ext cx="359359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6" name="a2:feature 5 strip"/>
          <p:cNvSpPr/>
          <p:nvPr/>
        </p:nvSpPr>
        <p:spPr>
          <a:xfrm>
            <a:off x="4297680" y="3886200"/>
            <a:ext cx="3593592" cy="10972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7" name="a2:feature 5 num"/>
          <p:cNvSpPr txBox="1"/>
          <p:nvPr/>
        </p:nvSpPr>
        <p:spPr>
          <a:xfrm>
            <a:off x="4498848" y="4142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a2:feature 5 head"/>
          <p:cNvSpPr txBox="1"/>
          <p:nvPr/>
        </p:nvSpPr>
        <p:spPr>
          <a:xfrm>
            <a:off x="4498848" y="441655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boards</a:t>
            </a:r>
            <a:endParaRPr lang="en-US" sz="1700" dirty="0"/>
          </a:p>
        </p:txBody>
      </p:sp>
      <p:sp>
        <p:nvSpPr>
          <p:cNvPr id="29" name="a2:feature 5 text"/>
          <p:cNvSpPr txBox="1"/>
          <p:nvPr/>
        </p:nvSpPr>
        <p:spPr>
          <a:xfrm>
            <a:off x="4498848" y="487375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 tabs, and a side-by-side view for comparing two boards.</a:t>
            </a:r>
            <a:endParaRPr lang="en-US" sz="1400" dirty="0"/>
          </a:p>
        </p:txBody>
      </p:sp>
      <p:sp>
        <p:nvSpPr>
          <p:cNvPr id="30" name="a2:feature 6 body"/>
          <p:cNvSpPr/>
          <p:nvPr/>
        </p:nvSpPr>
        <p:spPr>
          <a:xfrm>
            <a:off x="8046720" y="3886200"/>
            <a:ext cx="359359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31" name="a2:feature 6 strip"/>
          <p:cNvSpPr/>
          <p:nvPr/>
        </p:nvSpPr>
        <p:spPr>
          <a:xfrm>
            <a:off x="8046720" y="3886200"/>
            <a:ext cx="3593592" cy="10972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2" name="a2:feature 6 num"/>
          <p:cNvSpPr txBox="1"/>
          <p:nvPr/>
        </p:nvSpPr>
        <p:spPr>
          <a:xfrm>
            <a:off x="8247888" y="4142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a2:feature 6 head"/>
          <p:cNvSpPr txBox="1"/>
          <p:nvPr/>
        </p:nvSpPr>
        <p:spPr>
          <a:xfrm>
            <a:off x="8247888" y="441655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 tools</a:t>
            </a:r>
            <a:endParaRPr lang="en-US" sz="1700" dirty="0"/>
          </a:p>
        </p:txBody>
      </p:sp>
      <p:sp>
        <p:nvSpPr>
          <p:cNvPr id="34" name="a2:feature 6 text"/>
          <p:cNvSpPr txBox="1"/>
          <p:nvPr/>
        </p:nvSpPr>
        <p:spPr>
          <a:xfrm>
            <a:off x="8247888" y="487375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Pen, eraser, shapes, laser pointer, five stroke widths and dark mode.</a:t>
            </a:r>
            <a:endParaRPr lang="en-US" sz="1400" dirty="0"/>
          </a:p>
        </p:txBody>
      </p:sp>
      <p:sp>
        <p:nvSpPr>
          <p:cNvPr id="35" name="a3:evidence bg"/>
          <p:cNvSpPr/>
          <p:nvPr/>
        </p:nvSpPr>
        <p:spPr>
          <a:xfrm>
            <a:off x="548640" y="5943600"/>
            <a:ext cx="6217920" cy="329184"/>
          </a:xfrm>
          <a:prstGeom prst="rect">
            <a:avLst/>
          </a:prstGeom>
          <a:solidFill>
            <a:srgbClr val="C9D5FF"/>
          </a:solidFill>
          <a:ln w="12700">
            <a:solidFill>
              <a:srgbClr val="C9D5FF"/>
            </a:solidFill>
            <a:prstDash val="solid"/>
          </a:ln>
        </p:spPr>
      </p:sp>
      <p:sp>
        <p:nvSpPr>
          <p:cNvPr id="36" name="a3:evidence text"/>
          <p:cNvSpPr txBox="1"/>
          <p:nvPr/>
        </p:nvSpPr>
        <p:spPr>
          <a:xfrm>
            <a:off x="548640" y="594360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 of 39 non-Gemini browser tests passed  ·  18 Oct 2026</a:t>
            </a:r>
            <a:endParaRPr lang="en-US" sz="1100" dirty="0"/>
          </a:p>
        </p:txBody>
      </p:sp>
      <p:sp>
        <p:nvSpPr>
          <p:cNvPr id="37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9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40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41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42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43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4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5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6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  LIMITS AND NEXT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it stands, and what comes next.</a:t>
            </a:r>
            <a:endParaRPr lang="en-US" sz="3400" dirty="0"/>
          </a:p>
        </p:txBody>
      </p:sp>
      <p:sp>
        <p:nvSpPr>
          <p:cNvPr id="5" name="a1:stat 1 bg"/>
          <p:cNvSpPr/>
          <p:nvPr/>
        </p:nvSpPr>
        <p:spPr>
          <a:xfrm>
            <a:off x="548640" y="1737360"/>
            <a:ext cx="3429000" cy="201168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6" name="a1:stat 1 number"/>
          <p:cNvSpPr txBox="1"/>
          <p:nvPr/>
        </p:nvSpPr>
        <p:spPr>
          <a:xfrm>
            <a:off x="777240" y="18288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39/39</a:t>
            </a:r>
            <a:endParaRPr lang="en-US" sz="5400" dirty="0"/>
          </a:p>
        </p:txBody>
      </p:sp>
      <p:sp>
        <p:nvSpPr>
          <p:cNvPr id="7" name="a1:stat 1 text"/>
          <p:cNvSpPr txBox="1"/>
          <p:nvPr/>
        </p:nvSpPr>
        <p:spPr>
          <a:xfrm>
            <a:off x="77724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non-Gemini browser tests passed, 18 Oct 2026</a:t>
            </a:r>
            <a:endParaRPr lang="en-US" sz="1400" dirty="0"/>
          </a:p>
        </p:txBody>
      </p:sp>
      <p:sp>
        <p:nvSpPr>
          <p:cNvPr id="8" name="a1:stat 2 bg"/>
          <p:cNvSpPr/>
          <p:nvPr/>
        </p:nvSpPr>
        <p:spPr>
          <a:xfrm>
            <a:off x="548640" y="4023360"/>
            <a:ext cx="3429000" cy="201168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9" name="a1:stat 2 number"/>
          <p:cNvSpPr txBox="1"/>
          <p:nvPr/>
        </p:nvSpPr>
        <p:spPr>
          <a:xfrm>
            <a:off x="777240" y="41148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</a:t>
            </a:r>
            <a:endParaRPr lang="en-US" sz="5400" dirty="0"/>
          </a:p>
        </p:txBody>
      </p:sp>
      <p:sp>
        <p:nvSpPr>
          <p:cNvPr id="10" name="a1:stat 2 text"/>
          <p:cNvSpPr txBox="1"/>
          <p:nvPr/>
        </p:nvSpPr>
        <p:spPr>
          <a:xfrm>
            <a:off x="77724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 and run probes in our sandbox test, C++ and Python</a:t>
            </a:r>
            <a:endParaRPr lang="en-US" sz="1400" dirty="0"/>
          </a:p>
        </p:txBody>
      </p:sp>
      <p:sp>
        <p:nvSpPr>
          <p:cNvPr id="11" name="a2:gaps label"/>
          <p:cNvSpPr txBox="1"/>
          <p:nvPr/>
        </p:nvSpPr>
        <p:spPr>
          <a:xfrm>
            <a:off x="43434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KNOWN GAPS</a:t>
            </a:r>
            <a:endParaRPr lang="en-US" sz="1200" dirty="0"/>
          </a:p>
        </p:txBody>
      </p:sp>
      <p:sp>
        <p:nvSpPr>
          <p:cNvPr id="12" name="a2:gap 1 body"/>
          <p:cNvSpPr/>
          <p:nvPr/>
        </p:nvSpPr>
        <p:spPr>
          <a:xfrm>
            <a:off x="4343400" y="2103120"/>
            <a:ext cx="356616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3" name="a2:gap 1 bar"/>
          <p:cNvSpPr/>
          <p:nvPr/>
        </p:nvSpPr>
        <p:spPr>
          <a:xfrm>
            <a:off x="4343400" y="2103120"/>
            <a:ext cx="109728" cy="8686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4" name="a2:gap 1 text"/>
          <p:cNvSpPr txBox="1"/>
          <p:nvPr/>
        </p:nvSpPr>
        <p:spPr>
          <a:xfrm>
            <a:off x="4617720" y="2103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Hosted site runs code on Wandbox: rate limited, no sanitizer promise.</a:t>
            </a:r>
            <a:endParaRPr lang="en-US" sz="1200" dirty="0"/>
          </a:p>
        </p:txBody>
      </p:sp>
      <p:sp>
        <p:nvSpPr>
          <p:cNvPr id="15" name="a2:gap 2 body"/>
          <p:cNvSpPr/>
          <p:nvPr/>
        </p:nvSpPr>
        <p:spPr>
          <a:xfrm>
            <a:off x="4343400" y="3081528"/>
            <a:ext cx="356616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6" name="a2:gap 2 bar"/>
          <p:cNvSpPr/>
          <p:nvPr/>
        </p:nvSpPr>
        <p:spPr>
          <a:xfrm>
            <a:off x="4343400" y="3081528"/>
            <a:ext cx="109728" cy="8686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7" name="a2:gap 2 text"/>
          <p:cNvSpPr txBox="1"/>
          <p:nvPr/>
        </p:nvSpPr>
        <p:spPr>
          <a:xfrm>
            <a:off x="4617720" y="30815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Language is C++17. C that is not valid C++ will not compile.</a:t>
            </a:r>
            <a:endParaRPr lang="en-US" sz="1200" dirty="0"/>
          </a:p>
        </p:txBody>
      </p:sp>
      <p:sp>
        <p:nvSpPr>
          <p:cNvPr id="18" name="a2:gap 3 body"/>
          <p:cNvSpPr/>
          <p:nvPr/>
        </p:nvSpPr>
        <p:spPr>
          <a:xfrm>
            <a:off x="4343400" y="4059936"/>
            <a:ext cx="356616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9" name="a2:gap 3 bar"/>
          <p:cNvSpPr/>
          <p:nvPr/>
        </p:nvSpPr>
        <p:spPr>
          <a:xfrm>
            <a:off x="4343400" y="4059936"/>
            <a:ext cx="109728" cy="8686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0" name="a2:gap 3 text"/>
          <p:cNvSpPr txBox="1"/>
          <p:nvPr/>
        </p:nvSpPr>
        <p:spPr>
          <a:xfrm>
            <a:off x="4617720" y="405993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features are not covered by the automated tests above.</a:t>
            </a:r>
            <a:endParaRPr lang="en-US" sz="1200" dirty="0"/>
          </a:p>
        </p:txBody>
      </p:sp>
      <p:sp>
        <p:nvSpPr>
          <p:cNvPr id="21" name="a2:gap 4 body"/>
          <p:cNvSpPr/>
          <p:nvPr/>
        </p:nvSpPr>
        <p:spPr>
          <a:xfrm>
            <a:off x="4343400" y="5038344"/>
            <a:ext cx="356616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2" name="a2:gap 4 bar"/>
          <p:cNvSpPr/>
          <p:nvPr/>
        </p:nvSpPr>
        <p:spPr>
          <a:xfrm>
            <a:off x="4343400" y="5038344"/>
            <a:ext cx="109728" cy="8686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3" name="a2:gap 4 text"/>
          <p:cNvSpPr txBox="1"/>
          <p:nvPr/>
        </p:nvSpPr>
        <p:spPr>
          <a:xfrm>
            <a:off x="4617720" y="503834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Handwriting accuracy is not yet measured on real classroom samples.</a:t>
            </a:r>
            <a:endParaRPr lang="en-US" sz="1200" dirty="0"/>
          </a:p>
        </p:txBody>
      </p:sp>
      <p:sp>
        <p:nvSpPr>
          <p:cNvPr id="24" name="a3:next label"/>
          <p:cNvSpPr txBox="1"/>
          <p:nvPr/>
        </p:nvSpPr>
        <p:spPr>
          <a:xfrm>
            <a:off x="822960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WE HAD ANOTHER MONTH</a:t>
            </a:r>
            <a:endParaRPr lang="en-US" sz="1200" dirty="0"/>
          </a:p>
        </p:txBody>
      </p:sp>
      <p:sp>
        <p:nvSpPr>
          <p:cNvPr id="25" name="a3:next 1 body"/>
          <p:cNvSpPr/>
          <p:nvPr/>
        </p:nvSpPr>
        <p:spPr>
          <a:xfrm>
            <a:off x="8229600" y="2103120"/>
            <a:ext cx="3410712" cy="1170432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26" name="a3:next 1 strip"/>
          <p:cNvSpPr/>
          <p:nvPr/>
        </p:nvSpPr>
        <p:spPr>
          <a:xfrm>
            <a:off x="8229600" y="2103120"/>
            <a:ext cx="3410712" cy="9144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27" name="a3:next 1 head"/>
          <p:cNvSpPr txBox="1"/>
          <p:nvPr/>
        </p:nvSpPr>
        <p:spPr>
          <a:xfrm>
            <a:off x="8412480" y="23042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</a:t>
            </a:r>
            <a:endParaRPr lang="en-US" sz="1500" dirty="0"/>
          </a:p>
        </p:txBody>
      </p:sp>
      <p:sp>
        <p:nvSpPr>
          <p:cNvPr id="28" name="a3:next 1 text"/>
          <p:cNvSpPr txBox="1"/>
          <p:nvPr/>
        </p:nvSpPr>
        <p:spPr>
          <a:xfrm>
            <a:off x="8412480" y="26334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Benchmark handwriting accuracy on real classroom samples.</a:t>
            </a:r>
            <a:endParaRPr lang="en-US" sz="1200" dirty="0"/>
          </a:p>
        </p:txBody>
      </p:sp>
      <p:sp>
        <p:nvSpPr>
          <p:cNvPr id="29" name="a3:next 2 body"/>
          <p:cNvSpPr/>
          <p:nvPr/>
        </p:nvSpPr>
        <p:spPr>
          <a:xfrm>
            <a:off x="8229600" y="3401568"/>
            <a:ext cx="3410712" cy="1170432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0" name="a3:next 2 strip"/>
          <p:cNvSpPr/>
          <p:nvPr/>
        </p:nvSpPr>
        <p:spPr>
          <a:xfrm>
            <a:off x="8229600" y="3401568"/>
            <a:ext cx="3410712" cy="9144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31" name="a3:next 2 head"/>
          <p:cNvSpPr txBox="1"/>
          <p:nvPr/>
        </p:nvSpPr>
        <p:spPr>
          <a:xfrm>
            <a:off x="8412480" y="36027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Harden</a:t>
            </a:r>
            <a:endParaRPr lang="en-US" sz="1500" dirty="0"/>
          </a:p>
        </p:txBody>
      </p:sp>
      <p:sp>
        <p:nvSpPr>
          <p:cNvPr id="32" name="a3:next 2 text"/>
          <p:cNvSpPr txBox="1"/>
          <p:nvPr/>
        </p:nvSpPr>
        <p:spPr>
          <a:xfrm>
            <a:off x="8412480" y="3931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Separate execution VM, login and a security review before public hosting.</a:t>
            </a:r>
            <a:endParaRPr lang="en-US" sz="1200" dirty="0"/>
          </a:p>
        </p:txBody>
      </p:sp>
      <p:sp>
        <p:nvSpPr>
          <p:cNvPr id="33" name="a3:next 3 body"/>
          <p:cNvSpPr/>
          <p:nvPr/>
        </p:nvSpPr>
        <p:spPr>
          <a:xfrm>
            <a:off x="8229600" y="4700016"/>
            <a:ext cx="3410712" cy="1170432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4" name="a3:next 3 strip"/>
          <p:cNvSpPr/>
          <p:nvPr/>
        </p:nvSpPr>
        <p:spPr>
          <a:xfrm>
            <a:off x="8229600" y="4700016"/>
            <a:ext cx="3410712" cy="9144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35" name="a3:next 3 head"/>
          <p:cNvSpPr txBox="1"/>
          <p:nvPr/>
        </p:nvSpPr>
        <p:spPr>
          <a:xfrm>
            <a:off x="8412480" y="4901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Pin</a:t>
            </a:r>
            <a:endParaRPr lang="en-US" sz="1500" dirty="0"/>
          </a:p>
        </p:txBody>
      </p:sp>
      <p:sp>
        <p:nvSpPr>
          <p:cNvPr id="36" name="a3:next 3 text"/>
          <p:cNvSpPr txBox="1"/>
          <p:nvPr/>
        </p:nvSpPr>
        <p:spPr>
          <a:xfrm>
            <a:off x="8412480" y="523036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Freeze compiler and header versions inside every lesson snapshot.</a:t>
            </a:r>
            <a:endParaRPr lang="en-US" sz="1200" dirty="0"/>
          </a:p>
        </p:txBody>
      </p:sp>
      <p:sp>
        <p:nvSpPr>
          <p:cNvPr id="37" name="a4:repo bg"/>
          <p:cNvSpPr/>
          <p:nvPr/>
        </p:nvSpPr>
        <p:spPr>
          <a:xfrm>
            <a:off x="8229600" y="6035040"/>
            <a:ext cx="3410712" cy="2743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8" name="a4:repo text">
            <a:hlinkClick r:id="rId1" tooltip="Open the repository"/>
          </p:cNvPr>
          <p:cNvSpPr txBox="1"/>
          <p:nvPr/>
        </p:nvSpPr>
        <p:spPr>
          <a:xfrm>
            <a:off x="8229600" y="60350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invalidUrl="" action="" tgtFrame="" tooltip="Open th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github.com/ksu-gitreaper807/Craft-N-Code-Karnataka</a:t>
            </a:r>
            <a:endParaRPr lang="en-US" sz="900" dirty="0"/>
          </a:p>
        </p:txBody>
      </p:sp>
      <p:sp>
        <p:nvSpPr>
          <p:cNvPr id="39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41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42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43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44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45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6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7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8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room">
  <a:themeElements>
    <a:clrScheme name="Boardroom">
      <a:dk1>
        <a:srgbClr val="0E1330"/>
      </a:dk1>
      <a:lt1>
        <a:srgbClr val="FFFFFF"/>
      </a:lt1>
      <a:dk2>
        <a:srgbClr val="0E1330"/>
      </a:dk2>
      <a:lt2>
        <a:srgbClr val="F6F4EE"/>
      </a:lt2>
      <a:accent1>
        <a:srgbClr val="FF5A4E"/>
      </a:accent1>
      <a:accent2>
        <a:srgbClr val="FFC531"/>
      </a:accent2>
      <a:accent3>
        <a:srgbClr val="3355FF"/>
      </a:accent3>
      <a:accent4>
        <a:srgbClr val="C9D5FF"/>
      </a:accent4>
      <a:accent5>
        <a:srgbClr val="5B6075"/>
      </a:accent5>
      <a:accent6>
        <a:srgbClr val="F6F4EE"/>
      </a:accent6>
      <a:hlink>
        <a:srgbClr val="3355FF"/>
      </a:hlink>
      <a:folHlink>
        <a:srgbClr val="3355FF"/>
      </a:folHlink>
    </a:clrScheme>
    <a:fontScheme name="Boardroom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Boardroom: the whiteboard that runs your code</dc:title>
  <dc:subject>PptxGenJS Presentation</dc:subject>
  <dc:creator>Craft N Code Karnataka 2026 team</dc:creator>
  <cp:lastModifiedBy>Craft N Code Karnataka 2026 team</cp:lastModifiedBy>
  <cp:revision>1</cp:revision>
  <dcterms:created xsi:type="dcterms:W3CDTF">2026-10-18T15:21:20Z</dcterms:created>
  <dcterms:modified xsi:type="dcterms:W3CDTF">2026-10-18T15:21:20Z</dcterms:modified>
</cp:coreProperties>
</file>